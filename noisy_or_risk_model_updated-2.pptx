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0" r:id="rId28"/>
    <p:sldId id="277" r:id="rId24"/>
    <p:sldId id="278" r:id="rId25"/>
    <p:sldId id="279" r:id="rId2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<Relationship Id="rId28" Type="http://schemas.openxmlformats.org/officeDocument/2006/relationships/slide" Target="slides/slide25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6675120" y="0"/>
            <a:ext cx="2469240" cy="5143680"/>
          </a:xfrm>
          <a:custGeom>
            <a:avLst/>
            <a:gdLst/>
            <a:ahLst/>
            <a:rect l="0" t="0" r="r" b="b"/>
            <a:pathLst>
              <a:path w="6859" h="14288">
                <a:moveTo>
                  <a:pt x="0" y="0"/>
                </a:moveTo>
                <a:lnTo>
                  <a:pt x="6859" y="0"/>
                </a:lnTo>
                <a:lnTo>
                  <a:pt x="6859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solidFill>
            <a:srgbClr val="132c46"/>
          </a:solidFill>
          <a:ln w="12600">
            <a:solidFill>
              <a:srgbClr val="132c46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6675120" y="0"/>
            <a:ext cx="50760" cy="5143680"/>
          </a:xfrm>
          <a:custGeom>
            <a:avLst/>
            <a:gdLst/>
            <a:ahLst/>
            <a:rect l="0" t="0" r="r" b="b"/>
            <a:pathLst>
              <a:path w="141" h="14288">
                <a:moveTo>
                  <a:pt x="0" y="0"/>
                </a:moveTo>
                <a:lnTo>
                  <a:pt x="141" y="0"/>
                </a:lnTo>
                <a:lnTo>
                  <a:pt x="141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7086600" y="36576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1c6ea4">
              <a:alpha val="30000"/>
            </a:srgbClr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7772400" y="1005840"/>
            <a:ext cx="347760" cy="347760"/>
          </a:xfrm>
          <a:custGeom>
            <a:avLst/>
            <a:gdLst/>
            <a:ahLst/>
            <a:rect l="0" t="0" r="r" b="b"/>
            <a:pathLst>
              <a:path w="966" h="966">
                <a:moveTo>
                  <a:pt x="824" y="141"/>
                </a:moveTo>
                <a:cubicBezTo>
                  <a:pt x="1013" y="329"/>
                  <a:pt x="1013" y="636"/>
                  <a:pt x="824" y="824"/>
                </a:cubicBezTo>
                <a:cubicBezTo>
                  <a:pt x="636" y="1013"/>
                  <a:pt x="329" y="1013"/>
                  <a:pt x="141" y="824"/>
                </a:cubicBezTo>
                <a:cubicBezTo>
                  <a:pt x="-47" y="636"/>
                  <a:pt x="-47" y="329"/>
                  <a:pt x="141" y="141"/>
                </a:cubicBezTo>
                <a:cubicBezTo>
                  <a:pt x="329" y="-47"/>
                  <a:pt x="636" y="-47"/>
                  <a:pt x="824" y="141"/>
                </a:cubicBezTo>
                <a:close/>
              </a:path>
            </a:pathLst>
          </a:custGeom>
          <a:solidFill>
            <a:srgbClr val="1c6ea4">
              <a:alpha val="30000"/>
            </a:srgbClr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7223760" y="182880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1c6ea4">
              <a:alpha val="30000"/>
            </a:srgbClr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8046720" y="2560320"/>
            <a:ext cx="274680" cy="274680"/>
          </a:xfrm>
          <a:custGeom>
            <a:avLst/>
            <a:gdLst/>
            <a:ahLst/>
            <a:rect l="0" t="0" r="r" b="b"/>
            <a:pathLst>
              <a:path w="763" h="763">
                <a:moveTo>
                  <a:pt x="651" y="111"/>
                </a:moveTo>
                <a:cubicBezTo>
                  <a:pt x="800" y="260"/>
                  <a:pt x="800" y="502"/>
                  <a:pt x="651" y="651"/>
                </a:cubicBezTo>
                <a:cubicBezTo>
                  <a:pt x="502" y="800"/>
                  <a:pt x="260" y="800"/>
                  <a:pt x="111" y="651"/>
                </a:cubicBezTo>
                <a:cubicBezTo>
                  <a:pt x="-37" y="502"/>
                  <a:pt x="-37" y="260"/>
                  <a:pt x="111" y="111"/>
                </a:cubicBezTo>
                <a:cubicBezTo>
                  <a:pt x="260" y="-37"/>
                  <a:pt x="502" y="-37"/>
                  <a:pt x="651" y="111"/>
                </a:cubicBezTo>
                <a:close/>
              </a:path>
            </a:pathLst>
          </a:custGeom>
          <a:solidFill>
            <a:srgbClr val="1c6ea4">
              <a:alpha val="30000"/>
            </a:srgbClr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7040880" y="3291840"/>
            <a:ext cx="201960" cy="201960"/>
          </a:xfrm>
          <a:custGeom>
            <a:avLst/>
            <a:gdLst/>
            <a:ahLst/>
            <a:rect l="0" t="0" r="r" b="b"/>
            <a:pathLst>
              <a:path w="561" h="561">
                <a:moveTo>
                  <a:pt x="478" y="81"/>
                </a:moveTo>
                <a:cubicBezTo>
                  <a:pt x="588" y="191"/>
                  <a:pt x="588" y="368"/>
                  <a:pt x="478" y="478"/>
                </a:cubicBezTo>
                <a:cubicBezTo>
                  <a:pt x="368" y="588"/>
                  <a:pt x="191" y="588"/>
                  <a:pt x="81" y="478"/>
                </a:cubicBezTo>
                <a:cubicBezTo>
                  <a:pt x="-27" y="368"/>
                  <a:pt x="-27" y="191"/>
                  <a:pt x="81" y="81"/>
                </a:cubicBezTo>
                <a:cubicBezTo>
                  <a:pt x="191" y="-27"/>
                  <a:pt x="368" y="-27"/>
                  <a:pt x="478" y="81"/>
                </a:cubicBezTo>
                <a:close/>
              </a:path>
            </a:pathLst>
          </a:custGeom>
          <a:solidFill>
            <a:srgbClr val="1c6ea4">
              <a:alpha val="30000"/>
            </a:srgbClr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8229600" y="4023360"/>
            <a:ext cx="237960" cy="237960"/>
          </a:xfrm>
          <a:custGeom>
            <a:avLst/>
            <a:gdLst/>
            <a:ahLst/>
            <a:rect l="0" t="0" r="r" b="b"/>
            <a:pathLst>
              <a:path w="661" h="661">
                <a:moveTo>
                  <a:pt x="564" y="96"/>
                </a:moveTo>
                <a:cubicBezTo>
                  <a:pt x="693" y="225"/>
                  <a:pt x="693" y="435"/>
                  <a:pt x="564" y="564"/>
                </a:cubicBezTo>
                <a:cubicBezTo>
                  <a:pt x="435" y="693"/>
                  <a:pt x="225" y="693"/>
                  <a:pt x="96" y="564"/>
                </a:cubicBezTo>
                <a:cubicBezTo>
                  <a:pt x="-32" y="435"/>
                  <a:pt x="-32" y="225"/>
                  <a:pt x="96" y="96"/>
                </a:cubicBezTo>
                <a:cubicBezTo>
                  <a:pt x="225" y="-32"/>
                  <a:pt x="435" y="-32"/>
                  <a:pt x="564" y="96"/>
                </a:cubicBezTo>
                <a:close/>
              </a:path>
            </a:pathLst>
          </a:custGeom>
          <a:solidFill>
            <a:srgbClr val="1c6ea4">
              <a:alpha val="30000"/>
            </a:srgbClr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48640" y="777240"/>
            <a:ext cx="585216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1c6ea4"/>
                </a:solidFill>
                <a:latin typeface="Calibri-Bold"/>
                <a:ea typeface="Calibri-Bold"/>
              </a:rPr>
              <a:t>NOISY-OR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48640" y="1170360"/>
            <a:ext cx="5852160" cy="960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4400" spc="-1" strike="noStrike">
                <a:solidFill>
                  <a:srgbClr val="ffffff"/>
                </a:solidFill>
                <a:latin typeface="Cambria"/>
                <a:ea typeface="Cambria"/>
              </a:rPr>
              <a:t>Bayesian Risk Model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48640" y="2240280"/>
            <a:ext cx="576072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400" spc="-1" strike="noStrike">
                <a:solidFill>
                  <a:srgbClr val="8aaec8"/>
                </a:solidFill>
                <a:latin typeface="Calibri-Italic"/>
                <a:ea typeface="Calibri-Italic"/>
              </a:rPr>
              <a:t>A Mathematical &amp; Statistical Framework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r>
              <a:rPr b="0" i="1" lang="en-US" sz="1400" spc="-1" strike="noStrike">
                <a:solidFill>
                  <a:srgbClr val="8aaec8"/>
                </a:solidFill>
                <a:latin typeface="Calibri-Italic"/>
                <a:ea typeface="Calibri-Italic"/>
              </a:rPr>
              <a:t>for Evidence-Based Risk Quantification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48640" y="3035880"/>
            <a:ext cx="5303520" cy="0"/>
          </a:xfrm>
          <a:prstGeom prst="line">
            <a:avLst/>
          </a:prstGeom>
          <a:ln w="1908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48640" y="3182040"/>
            <a:ext cx="585216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1c6ea4"/>
                </a:solidFill>
                <a:latin typeface="Calibri-Bold"/>
                <a:ea typeface="Calibri-Bold"/>
              </a:rPr>
              <a:t xml:space="preserve">Topics: </a:t>
            </a:r>
            <a:r>
              <a:rPr b="0" lang="en-US" sz="900" spc="-1" strike="noStrike">
                <a:solidFill>
                  <a:srgbClr val="8aaec8"/>
                </a:solidFill>
                <a:latin typeface="Calibri"/>
                <a:ea typeface="Calibri"/>
              </a:rPr>
              <a:t>Beta Distributions  ·  Noisy-OR Combination  ·  Marginal Contribution  ·  Certainty Scoring  ·  Bayesian Updating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496f80"/>
                </a:solidFill>
                <a:latin typeface="Calibri"/>
                <a:ea typeface="Calibri"/>
              </a:rPr>
              <a:t>16 slides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0" y="0"/>
            <a:ext cx="9144360" cy="686160"/>
          </a:xfrm>
          <a:custGeom>
            <a:avLst/>
            <a:gdLst/>
            <a:ahLst/>
            <a:rect l="0" t="0" r="r" b="b"/>
            <a:pathLst>
              <a:path w="25401" h="1906">
                <a:moveTo>
                  <a:pt x="0" y="0"/>
                </a:moveTo>
                <a:lnTo>
                  <a:pt x="25401" y="0"/>
                </a:lnTo>
                <a:lnTo>
                  <a:pt x="2540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Why Probabilistic Risk Models?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858000" y="0"/>
            <a:ext cx="2026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2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65760" y="777240"/>
            <a:ext cx="8412480" cy="41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1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Point estimates hide the most important information: how confident are we? A probabilistic model makes uncertainty a first-class citizen.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65760" y="1207080"/>
            <a:ext cx="4160880" cy="1664640"/>
          </a:xfrm>
          <a:custGeom>
            <a:avLst/>
            <a:gdLst/>
            <a:ahLst/>
            <a:rect l="0" t="0" r="r" b="b"/>
            <a:pathLst>
              <a:path w="11558" h="4624">
                <a:moveTo>
                  <a:pt x="0" y="0"/>
                </a:moveTo>
                <a:lnTo>
                  <a:pt x="11558" y="0"/>
                </a:lnTo>
                <a:lnTo>
                  <a:pt x="11558" y="4624"/>
                </a:lnTo>
                <a:lnTo>
                  <a:pt x="0" y="46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d5cec5"/>
            </a:solidFill>
            <a:round/>
          </a:ln>
        </p:spPr>
        <p:txBody>
          <a:bodyPr lIns="94680" rIns="94680" tIns="49680" bIns="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65760" y="1207080"/>
            <a:ext cx="64440" cy="1664640"/>
          </a:xfrm>
          <a:custGeom>
            <a:avLst/>
            <a:gdLst/>
            <a:ahLst/>
            <a:rect l="0" t="0" r="r" b="b"/>
            <a:pathLst>
              <a:path w="179" h="4624">
                <a:moveTo>
                  <a:pt x="0" y="0"/>
                </a:moveTo>
                <a:lnTo>
                  <a:pt x="179" y="0"/>
                </a:lnTo>
                <a:lnTo>
                  <a:pt x="179" y="4624"/>
                </a:lnTo>
                <a:lnTo>
                  <a:pt x="0" y="4624"/>
                </a:lnTo>
                <a:lnTo>
                  <a:pt x="0" y="0"/>
                </a:ln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521280" y="1298520"/>
            <a:ext cx="393192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b84e1d"/>
                </a:solidFill>
                <a:latin typeface="Cambria"/>
                <a:ea typeface="Cambria"/>
              </a:rPr>
              <a:t>Risk is inherently uncertain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21280" y="1591200"/>
            <a:ext cx="3931920" cy="118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No signal is perfectly reliable. A match score, a model output, or an analyst judgment all carry noise. Encoding that noise explicitly leads to better decisions.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4663440" y="1207080"/>
            <a:ext cx="4160880" cy="1664640"/>
          </a:xfrm>
          <a:custGeom>
            <a:avLst/>
            <a:gdLst/>
            <a:ahLst/>
            <a:rect l="0" t="0" r="r" b="b"/>
            <a:pathLst>
              <a:path w="11558" h="4624">
                <a:moveTo>
                  <a:pt x="0" y="0"/>
                </a:moveTo>
                <a:lnTo>
                  <a:pt x="11558" y="0"/>
                </a:lnTo>
                <a:lnTo>
                  <a:pt x="11558" y="4624"/>
                </a:lnTo>
                <a:lnTo>
                  <a:pt x="0" y="46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d5cec5"/>
            </a:solidFill>
            <a:round/>
          </a:ln>
        </p:spPr>
        <p:txBody>
          <a:bodyPr lIns="94680" rIns="94680" tIns="49680" bIns="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4663440" y="1207080"/>
            <a:ext cx="64440" cy="1664640"/>
          </a:xfrm>
          <a:custGeom>
            <a:avLst/>
            <a:gdLst/>
            <a:ahLst/>
            <a:rect l="0" t="0" r="r" b="b"/>
            <a:pathLst>
              <a:path w="179" h="4624">
                <a:moveTo>
                  <a:pt x="0" y="0"/>
                </a:moveTo>
                <a:lnTo>
                  <a:pt x="179" y="0"/>
                </a:lnTo>
                <a:lnTo>
                  <a:pt x="179" y="4624"/>
                </a:lnTo>
                <a:lnTo>
                  <a:pt x="0" y="4624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4818960" y="1298520"/>
            <a:ext cx="393192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1c6ea4"/>
                </a:solidFill>
                <a:latin typeface="Cambria"/>
                <a:ea typeface="Cambria"/>
              </a:rPr>
              <a:t>Evidence comes from many sources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818960" y="1591200"/>
            <a:ext cx="3931920" cy="118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Different data streams provide independent pathways to a risk outcome. A model that fuses them cleanly is more powerful than any single signal alone.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65760" y="3063240"/>
            <a:ext cx="4160880" cy="1664640"/>
          </a:xfrm>
          <a:custGeom>
            <a:avLst/>
            <a:gdLst/>
            <a:ahLst/>
            <a:rect l="0" t="0" r="r" b="b"/>
            <a:pathLst>
              <a:path w="11558" h="4624">
                <a:moveTo>
                  <a:pt x="0" y="0"/>
                </a:moveTo>
                <a:lnTo>
                  <a:pt x="11558" y="0"/>
                </a:lnTo>
                <a:lnTo>
                  <a:pt x="11558" y="4624"/>
                </a:lnTo>
                <a:lnTo>
                  <a:pt x="0" y="46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d5cec5"/>
            </a:solidFill>
            <a:round/>
          </a:ln>
        </p:spPr>
        <p:txBody>
          <a:bodyPr lIns="94680" rIns="94680" tIns="49680" bIns="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65760" y="3063240"/>
            <a:ext cx="64440" cy="1664640"/>
          </a:xfrm>
          <a:custGeom>
            <a:avLst/>
            <a:gdLst/>
            <a:ahLst/>
            <a:rect l="0" t="0" r="r" b="b"/>
            <a:pathLst>
              <a:path w="179" h="4624">
                <a:moveTo>
                  <a:pt x="0" y="0"/>
                </a:moveTo>
                <a:lnTo>
                  <a:pt x="179" y="0"/>
                </a:lnTo>
                <a:lnTo>
                  <a:pt x="179" y="4624"/>
                </a:lnTo>
                <a:lnTo>
                  <a:pt x="0" y="4624"/>
                </a:lnTo>
                <a:lnTo>
                  <a:pt x="0" y="0"/>
                </a:lnTo>
                <a:close/>
              </a:path>
            </a:pathLst>
          </a:custGeom>
          <a:solidFill>
            <a:srgbClr val="0a7982"/>
          </a:solidFill>
          <a:ln w="12600">
            <a:solidFill>
              <a:srgbClr val="0a7982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521280" y="3154680"/>
            <a:ext cx="393192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a7982"/>
                </a:solidFill>
                <a:latin typeface="Cambria"/>
                <a:ea typeface="Cambria"/>
              </a:rPr>
              <a:t>Beliefs should update fluidly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21280" y="3447360"/>
            <a:ext cx="3931920" cy="118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 xml:space="preserve">As new evidence arrives — </a:t>
            </a:r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feedback arrives</a:t>
            </a:r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, an expert revises a score — the combined risk estimate should shift automatically with a clear mathematical audit trail.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4663440" y="3063240"/>
            <a:ext cx="4160880" cy="1664640"/>
          </a:xfrm>
          <a:custGeom>
            <a:avLst/>
            <a:gdLst/>
            <a:ahLst/>
            <a:rect l="0" t="0" r="r" b="b"/>
            <a:pathLst>
              <a:path w="11558" h="4624">
                <a:moveTo>
                  <a:pt x="0" y="0"/>
                </a:moveTo>
                <a:lnTo>
                  <a:pt x="11558" y="0"/>
                </a:lnTo>
                <a:lnTo>
                  <a:pt x="11558" y="4624"/>
                </a:lnTo>
                <a:lnTo>
                  <a:pt x="0" y="46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d5cec5"/>
            </a:solidFill>
            <a:round/>
          </a:ln>
        </p:spPr>
        <p:txBody>
          <a:bodyPr lIns="94680" rIns="94680" tIns="49680" bIns="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4663440" y="3063240"/>
            <a:ext cx="64440" cy="1664640"/>
          </a:xfrm>
          <a:custGeom>
            <a:avLst/>
            <a:gdLst/>
            <a:ahLst/>
            <a:rect l="0" t="0" r="r" b="b"/>
            <a:pathLst>
              <a:path w="179" h="4624">
                <a:moveTo>
                  <a:pt x="0" y="0"/>
                </a:moveTo>
                <a:lnTo>
                  <a:pt x="179" y="0"/>
                </a:lnTo>
                <a:lnTo>
                  <a:pt x="179" y="4624"/>
                </a:lnTo>
                <a:lnTo>
                  <a:pt x="0" y="4624"/>
                </a:lnTo>
                <a:lnTo>
                  <a:pt x="0" y="0"/>
                </a:lnTo>
                <a:close/>
              </a:path>
            </a:pathLst>
          </a:custGeom>
          <a:solidFill>
            <a:srgbClr val="b87115"/>
          </a:solidFill>
          <a:ln w="12600">
            <a:solidFill>
              <a:srgbClr val="b8711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818960" y="3154680"/>
            <a:ext cx="393192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b87115"/>
                </a:solidFill>
                <a:latin typeface="Cambria"/>
                <a:ea typeface="Cambria"/>
              </a:rPr>
              <a:t>Confidence is as important as the estimate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818960" y="3447360"/>
            <a:ext cx="3931920" cy="118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An 80% risk with 95% certainty is a very different situation from an 80% risk with 40% certainty. Both numbers matter for decision-making.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8412480" y="4928760"/>
            <a:ext cx="54864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2 / 16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0"/>
            <a:ext cx="9144360" cy="686160"/>
          </a:xfrm>
          <a:custGeom>
            <a:avLst/>
            <a:gdLst/>
            <a:ahLst/>
            <a:rect l="0" t="0" r="r" b="b"/>
            <a:pathLst>
              <a:path w="25401" h="1906">
                <a:moveTo>
                  <a:pt x="0" y="0"/>
                </a:moveTo>
                <a:lnTo>
                  <a:pt x="25401" y="0"/>
                </a:lnTo>
                <a:lnTo>
                  <a:pt x="2540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 xml:space="preserve">The </a:t>
            </a:r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Limitations</a:t>
            </a:r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 xml:space="preserve"> with Labeled Risk Categories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858000" y="0"/>
            <a:ext cx="2026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3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65760" y="768240"/>
            <a:ext cx="8412480" cy="41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1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The label-based system assigns a fixed category (High / Moderate / Low) to each source. The combined risk is simply the worst label present — leaving certainty, differentiation, and source contribution unaddressed.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365760" y="1161360"/>
            <a:ext cx="293040" cy="293040"/>
          </a:xfrm>
          <a:custGeom>
            <a:avLst/>
            <a:gdLst/>
            <a:ahLst/>
            <a:rect l="0" t="0" r="r" b="b"/>
            <a:pathLst>
              <a:path w="814" h="814">
                <a:moveTo>
                  <a:pt x="695" y="119"/>
                </a:moveTo>
                <a:cubicBezTo>
                  <a:pt x="854" y="278"/>
                  <a:pt x="854" y="536"/>
                  <a:pt x="695" y="695"/>
                </a:cubicBezTo>
                <a:cubicBezTo>
                  <a:pt x="536" y="854"/>
                  <a:pt x="278" y="854"/>
                  <a:pt x="119" y="695"/>
                </a:cubicBezTo>
                <a:cubicBezTo>
                  <a:pt x="-39" y="536"/>
                  <a:pt x="-39" y="278"/>
                  <a:pt x="119" y="119"/>
                </a:cubicBezTo>
                <a:cubicBezTo>
                  <a:pt x="278" y="-39"/>
                  <a:pt x="536" y="-39"/>
                  <a:pt x="695" y="119"/>
                </a:cubicBez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65760" y="1161360"/>
            <a:ext cx="29268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749880" y="1115640"/>
            <a:ext cx="5194080" cy="750240"/>
          </a:xfrm>
          <a:custGeom>
            <a:avLst/>
            <a:gdLst/>
            <a:ahLst/>
            <a:rect l="0" t="0" r="r" b="b"/>
            <a:pathLst>
              <a:path w="14428" h="2084">
                <a:moveTo>
                  <a:pt x="0" y="0"/>
                </a:moveTo>
                <a:lnTo>
                  <a:pt x="14428" y="0"/>
                </a:lnTo>
                <a:lnTo>
                  <a:pt x="14428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d5cec5"/>
            </a:solidFill>
            <a:round/>
          </a:ln>
        </p:spPr>
        <p:txBody>
          <a:bodyPr lIns="94680" rIns="94680" tIns="49680" bIns="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749880" y="1115640"/>
            <a:ext cx="55080" cy="750240"/>
          </a:xfrm>
          <a:custGeom>
            <a:avLst/>
            <a:gdLst/>
            <a:ahLst/>
            <a:rect l="0" t="0" r="r" b="b"/>
            <a:pathLst>
              <a:path w="153" h="2084">
                <a:moveTo>
                  <a:pt x="0" y="0"/>
                </a:moveTo>
                <a:lnTo>
                  <a:pt x="153" y="0"/>
                </a:lnTo>
                <a:lnTo>
                  <a:pt x="153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14400" y="1170360"/>
            <a:ext cx="4919400" cy="22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4e1d"/>
                </a:solidFill>
                <a:latin typeface="Cambria"/>
                <a:ea typeface="Cambria"/>
              </a:rPr>
              <a:t>The combined score is just the worst label — no aggregation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914400" y="1408320"/>
            <a:ext cx="491940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If Source A = High and Source B = Low, the result is High. Source B contributes nothing. Two sources that both say "Moderate" also produce "Moderate" — as if only one source exists. Independent evidence is discarded.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365760" y="2002680"/>
            <a:ext cx="293040" cy="293040"/>
          </a:xfrm>
          <a:custGeom>
            <a:avLst/>
            <a:gdLst/>
            <a:ahLst/>
            <a:rect l="0" t="0" r="r" b="b"/>
            <a:pathLst>
              <a:path w="814" h="814">
                <a:moveTo>
                  <a:pt x="695" y="119"/>
                </a:moveTo>
                <a:cubicBezTo>
                  <a:pt x="854" y="278"/>
                  <a:pt x="854" y="536"/>
                  <a:pt x="695" y="695"/>
                </a:cubicBezTo>
                <a:cubicBezTo>
                  <a:pt x="536" y="854"/>
                  <a:pt x="278" y="854"/>
                  <a:pt x="119" y="695"/>
                </a:cubicBezTo>
                <a:cubicBezTo>
                  <a:pt x="-39" y="536"/>
                  <a:pt x="-39" y="278"/>
                  <a:pt x="119" y="119"/>
                </a:cubicBezTo>
                <a:cubicBezTo>
                  <a:pt x="278" y="-39"/>
                  <a:pt x="536" y="-39"/>
                  <a:pt x="695" y="119"/>
                </a:cubicBez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365760" y="2002680"/>
            <a:ext cx="29268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749880" y="1956960"/>
            <a:ext cx="5194080" cy="750240"/>
          </a:xfrm>
          <a:custGeom>
            <a:avLst/>
            <a:gdLst/>
            <a:ahLst/>
            <a:rect l="0" t="0" r="r" b="b"/>
            <a:pathLst>
              <a:path w="14428" h="2084">
                <a:moveTo>
                  <a:pt x="0" y="0"/>
                </a:moveTo>
                <a:lnTo>
                  <a:pt x="14428" y="0"/>
                </a:lnTo>
                <a:lnTo>
                  <a:pt x="14428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d5cec5"/>
            </a:solidFill>
            <a:round/>
          </a:ln>
        </p:spPr>
        <p:txBody>
          <a:bodyPr lIns="94680" rIns="94680" tIns="49680" bIns="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749880" y="1956960"/>
            <a:ext cx="55080" cy="750240"/>
          </a:xfrm>
          <a:custGeom>
            <a:avLst/>
            <a:gdLst/>
            <a:ahLst/>
            <a:rect l="0" t="0" r="r" b="b"/>
            <a:pathLst>
              <a:path w="153" h="2084">
                <a:moveTo>
                  <a:pt x="0" y="0"/>
                </a:moveTo>
                <a:lnTo>
                  <a:pt x="153" y="0"/>
                </a:lnTo>
                <a:lnTo>
                  <a:pt x="153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914400" y="2011680"/>
            <a:ext cx="4919400" cy="22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4e1d"/>
                </a:solidFill>
                <a:latin typeface="Cambria"/>
                <a:ea typeface="Cambria"/>
              </a:rPr>
              <a:t>Identical labels hide completely different sources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914400" y="2249280"/>
            <a:ext cx="491940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Source A (almost always fires, very reliable) and Source B (rarely fires, analyst guessing) both labelled "High." The system treats them identically. There is no way to know which source to investigate first or trust more.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365760" y="2843640"/>
            <a:ext cx="293040" cy="293040"/>
          </a:xfrm>
          <a:custGeom>
            <a:avLst/>
            <a:gdLst/>
            <a:ahLst/>
            <a:rect l="0" t="0" r="r" b="b"/>
            <a:pathLst>
              <a:path w="814" h="814">
                <a:moveTo>
                  <a:pt x="695" y="119"/>
                </a:moveTo>
                <a:cubicBezTo>
                  <a:pt x="854" y="278"/>
                  <a:pt x="854" y="536"/>
                  <a:pt x="695" y="695"/>
                </a:cubicBezTo>
                <a:cubicBezTo>
                  <a:pt x="536" y="854"/>
                  <a:pt x="278" y="854"/>
                  <a:pt x="119" y="695"/>
                </a:cubicBezTo>
                <a:cubicBezTo>
                  <a:pt x="-39" y="536"/>
                  <a:pt x="-39" y="278"/>
                  <a:pt x="119" y="119"/>
                </a:cubicBezTo>
                <a:cubicBezTo>
                  <a:pt x="278" y="-39"/>
                  <a:pt x="536" y="-39"/>
                  <a:pt x="695" y="119"/>
                </a:cubicBez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65760" y="2843640"/>
            <a:ext cx="29268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749880" y="2797920"/>
            <a:ext cx="5194080" cy="750240"/>
          </a:xfrm>
          <a:custGeom>
            <a:avLst/>
            <a:gdLst/>
            <a:ahLst/>
            <a:rect l="0" t="0" r="r" b="b"/>
            <a:pathLst>
              <a:path w="14428" h="2084">
                <a:moveTo>
                  <a:pt x="0" y="0"/>
                </a:moveTo>
                <a:lnTo>
                  <a:pt x="14428" y="0"/>
                </a:lnTo>
                <a:lnTo>
                  <a:pt x="14428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d5cec5"/>
            </a:solidFill>
            <a:round/>
          </a:ln>
        </p:spPr>
        <p:txBody>
          <a:bodyPr lIns="94680" rIns="94680" tIns="49680" bIns="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749880" y="2797920"/>
            <a:ext cx="55080" cy="750240"/>
          </a:xfrm>
          <a:custGeom>
            <a:avLst/>
            <a:gdLst/>
            <a:ahLst/>
            <a:rect l="0" t="0" r="r" b="b"/>
            <a:pathLst>
              <a:path w="153" h="2084">
                <a:moveTo>
                  <a:pt x="0" y="0"/>
                </a:moveTo>
                <a:lnTo>
                  <a:pt x="153" y="0"/>
                </a:lnTo>
                <a:lnTo>
                  <a:pt x="153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914400" y="2853000"/>
            <a:ext cx="4919400" cy="22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4e1d"/>
                </a:solidFill>
                <a:latin typeface="Cambria"/>
                <a:ea typeface="Cambria"/>
              </a:rPr>
              <a:t>No certainty — the label carries no confidence information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914400" y="3090600"/>
            <a:ext cx="4919400" cy="46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A label of "High" could reflect a strong, data-driven signal or a vague, uncertain hunch. The system provides no way to distinguish them. Two analysts looking at the same source could assign "High" for completely different reasons.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365760" y="3684960"/>
            <a:ext cx="293040" cy="293040"/>
          </a:xfrm>
          <a:custGeom>
            <a:avLst/>
            <a:gdLst/>
            <a:ahLst/>
            <a:rect l="0" t="0" r="r" b="b"/>
            <a:pathLst>
              <a:path w="814" h="814">
                <a:moveTo>
                  <a:pt x="695" y="119"/>
                </a:moveTo>
                <a:cubicBezTo>
                  <a:pt x="854" y="278"/>
                  <a:pt x="854" y="536"/>
                  <a:pt x="695" y="695"/>
                </a:cubicBezTo>
                <a:cubicBezTo>
                  <a:pt x="536" y="854"/>
                  <a:pt x="278" y="854"/>
                  <a:pt x="119" y="695"/>
                </a:cubicBezTo>
                <a:cubicBezTo>
                  <a:pt x="-39" y="536"/>
                  <a:pt x="-39" y="278"/>
                  <a:pt x="119" y="119"/>
                </a:cubicBezTo>
                <a:cubicBezTo>
                  <a:pt x="278" y="-39"/>
                  <a:pt x="536" y="-39"/>
                  <a:pt x="695" y="119"/>
                </a:cubicBez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365760" y="3684960"/>
            <a:ext cx="29268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49880" y="3639240"/>
            <a:ext cx="5194080" cy="750240"/>
          </a:xfrm>
          <a:custGeom>
            <a:avLst/>
            <a:gdLst/>
            <a:ahLst/>
            <a:rect l="0" t="0" r="r" b="b"/>
            <a:pathLst>
              <a:path w="14428" h="2084">
                <a:moveTo>
                  <a:pt x="0" y="0"/>
                </a:moveTo>
                <a:lnTo>
                  <a:pt x="14428" y="0"/>
                </a:lnTo>
                <a:lnTo>
                  <a:pt x="14428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d5cec5"/>
            </a:solidFill>
            <a:round/>
          </a:ln>
        </p:spPr>
        <p:txBody>
          <a:bodyPr lIns="94680" rIns="94680" tIns="49680" bIns="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749880" y="3639240"/>
            <a:ext cx="55080" cy="750240"/>
          </a:xfrm>
          <a:custGeom>
            <a:avLst/>
            <a:gdLst/>
            <a:ahLst/>
            <a:rect l="0" t="0" r="r" b="b"/>
            <a:pathLst>
              <a:path w="153" h="2084">
                <a:moveTo>
                  <a:pt x="0" y="0"/>
                </a:moveTo>
                <a:lnTo>
                  <a:pt x="153" y="0"/>
                </a:lnTo>
                <a:lnTo>
                  <a:pt x="153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914400" y="3694320"/>
            <a:ext cx="4919400" cy="22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4e1d"/>
                </a:solidFill>
                <a:latin typeface="Cambria"/>
                <a:ea typeface="Cambria"/>
              </a:rPr>
              <a:t>Adding more sources does not improve the score — only the worst label carries through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914400" y="3931920"/>
            <a:ext cx="4919400" cy="4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If the current result is already "High," activating additional sources changes nothing — the result stays "High" regardless. The model cannot capture the intuition that more confirming evidence should increase confidence.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080760" y="1078920"/>
            <a:ext cx="2789280" cy="3566520"/>
          </a:xfrm>
          <a:custGeom>
            <a:avLst/>
            <a:gdLst/>
            <a:ahLst/>
            <a:rect l="0" t="0" r="r" b="b"/>
            <a:pathLst>
              <a:path w="7748" h="9907">
                <a:moveTo>
                  <a:pt x="0" y="0"/>
                </a:moveTo>
                <a:lnTo>
                  <a:pt x="7748" y="0"/>
                </a:lnTo>
                <a:lnTo>
                  <a:pt x="7748" y="9907"/>
                </a:lnTo>
                <a:lnTo>
                  <a:pt x="0" y="99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199560" y="1152000"/>
            <a:ext cx="2560320" cy="23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a395b"/>
                </a:solidFill>
                <a:latin typeface="Cambria"/>
                <a:ea typeface="Cambria"/>
              </a:rPr>
              <a:t>How the label system works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199560" y="1444680"/>
            <a:ext cx="256032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1a395b"/>
                </a:solidFill>
                <a:latin typeface="Calibri-Bold"/>
                <a:ea typeface="Calibri-Bold"/>
              </a:rPr>
              <a:t>Step 1 — Each source has a fixed label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6199560" y="1682640"/>
            <a:ext cx="1189080" cy="329400"/>
          </a:xfrm>
          <a:custGeom>
            <a:avLst/>
            <a:gdLst/>
            <a:ahLst/>
            <a:rect l="0" t="0" r="r" b="b"/>
            <a:pathLst>
              <a:path w="3303" h="915">
                <a:moveTo>
                  <a:pt x="0" y="0"/>
                </a:moveTo>
                <a:lnTo>
                  <a:pt x="3303" y="0"/>
                </a:lnTo>
                <a:lnTo>
                  <a:pt x="3303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236280" y="1682640"/>
            <a:ext cx="111564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Source 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425000" y="1682640"/>
            <a:ext cx="1335240" cy="329400"/>
          </a:xfrm>
          <a:custGeom>
            <a:avLst/>
            <a:gdLst/>
            <a:ahLst/>
            <a:rect l="0" t="0" r="r" b="b"/>
            <a:pathLst>
              <a:path w="3709" h="915">
                <a:moveTo>
                  <a:pt x="0" y="0"/>
                </a:moveTo>
                <a:lnTo>
                  <a:pt x="3709" y="0"/>
                </a:lnTo>
                <a:lnTo>
                  <a:pt x="3709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fbeee9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425000" y="1682640"/>
            <a:ext cx="133488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b84e1d"/>
                </a:solidFill>
                <a:latin typeface="Cambria"/>
                <a:ea typeface="Cambria"/>
              </a:rPr>
              <a:t>HIGH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6199560" y="2084760"/>
            <a:ext cx="1189080" cy="329400"/>
          </a:xfrm>
          <a:custGeom>
            <a:avLst/>
            <a:gdLst/>
            <a:ahLst/>
            <a:rect l="0" t="0" r="r" b="b"/>
            <a:pathLst>
              <a:path w="3303" h="915">
                <a:moveTo>
                  <a:pt x="0" y="0"/>
                </a:moveTo>
                <a:lnTo>
                  <a:pt x="3303" y="0"/>
                </a:lnTo>
                <a:lnTo>
                  <a:pt x="3303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236280" y="2084760"/>
            <a:ext cx="111564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Source B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7425000" y="2084760"/>
            <a:ext cx="1335240" cy="329400"/>
          </a:xfrm>
          <a:custGeom>
            <a:avLst/>
            <a:gdLst/>
            <a:ahLst/>
            <a:rect l="0" t="0" r="r" b="b"/>
            <a:pathLst>
              <a:path w="3709" h="915">
                <a:moveTo>
                  <a:pt x="0" y="0"/>
                </a:moveTo>
                <a:lnTo>
                  <a:pt x="3709" y="0"/>
                </a:lnTo>
                <a:lnTo>
                  <a:pt x="3709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fbeee9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7425000" y="2084760"/>
            <a:ext cx="133488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b84e1d"/>
                </a:solidFill>
                <a:latin typeface="Cambria"/>
                <a:ea typeface="Cambria"/>
              </a:rPr>
              <a:t>HIGH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199560" y="2487240"/>
            <a:ext cx="1189080" cy="329400"/>
          </a:xfrm>
          <a:custGeom>
            <a:avLst/>
            <a:gdLst/>
            <a:ahLst/>
            <a:rect l="0" t="0" r="r" b="b"/>
            <a:pathLst>
              <a:path w="3303" h="915">
                <a:moveTo>
                  <a:pt x="0" y="0"/>
                </a:moveTo>
                <a:lnTo>
                  <a:pt x="3303" y="0"/>
                </a:lnTo>
                <a:lnTo>
                  <a:pt x="3303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236280" y="2487240"/>
            <a:ext cx="111564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Source C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7425000" y="2487240"/>
            <a:ext cx="1335240" cy="329400"/>
          </a:xfrm>
          <a:custGeom>
            <a:avLst/>
            <a:gdLst/>
            <a:ahLst/>
            <a:rect l="0" t="0" r="r" b="b"/>
            <a:pathLst>
              <a:path w="3709" h="915">
                <a:moveTo>
                  <a:pt x="0" y="0"/>
                </a:moveTo>
                <a:lnTo>
                  <a:pt x="3709" y="0"/>
                </a:lnTo>
                <a:lnTo>
                  <a:pt x="3709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fdf3e2"/>
          </a:solidFill>
          <a:ln w="12600">
            <a:solidFill>
              <a:srgbClr val="b8711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7425000" y="2487240"/>
            <a:ext cx="133488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b87115"/>
                </a:solidFill>
                <a:latin typeface="Cambria"/>
                <a:ea typeface="Cambria"/>
              </a:rPr>
              <a:t>MODERATE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6199560" y="2889360"/>
            <a:ext cx="1189080" cy="329400"/>
          </a:xfrm>
          <a:custGeom>
            <a:avLst/>
            <a:gdLst/>
            <a:ahLst/>
            <a:rect l="0" t="0" r="r" b="b"/>
            <a:pathLst>
              <a:path w="3303" h="915">
                <a:moveTo>
                  <a:pt x="0" y="0"/>
                </a:moveTo>
                <a:lnTo>
                  <a:pt x="3303" y="0"/>
                </a:lnTo>
                <a:lnTo>
                  <a:pt x="3303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236280" y="2889360"/>
            <a:ext cx="111564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Source 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7425000" y="2889360"/>
            <a:ext cx="1335240" cy="329400"/>
          </a:xfrm>
          <a:custGeom>
            <a:avLst/>
            <a:gdLst/>
            <a:ahLst/>
            <a:rect l="0" t="0" r="r" b="b"/>
            <a:pathLst>
              <a:path w="3709" h="915">
                <a:moveTo>
                  <a:pt x="0" y="0"/>
                </a:moveTo>
                <a:lnTo>
                  <a:pt x="3709" y="0"/>
                </a:lnTo>
                <a:lnTo>
                  <a:pt x="3709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eaf5ec"/>
          </a:solidFill>
          <a:ln w="12600">
            <a:solidFill>
              <a:srgbClr val="2d793c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425000" y="2889360"/>
            <a:ext cx="133488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2d793c"/>
                </a:solidFill>
                <a:latin typeface="Cambria"/>
                <a:ea typeface="Cambria"/>
              </a:rPr>
              <a:t>LOW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199560" y="3346560"/>
            <a:ext cx="2560320" cy="0"/>
          </a:xfrm>
          <a:prstGeom prst="line">
            <a:avLst/>
          </a:prstGeom>
          <a:ln w="9360">
            <a:solidFill>
              <a:srgbClr val="d5ce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680" rIns="94680" tIns="-49680" bIns="-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199560" y="3401640"/>
            <a:ext cx="256032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1a395b"/>
                </a:solidFill>
                <a:latin typeface="Calibri-Bold"/>
                <a:ea typeface="Calibri-Bold"/>
              </a:rPr>
              <a:t>Step 2 — Result = worst label present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199560" y="3620880"/>
            <a:ext cx="2560680" cy="439200"/>
          </a:xfrm>
          <a:custGeom>
            <a:avLst/>
            <a:gdLst/>
            <a:ahLst/>
            <a:rect l="0" t="0" r="r" b="b"/>
            <a:pathLst>
              <a:path w="7113" h="1220">
                <a:moveTo>
                  <a:pt x="0" y="0"/>
                </a:moveTo>
                <a:lnTo>
                  <a:pt x="7113" y="0"/>
                </a:lnTo>
                <a:lnTo>
                  <a:pt x="7113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fbeee9"/>
          </a:solidFill>
          <a:ln w="19080">
            <a:solidFill>
              <a:srgbClr val="b84e1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6199560" y="3620880"/>
            <a:ext cx="2560320" cy="43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b84e1d"/>
                </a:solidFill>
                <a:latin typeface="Cambria"/>
                <a:ea typeface="Cambria"/>
              </a:rPr>
              <a:t>COMBINED RISK = HIGH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199560" y="4114800"/>
            <a:ext cx="2560320" cy="40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i="1" lang="en-US" sz="7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Sources B, C, D contribute nothing.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i="1" lang="en-US" sz="7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Removing them leaves the same result.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65760" y="4617720"/>
            <a:ext cx="8412840" cy="219960"/>
          </a:xfrm>
          <a:custGeom>
            <a:avLst/>
            <a:gdLst/>
            <a:ahLst/>
            <a:rect l="0" t="0" r="r" b="b"/>
            <a:pathLst>
              <a:path w="23369" h="611">
                <a:moveTo>
                  <a:pt x="0" y="0"/>
                </a:moveTo>
                <a:lnTo>
                  <a:pt x="23369" y="0"/>
                </a:lnTo>
                <a:lnTo>
                  <a:pt x="23369" y="611"/>
                </a:lnTo>
                <a:lnTo>
                  <a:pt x="0" y="611"/>
                </a:lnTo>
                <a:lnTo>
                  <a:pt x="0" y="0"/>
                </a:lnTo>
                <a:close/>
              </a:path>
            </a:pathLst>
          </a:custGeom>
          <a:solidFill>
            <a:srgbClr val="fbeee9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02920" y="4617720"/>
            <a:ext cx="822960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900" spc="-1" strike="noStrike">
                <a:solidFill>
                  <a:srgbClr val="b84e1d"/>
                </a:solidFill>
                <a:latin typeface="Calibri-Italic"/>
                <a:ea typeface="Calibri-Italic"/>
              </a:rPr>
              <a:t>The label system functions as a lookup table — it lacks the combination logic, certainty scoring, and source weighting that a full risk model requires.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412480" y="4928760"/>
            <a:ext cx="54864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3 / 16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0" y="0"/>
            <a:ext cx="9144360" cy="686160"/>
          </a:xfrm>
          <a:custGeom>
            <a:avLst/>
            <a:gdLst/>
            <a:ahLst/>
            <a:rect l="0" t="0" r="r" b="b"/>
            <a:pathLst>
              <a:path w="25401" h="1906">
                <a:moveTo>
                  <a:pt x="0" y="0"/>
                </a:moveTo>
                <a:lnTo>
                  <a:pt x="25401" y="0"/>
                </a:lnTo>
                <a:lnTo>
                  <a:pt x="2540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 xml:space="preserve">How the Noisy-OR Model </a:t>
            </a:r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Addresses</a:t>
            </a:r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 xml:space="preserve"> Each </a:t>
            </a:r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Limitation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858000" y="0"/>
            <a:ext cx="2026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4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65760" y="833400"/>
            <a:ext cx="8412480" cy="25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1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 xml:space="preserve">Every </a:t>
            </a:r>
            <a:r>
              <a:rPr b="0" i="1" lang="en-US" sz="11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limitation</a:t>
            </a:r>
            <a:r>
              <a:rPr b="0" i="1" lang="en-US" sz="11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 xml:space="preserve"> of label-based systems is directly addressed by the Bayesian Noisy-OR model.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365760" y="1115640"/>
            <a:ext cx="2835000" cy="347760"/>
          </a:xfrm>
          <a:custGeom>
            <a:avLst/>
            <a:gdLst/>
            <a:ahLst/>
            <a:rect l="0" t="0" r="r" b="b"/>
            <a:pathLst>
              <a:path w="7875" h="966">
                <a:moveTo>
                  <a:pt x="0" y="0"/>
                </a:moveTo>
                <a:lnTo>
                  <a:pt x="7875" y="0"/>
                </a:lnTo>
                <a:lnTo>
                  <a:pt x="7875" y="966"/>
                </a:lnTo>
                <a:lnTo>
                  <a:pt x="0" y="966"/>
                </a:lnTo>
                <a:lnTo>
                  <a:pt x="0" y="0"/>
                </a:ln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3246120" y="1115640"/>
            <a:ext cx="503280" cy="347760"/>
          </a:xfrm>
          <a:custGeom>
            <a:avLst/>
            <a:gdLst/>
            <a:ahLst/>
            <a:rect l="0" t="0" r="r" b="b"/>
            <a:pathLst>
              <a:path w="1398" h="966">
                <a:moveTo>
                  <a:pt x="0" y="0"/>
                </a:moveTo>
                <a:lnTo>
                  <a:pt x="1398" y="0"/>
                </a:lnTo>
                <a:lnTo>
                  <a:pt x="1398" y="966"/>
                </a:lnTo>
                <a:lnTo>
                  <a:pt x="0" y="96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3794760" y="1115640"/>
            <a:ext cx="2725200" cy="347760"/>
          </a:xfrm>
          <a:custGeom>
            <a:avLst/>
            <a:gdLst/>
            <a:ahLst/>
            <a:rect l="0" t="0" r="r" b="b"/>
            <a:pathLst>
              <a:path w="7570" h="966">
                <a:moveTo>
                  <a:pt x="0" y="0"/>
                </a:moveTo>
                <a:lnTo>
                  <a:pt x="7570" y="0"/>
                </a:lnTo>
                <a:lnTo>
                  <a:pt x="7570" y="966"/>
                </a:lnTo>
                <a:lnTo>
                  <a:pt x="0" y="966"/>
                </a:lnTo>
                <a:lnTo>
                  <a:pt x="0" y="0"/>
                </a:lnTo>
                <a:close/>
              </a:path>
            </a:pathLst>
          </a:custGeom>
          <a:solidFill>
            <a:srgbClr val="2d793c"/>
          </a:solidFill>
          <a:ln w="12600">
            <a:solidFill>
              <a:srgbClr val="2d793c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565320" y="1115640"/>
            <a:ext cx="2030400" cy="347760"/>
          </a:xfrm>
          <a:custGeom>
            <a:avLst/>
            <a:gdLst/>
            <a:ahLst/>
            <a:rect l="0" t="0" r="r" b="b"/>
            <a:pathLst>
              <a:path w="5640" h="966">
                <a:moveTo>
                  <a:pt x="0" y="0"/>
                </a:moveTo>
                <a:lnTo>
                  <a:pt x="5640" y="0"/>
                </a:lnTo>
                <a:lnTo>
                  <a:pt x="5640" y="966"/>
                </a:lnTo>
                <a:lnTo>
                  <a:pt x="0" y="966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38840" y="1115640"/>
            <a:ext cx="2743200" cy="34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ffffff"/>
                </a:solidFill>
                <a:latin typeface="Cambria"/>
                <a:ea typeface="Cambria"/>
              </a:rPr>
              <a:t xml:space="preserve">Label System </a:t>
            </a:r>
            <a:r>
              <a:rPr b="0" lang="en-US" sz="1000" spc="-1" strike="noStrike">
                <a:solidFill>
                  <a:srgbClr val="ffffff"/>
                </a:solidFill>
                <a:latin typeface="Cambria"/>
                <a:ea typeface="Cambria"/>
              </a:rPr>
              <a:t>Issue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246120" y="1115640"/>
            <a:ext cx="502920" cy="34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ffffff"/>
                </a:solidFill>
                <a:latin typeface="Cambria"/>
                <a:ea typeface="Cambria"/>
              </a:rPr>
              <a:t>→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858840" y="1115640"/>
            <a:ext cx="2578680" cy="34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ffffff"/>
                </a:solidFill>
                <a:latin typeface="Cambria"/>
                <a:ea typeface="Cambria"/>
              </a:rPr>
              <a:t>Noisy-OR Solution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602040" y="1115640"/>
            <a:ext cx="1956960" cy="34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ffffff"/>
                </a:solidFill>
                <a:latin typeface="Cambria"/>
                <a:ea typeface="Cambria"/>
              </a:rPr>
              <a:t>Example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65760" y="1536120"/>
            <a:ext cx="2835000" cy="750240"/>
          </a:xfrm>
          <a:custGeom>
            <a:avLst/>
            <a:gdLst/>
            <a:ahLst/>
            <a:rect l="0" t="0" r="r" b="b"/>
            <a:pathLst>
              <a:path w="7875" h="2084">
                <a:moveTo>
                  <a:pt x="0" y="0"/>
                </a:moveTo>
                <a:lnTo>
                  <a:pt x="7875" y="0"/>
                </a:lnTo>
                <a:lnTo>
                  <a:pt x="7875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57200" y="1572840"/>
            <a:ext cx="2670120" cy="67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b84e1d"/>
                </a:solidFill>
                <a:latin typeface="Calibri"/>
                <a:ea typeface="Calibri"/>
              </a:rPr>
              <a:t>Result = worst label only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800" spc="-1" strike="noStrike">
                <a:solidFill>
                  <a:srgbClr val="b84e1d"/>
                </a:solidFill>
                <a:latin typeface="Calibri"/>
                <a:ea typeface="Calibri"/>
              </a:rPr>
              <a:t>Sources B, C, D all ignored. Independent evidence from multiple sources is silently discarded.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3246120" y="1536120"/>
            <a:ext cx="503280" cy="750240"/>
          </a:xfrm>
          <a:custGeom>
            <a:avLst/>
            <a:gdLst/>
            <a:ahLst/>
            <a:rect l="0" t="0" r="r" b="b"/>
            <a:pathLst>
              <a:path w="1398" h="2084">
                <a:moveTo>
                  <a:pt x="0" y="0"/>
                </a:moveTo>
                <a:lnTo>
                  <a:pt x="1398" y="0"/>
                </a:lnTo>
                <a:lnTo>
                  <a:pt x="1398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3246120" y="1536120"/>
            <a:ext cx="502920" cy="74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2d793c"/>
                </a:solidFill>
                <a:latin typeface="Cambria"/>
                <a:ea typeface="Cambria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3794760" y="1536120"/>
            <a:ext cx="2725200" cy="750240"/>
          </a:xfrm>
          <a:custGeom>
            <a:avLst/>
            <a:gdLst/>
            <a:ahLst/>
            <a:rect l="0" t="0" r="r" b="b"/>
            <a:pathLst>
              <a:path w="7570" h="2084">
                <a:moveTo>
                  <a:pt x="0" y="0"/>
                </a:moveTo>
                <a:lnTo>
                  <a:pt x="7570" y="0"/>
                </a:lnTo>
                <a:lnTo>
                  <a:pt x="7570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3886200" y="1572840"/>
            <a:ext cx="2541960" cy="67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2d793c"/>
                </a:solidFill>
                <a:latin typeface="Calibri"/>
                <a:ea typeface="Calibri"/>
              </a:rPr>
              <a:t>Every source contributes via Noisy-OR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800" spc="-1" strike="noStrike">
                <a:solidFill>
                  <a:srgbClr val="2d793c"/>
                </a:solidFill>
                <a:latin typeface="Calibri"/>
                <a:ea typeface="Calibri"/>
              </a:rPr>
              <a:t>P(risk) = 1−(1−p_A)(1−p_B)(1−p_C)(1−p_D). Each source adds coverage. None are ignored.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6629400" y="1572840"/>
            <a:ext cx="1911600" cy="677160"/>
          </a:xfrm>
          <a:custGeom>
            <a:avLst/>
            <a:gdLst/>
            <a:ahLst/>
            <a:rect l="0" t="0" r="r" b="b"/>
            <a:pathLst>
              <a:path w="5310" h="1881">
                <a:moveTo>
                  <a:pt x="0" y="0"/>
                </a:moveTo>
                <a:lnTo>
                  <a:pt x="5310" y="0"/>
                </a:lnTo>
                <a:lnTo>
                  <a:pt x="5310" y="1881"/>
                </a:lnTo>
                <a:lnTo>
                  <a:pt x="0" y="1881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9360">
            <a:solidFill>
              <a:srgbClr val="1c6ea4"/>
            </a:solidFill>
            <a:round/>
          </a:ln>
        </p:spPr>
        <p:txBody>
          <a:bodyPr lIns="94680" rIns="94680" tIns="49680" bIns="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666120" y="1591200"/>
            <a:ext cx="74988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A=HIGH, B=HIGH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C=MOD, D=LOW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 xml:space="preserve">⟹ </a:t>
            </a:r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result: HIGH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(B, C, D ignored)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425000" y="1591200"/>
            <a:ext cx="20124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79736f"/>
                </a:solidFill>
                <a:latin typeface="Calibri"/>
                <a:ea typeface="Calibri"/>
              </a:rPr>
              <a:t>vs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635240" y="1591200"/>
            <a:ext cx="85968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p_A=0.75, p_B=0.60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p_C=0.45, p_D=0.20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 xml:space="preserve">⟹ </a:t>
            </a:r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97.6% combined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(all sources count)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365760" y="2340720"/>
            <a:ext cx="2835000" cy="750240"/>
          </a:xfrm>
          <a:custGeom>
            <a:avLst/>
            <a:gdLst/>
            <a:ahLst/>
            <a:rect l="0" t="0" r="r" b="b"/>
            <a:pathLst>
              <a:path w="7875" h="2084">
                <a:moveTo>
                  <a:pt x="0" y="0"/>
                </a:moveTo>
                <a:lnTo>
                  <a:pt x="7875" y="0"/>
                </a:lnTo>
                <a:lnTo>
                  <a:pt x="7875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457200" y="2377440"/>
            <a:ext cx="2670120" cy="67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b84e1d"/>
                </a:solidFill>
                <a:latin typeface="Calibri"/>
                <a:ea typeface="Calibri"/>
              </a:rPr>
              <a:t>Same label, unknowable difference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800" spc="-1" strike="noStrike">
                <a:solidFill>
                  <a:srgbClr val="b84e1d"/>
                </a:solidFill>
                <a:latin typeface="Calibri"/>
                <a:ea typeface="Calibri"/>
              </a:rPr>
              <a:t>"High" on a reliable source looks identical to "High" on a vague, uncertain source. No way to tell them apart.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3246120" y="2340720"/>
            <a:ext cx="503280" cy="750240"/>
          </a:xfrm>
          <a:custGeom>
            <a:avLst/>
            <a:gdLst/>
            <a:ahLst/>
            <a:rect l="0" t="0" r="r" b="b"/>
            <a:pathLst>
              <a:path w="1398" h="2084">
                <a:moveTo>
                  <a:pt x="0" y="0"/>
                </a:moveTo>
                <a:lnTo>
                  <a:pt x="1398" y="0"/>
                </a:lnTo>
                <a:lnTo>
                  <a:pt x="1398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3246120" y="2340720"/>
            <a:ext cx="502920" cy="74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2d793c"/>
                </a:solidFill>
                <a:latin typeface="Cambria"/>
                <a:ea typeface="Cambria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3794760" y="2340720"/>
            <a:ext cx="2725200" cy="750240"/>
          </a:xfrm>
          <a:custGeom>
            <a:avLst/>
            <a:gdLst/>
            <a:ahLst/>
            <a:rect l="0" t="0" r="r" b="b"/>
            <a:pathLst>
              <a:path w="7570" h="2084">
                <a:moveTo>
                  <a:pt x="0" y="0"/>
                </a:moveTo>
                <a:lnTo>
                  <a:pt x="7570" y="0"/>
                </a:lnTo>
                <a:lnTo>
                  <a:pt x="7570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3886200" y="2377440"/>
            <a:ext cx="2541960" cy="67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2d793c"/>
                </a:solidFill>
                <a:latin typeface="Calibri"/>
                <a:ea typeface="Calibri"/>
              </a:rPr>
              <a:t>κ separates signal strength from certainty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800" spc="-1" strike="noStrike">
                <a:solidFill>
                  <a:srgbClr val="2d793c"/>
                </a:solidFill>
                <a:latin typeface="Calibri"/>
                <a:ea typeface="Calibri"/>
              </a:rPr>
              <a:t>A confident High (κ=80) has Var(p)=0.003. A shaky High (κ=5) has Var(p)=0.047. Both visible, both actionable.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629400" y="2377440"/>
            <a:ext cx="1911600" cy="677160"/>
          </a:xfrm>
          <a:custGeom>
            <a:avLst/>
            <a:gdLst/>
            <a:ahLst/>
            <a:rect l="0" t="0" r="r" b="b"/>
            <a:pathLst>
              <a:path w="5310" h="1881">
                <a:moveTo>
                  <a:pt x="0" y="0"/>
                </a:moveTo>
                <a:lnTo>
                  <a:pt x="5310" y="0"/>
                </a:lnTo>
                <a:lnTo>
                  <a:pt x="5310" y="1881"/>
                </a:lnTo>
                <a:lnTo>
                  <a:pt x="0" y="1881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9360">
            <a:solidFill>
              <a:srgbClr val="1c6ea4"/>
            </a:solidFill>
            <a:round/>
          </a:ln>
        </p:spPr>
        <p:txBody>
          <a:bodyPr lIns="94680" rIns="94680" tIns="49680" bIns="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6666120" y="2395800"/>
            <a:ext cx="74988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Source A = HIGH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Source B = HIGH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(indistinguishable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in label system)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7425000" y="2395800"/>
            <a:ext cx="20124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79736f"/>
                </a:solidFill>
                <a:latin typeface="Calibri"/>
                <a:ea typeface="Calibri"/>
              </a:rPr>
              <a:t>vs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7635240" y="2395800"/>
            <a:ext cx="85968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A: μ=0.75, κ=80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 xml:space="preserve">→ </a:t>
            </a:r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certainty 93%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B: μ=0.75, κ=5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 xml:space="preserve">→ </a:t>
            </a:r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certainty 49%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365760" y="3145680"/>
            <a:ext cx="2835000" cy="750240"/>
          </a:xfrm>
          <a:custGeom>
            <a:avLst/>
            <a:gdLst/>
            <a:ahLst/>
            <a:rect l="0" t="0" r="r" b="b"/>
            <a:pathLst>
              <a:path w="7875" h="2084">
                <a:moveTo>
                  <a:pt x="0" y="0"/>
                </a:moveTo>
                <a:lnTo>
                  <a:pt x="7875" y="0"/>
                </a:lnTo>
                <a:lnTo>
                  <a:pt x="7875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457200" y="3182040"/>
            <a:ext cx="2670120" cy="67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b84e1d"/>
                </a:solidFill>
                <a:latin typeface="Calibri"/>
                <a:ea typeface="Calibri"/>
              </a:rPr>
              <a:t>No certainty attached to any label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800" spc="-1" strike="noStrike">
                <a:solidFill>
                  <a:srgbClr val="b84e1d"/>
                </a:solidFill>
                <a:latin typeface="Calibri"/>
                <a:ea typeface="Calibri"/>
              </a:rPr>
              <a:t>"High" carries no confidence information. The model gives no signal about whether to act immediately or investigate further.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3246120" y="3145680"/>
            <a:ext cx="503280" cy="750240"/>
          </a:xfrm>
          <a:custGeom>
            <a:avLst/>
            <a:gdLst/>
            <a:ahLst/>
            <a:rect l="0" t="0" r="r" b="b"/>
            <a:pathLst>
              <a:path w="1398" h="2084">
                <a:moveTo>
                  <a:pt x="0" y="0"/>
                </a:moveTo>
                <a:lnTo>
                  <a:pt x="1398" y="0"/>
                </a:lnTo>
                <a:lnTo>
                  <a:pt x="1398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3246120" y="3145680"/>
            <a:ext cx="502920" cy="74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2d793c"/>
                </a:solidFill>
                <a:latin typeface="Cambria"/>
                <a:ea typeface="Cambria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3794760" y="3145680"/>
            <a:ext cx="2725200" cy="750240"/>
          </a:xfrm>
          <a:custGeom>
            <a:avLst/>
            <a:gdLst/>
            <a:ahLst/>
            <a:rect l="0" t="0" r="r" b="b"/>
            <a:pathLst>
              <a:path w="7570" h="2084">
                <a:moveTo>
                  <a:pt x="0" y="0"/>
                </a:moveTo>
                <a:lnTo>
                  <a:pt x="7570" y="0"/>
                </a:lnTo>
                <a:lnTo>
                  <a:pt x="7570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3886200" y="3182040"/>
            <a:ext cx="2541960" cy="67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2d793c"/>
                </a:solidFill>
                <a:latin typeface="Calibri"/>
                <a:ea typeface="Calibri"/>
              </a:rPr>
              <a:t>Certainty = 1 − (P₉₅ − P₅) is always available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800" spc="-1" strike="noStrike">
                <a:solidFill>
                  <a:srgbClr val="2d793c"/>
                </a:solidFill>
                <a:latin typeface="Calibri"/>
                <a:ea typeface="Calibri"/>
              </a:rPr>
              <a:t>Narrow credible interval = act. Wide interval = gather more evidence first. Built into every estimate.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6629400" y="3182040"/>
            <a:ext cx="1911600" cy="677160"/>
          </a:xfrm>
          <a:custGeom>
            <a:avLst/>
            <a:gdLst/>
            <a:ahLst/>
            <a:rect l="0" t="0" r="r" b="b"/>
            <a:pathLst>
              <a:path w="5310" h="1881">
                <a:moveTo>
                  <a:pt x="0" y="0"/>
                </a:moveTo>
                <a:lnTo>
                  <a:pt x="5310" y="0"/>
                </a:lnTo>
                <a:lnTo>
                  <a:pt x="5310" y="1881"/>
                </a:lnTo>
                <a:lnTo>
                  <a:pt x="0" y="1881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9360">
            <a:solidFill>
              <a:srgbClr val="1c6ea4"/>
            </a:solidFill>
            <a:round/>
          </a:ln>
        </p:spPr>
        <p:txBody>
          <a:bodyPr lIns="94680" rIns="94680" tIns="49680" bIns="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6666120" y="3200400"/>
            <a:ext cx="749880" cy="64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Result: HIGH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(should we act now?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Gather more data?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No way to know.)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425000" y="3200400"/>
            <a:ext cx="20124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79736f"/>
                </a:solidFill>
                <a:latin typeface="Calibri"/>
                <a:ea typeface="Calibri"/>
              </a:rPr>
              <a:t>vs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7635240" y="3200400"/>
            <a:ext cx="85968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Risk: 82%, Cert: 91%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 xml:space="preserve">→ </a:t>
            </a:r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act now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Risk: 78%, Cert: 44%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 xml:space="preserve">→ </a:t>
            </a:r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investigate first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365760" y="3950280"/>
            <a:ext cx="2835000" cy="750240"/>
          </a:xfrm>
          <a:custGeom>
            <a:avLst/>
            <a:gdLst/>
            <a:ahLst/>
            <a:rect l="0" t="0" r="r" b="b"/>
            <a:pathLst>
              <a:path w="7875" h="2084">
                <a:moveTo>
                  <a:pt x="0" y="0"/>
                </a:moveTo>
                <a:lnTo>
                  <a:pt x="7875" y="0"/>
                </a:lnTo>
                <a:lnTo>
                  <a:pt x="7875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457200" y="3986640"/>
            <a:ext cx="2670120" cy="67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b84e1d"/>
                </a:solidFill>
                <a:latin typeface="Calibri"/>
                <a:ea typeface="Calibri"/>
              </a:rPr>
              <a:t>More sources cannot help — only hurt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800" spc="-1" strike="noStrike">
                <a:solidFill>
                  <a:srgbClr val="b84e1d"/>
                </a:solidFill>
                <a:latin typeface="Calibri"/>
                <a:ea typeface="Calibri"/>
              </a:rPr>
              <a:t>Once the result is "High," additional sources are irrelevant. Confirming evidence adds nothing to the score.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3246120" y="3950280"/>
            <a:ext cx="503280" cy="750240"/>
          </a:xfrm>
          <a:custGeom>
            <a:avLst/>
            <a:gdLst/>
            <a:ahLst/>
            <a:rect l="0" t="0" r="r" b="b"/>
            <a:pathLst>
              <a:path w="1398" h="2084">
                <a:moveTo>
                  <a:pt x="0" y="0"/>
                </a:moveTo>
                <a:lnTo>
                  <a:pt x="1398" y="0"/>
                </a:lnTo>
                <a:lnTo>
                  <a:pt x="1398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3246120" y="3950280"/>
            <a:ext cx="502920" cy="74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2d793c"/>
                </a:solidFill>
                <a:latin typeface="Cambria"/>
                <a:ea typeface="Cambria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3794760" y="3950280"/>
            <a:ext cx="2725200" cy="750240"/>
          </a:xfrm>
          <a:custGeom>
            <a:avLst/>
            <a:gdLst/>
            <a:ahLst/>
            <a:rect l="0" t="0" r="r" b="b"/>
            <a:pathLst>
              <a:path w="7570" h="2084">
                <a:moveTo>
                  <a:pt x="0" y="0"/>
                </a:moveTo>
                <a:lnTo>
                  <a:pt x="7570" y="0"/>
                </a:lnTo>
                <a:lnTo>
                  <a:pt x="7570" y="2084"/>
                </a:lnTo>
                <a:lnTo>
                  <a:pt x="0" y="2084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3886200" y="3986640"/>
            <a:ext cx="2541960" cy="67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2d793c"/>
                </a:solidFill>
                <a:latin typeface="Calibri"/>
                <a:ea typeface="Calibri"/>
              </a:rPr>
              <a:t>Each new source narrows uncertainty and raises combined risk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800" spc="-1" strike="noStrike">
                <a:solidFill>
                  <a:srgbClr val="2d793c"/>
                </a:solidFill>
                <a:latin typeface="Calibri"/>
                <a:ea typeface="Calibri"/>
              </a:rPr>
              <a:t>Activating a new source always updates the posterior — even if it confirms what we already know.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6629400" y="3986640"/>
            <a:ext cx="1911600" cy="677160"/>
          </a:xfrm>
          <a:custGeom>
            <a:avLst/>
            <a:gdLst/>
            <a:ahLst/>
            <a:rect l="0" t="0" r="r" b="b"/>
            <a:pathLst>
              <a:path w="5310" h="1881">
                <a:moveTo>
                  <a:pt x="0" y="0"/>
                </a:moveTo>
                <a:lnTo>
                  <a:pt x="5310" y="0"/>
                </a:lnTo>
                <a:lnTo>
                  <a:pt x="5310" y="1881"/>
                </a:lnTo>
                <a:lnTo>
                  <a:pt x="0" y="1881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9360">
            <a:solidFill>
              <a:srgbClr val="1c6ea4"/>
            </a:solidFill>
            <a:round/>
          </a:ln>
        </p:spPr>
        <p:txBody>
          <a:bodyPr lIns="94680" rIns="94680" tIns="49680" bIns="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6666120" y="4005000"/>
            <a:ext cx="74988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A=HIGH → HIGH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+B=HIGH → HIGH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+C=HIGH → HIGH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b84e1d"/>
                </a:solidFill>
                <a:latin typeface="Calibri"/>
                <a:ea typeface="Calibri"/>
              </a:rPr>
              <a:t>(no change ever)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425000" y="4005000"/>
            <a:ext cx="20124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79736f"/>
                </a:solidFill>
                <a:latin typeface="Calibri"/>
                <a:ea typeface="Calibri"/>
              </a:rPr>
              <a:t>vs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7635240" y="4005000"/>
            <a:ext cx="85968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p=0.75 → 75%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+p=0.60 → 90.0%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+p=0.45 → 94.5%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600" spc="-1" strike="noStrike">
                <a:solidFill>
                  <a:srgbClr val="2d793c"/>
                </a:solidFill>
                <a:latin typeface="Calibri"/>
                <a:ea typeface="Calibri"/>
              </a:rPr>
              <a:t>(each source adds)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365760" y="4791600"/>
            <a:ext cx="8412840" cy="183240"/>
          </a:xfrm>
          <a:custGeom>
            <a:avLst/>
            <a:gdLst/>
            <a:ahLst/>
            <a:rect l="0" t="0" r="r" b="b"/>
            <a:pathLst>
              <a:path w="23369" h="509">
                <a:moveTo>
                  <a:pt x="0" y="0"/>
                </a:moveTo>
                <a:lnTo>
                  <a:pt x="23369" y="0"/>
                </a:lnTo>
                <a:lnTo>
                  <a:pt x="23369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502920" y="4791600"/>
            <a:ext cx="822960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900" spc="-1" strike="noStrike">
                <a:solidFill>
                  <a:srgbClr val="1a395b"/>
                </a:solidFill>
                <a:latin typeface="Calibri-Italic"/>
                <a:ea typeface="Calibri-Italic"/>
              </a:rPr>
              <a:t>The Noisy-OR model does not improve on the label system — it replaces a broken foundation with a principled one.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8412480" y="4928760"/>
            <a:ext cx="54864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4 / 16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0" y="0"/>
            <a:ext cx="9144360" cy="686160"/>
          </a:xfrm>
          <a:custGeom>
            <a:avLst/>
            <a:gdLst/>
            <a:ahLst/>
            <a:rect l="0" t="0" r="r" b="b"/>
            <a:pathLst>
              <a:path w="25401" h="1906">
                <a:moveTo>
                  <a:pt x="0" y="0"/>
                </a:moveTo>
                <a:lnTo>
                  <a:pt x="25401" y="0"/>
                </a:lnTo>
                <a:lnTo>
                  <a:pt x="2540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411480" y="0"/>
            <a:ext cx="6858000" cy="70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The Beta Distribution — Modeling Uncertainty in a Probability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858000" y="0"/>
            <a:ext cx="2026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5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65760" y="795600"/>
            <a:ext cx="411480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1a395b"/>
                </a:solidFill>
                <a:latin typeface="Cambria"/>
                <a:ea typeface="Cambria"/>
              </a:rPr>
              <a:t>A distribution over a probability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365760" y="117036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912" y="156"/>
                </a:moveTo>
                <a:cubicBezTo>
                  <a:pt x="1120" y="365"/>
                  <a:pt x="1120" y="703"/>
                  <a:pt x="912" y="912"/>
                </a:cubicBezTo>
                <a:cubicBezTo>
                  <a:pt x="703" y="1120"/>
                  <a:pt x="365" y="1120"/>
                  <a:pt x="156" y="912"/>
                </a:cubicBezTo>
                <a:cubicBezTo>
                  <a:pt x="-52" y="703"/>
                  <a:pt x="-52" y="365"/>
                  <a:pt x="156" y="156"/>
                </a:cubicBezTo>
                <a:cubicBezTo>
                  <a:pt x="365" y="-52"/>
                  <a:pt x="703" y="-52"/>
                  <a:pt x="912" y="156"/>
                </a:cubicBez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365760" y="1170360"/>
            <a:ext cx="38412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841320" y="1152000"/>
            <a:ext cx="349308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Each risk source has an unknown true probability p. Rather than fix a single value, we model the full range of plausible values as a distribution.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365760" y="184716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912" y="156"/>
                </a:moveTo>
                <a:cubicBezTo>
                  <a:pt x="1120" y="365"/>
                  <a:pt x="1120" y="703"/>
                  <a:pt x="912" y="912"/>
                </a:cubicBezTo>
                <a:cubicBezTo>
                  <a:pt x="703" y="1120"/>
                  <a:pt x="365" y="1120"/>
                  <a:pt x="156" y="912"/>
                </a:cubicBezTo>
                <a:cubicBezTo>
                  <a:pt x="-52" y="703"/>
                  <a:pt x="-52" y="365"/>
                  <a:pt x="156" y="156"/>
                </a:cubicBezTo>
                <a:cubicBezTo>
                  <a:pt x="365" y="-52"/>
                  <a:pt x="703" y="-52"/>
                  <a:pt x="912" y="156"/>
                </a:cubicBez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65760" y="1847160"/>
            <a:ext cx="38412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841320" y="1828800"/>
            <a:ext cx="349308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Defined on (0,1) — exactly the right domain for a probability. Parameterized by shape values α and β.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365760" y="252360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912" y="156"/>
                </a:moveTo>
                <a:cubicBezTo>
                  <a:pt x="1120" y="365"/>
                  <a:pt x="1120" y="703"/>
                  <a:pt x="912" y="912"/>
                </a:cubicBezTo>
                <a:cubicBezTo>
                  <a:pt x="703" y="1120"/>
                  <a:pt x="365" y="1120"/>
                  <a:pt x="156" y="912"/>
                </a:cubicBezTo>
                <a:cubicBezTo>
                  <a:pt x="-52" y="703"/>
                  <a:pt x="-52" y="365"/>
                  <a:pt x="156" y="156"/>
                </a:cubicBezTo>
                <a:cubicBezTo>
                  <a:pt x="365" y="-52"/>
                  <a:pt x="703" y="-52"/>
                  <a:pt x="912" y="156"/>
                </a:cubicBez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365760" y="2523600"/>
            <a:ext cx="38412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841320" y="2505600"/>
            <a:ext cx="349308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Re-parameterized as α = μκ and β = (1−μ)κ, where μ is our best estimate and κ controls confidence.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365760" y="320040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912" y="156"/>
                </a:moveTo>
                <a:cubicBezTo>
                  <a:pt x="1120" y="365"/>
                  <a:pt x="1120" y="703"/>
                  <a:pt x="912" y="912"/>
                </a:cubicBezTo>
                <a:cubicBezTo>
                  <a:pt x="703" y="1120"/>
                  <a:pt x="365" y="1120"/>
                  <a:pt x="156" y="912"/>
                </a:cubicBezTo>
                <a:cubicBezTo>
                  <a:pt x="-52" y="703"/>
                  <a:pt x="-52" y="365"/>
                  <a:pt x="156" y="156"/>
                </a:cubicBezTo>
                <a:cubicBezTo>
                  <a:pt x="365" y="-52"/>
                  <a:pt x="703" y="-52"/>
                  <a:pt x="912" y="156"/>
                </a:cubicBez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365760" y="3200400"/>
            <a:ext cx="38412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841320" y="3182040"/>
            <a:ext cx="349308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Two numbers — μ and κ — capture both our belief and our confidence in that belief.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4663440" y="758880"/>
            <a:ext cx="4115160" cy="4087800"/>
          </a:xfrm>
          <a:custGeom>
            <a:avLst/>
            <a:gdLst/>
            <a:ahLst/>
            <a:rect l="0" t="0" r="r" b="b"/>
            <a:pathLst>
              <a:path w="11431" h="11355">
                <a:moveTo>
                  <a:pt x="0" y="0"/>
                </a:moveTo>
                <a:lnTo>
                  <a:pt x="11431" y="0"/>
                </a:lnTo>
                <a:lnTo>
                  <a:pt x="11431" y="11355"/>
                </a:lnTo>
                <a:lnTo>
                  <a:pt x="0" y="113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4800600" y="850320"/>
            <a:ext cx="384048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1a395b"/>
                </a:solidFill>
                <a:latin typeface="Cambria"/>
                <a:ea typeface="Cambria"/>
              </a:rPr>
              <a:t>How κ shapes the distribution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4773240" y="1188720"/>
            <a:ext cx="128520" cy="658800"/>
          </a:xfrm>
          <a:custGeom>
            <a:avLst/>
            <a:gdLst/>
            <a:ahLst/>
            <a:rect l="0" t="0" r="r" b="b"/>
            <a:pathLst>
              <a:path w="357" h="1830">
                <a:moveTo>
                  <a:pt x="0" y="0"/>
                </a:moveTo>
                <a:lnTo>
                  <a:pt x="357" y="0"/>
                </a:lnTo>
                <a:lnTo>
                  <a:pt x="357" y="1830"/>
                </a:lnTo>
                <a:lnTo>
                  <a:pt x="0" y="1830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4974480" y="1188720"/>
            <a:ext cx="3657600" cy="23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c6ea4"/>
                </a:solidFill>
                <a:latin typeface="Cambria"/>
                <a:ea typeface="Cambria"/>
              </a:rPr>
              <a:t>κ = 80  (very confident)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974480" y="1426320"/>
            <a:ext cx="365760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8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μ = 0.40  →  tight peak near 40%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4974480" y="1627560"/>
            <a:ext cx="3657600" cy="23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Almost all probability mass concentrated near μ. Analyst is very sure.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4773240" y="2194560"/>
            <a:ext cx="128520" cy="658800"/>
          </a:xfrm>
          <a:custGeom>
            <a:avLst/>
            <a:gdLst/>
            <a:ahLst/>
            <a:rect l="0" t="0" r="r" b="b"/>
            <a:pathLst>
              <a:path w="357" h="1830">
                <a:moveTo>
                  <a:pt x="0" y="0"/>
                </a:moveTo>
                <a:lnTo>
                  <a:pt x="357" y="0"/>
                </a:lnTo>
                <a:lnTo>
                  <a:pt x="357" y="1830"/>
                </a:lnTo>
                <a:lnTo>
                  <a:pt x="0" y="1830"/>
                </a:lnTo>
                <a:lnTo>
                  <a:pt x="0" y="0"/>
                </a:lnTo>
                <a:close/>
              </a:path>
            </a:pathLst>
          </a:custGeom>
          <a:solidFill>
            <a:srgbClr val="0a7982"/>
          </a:solidFill>
          <a:ln w="12600">
            <a:solidFill>
              <a:srgbClr val="0a7982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4974480" y="2194560"/>
            <a:ext cx="3657600" cy="23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0a7982"/>
                </a:solidFill>
                <a:latin typeface="Cambria"/>
                <a:ea typeface="Cambria"/>
              </a:rPr>
              <a:t>κ = 15  (moderate certainty)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4974480" y="2432160"/>
            <a:ext cx="365760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8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μ = 0.40  →  spread 20%–65%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4974480" y="2633400"/>
            <a:ext cx="3657600" cy="23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Reasonable confidence but meaningful spread. Could range widely.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4773240" y="3200400"/>
            <a:ext cx="128520" cy="658800"/>
          </a:xfrm>
          <a:custGeom>
            <a:avLst/>
            <a:gdLst/>
            <a:ahLst/>
            <a:rect l="0" t="0" r="r" b="b"/>
            <a:pathLst>
              <a:path w="357" h="1830">
                <a:moveTo>
                  <a:pt x="0" y="0"/>
                </a:moveTo>
                <a:lnTo>
                  <a:pt x="357" y="0"/>
                </a:lnTo>
                <a:lnTo>
                  <a:pt x="357" y="1830"/>
                </a:lnTo>
                <a:lnTo>
                  <a:pt x="0" y="1830"/>
                </a:lnTo>
                <a:lnTo>
                  <a:pt x="0" y="0"/>
                </a:ln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4974480" y="3200400"/>
            <a:ext cx="3657600" cy="23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b84e1d"/>
                </a:solidFill>
                <a:latin typeface="Cambria"/>
                <a:ea typeface="Cambria"/>
              </a:rPr>
              <a:t>κ = 3   (low certainty)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4974480" y="3438000"/>
            <a:ext cx="365760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8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μ = 0.40  →  nearly flat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4974480" y="3639240"/>
            <a:ext cx="3657600" cy="23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Minimal information. Distribution is nearly uniform across (0,1).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4773240" y="4316040"/>
            <a:ext cx="3859200" cy="384480"/>
          </a:xfrm>
          <a:custGeom>
            <a:avLst/>
            <a:gdLst/>
            <a:ahLst/>
            <a:rect l="0" t="0" r="r" b="b"/>
            <a:pathLst>
              <a:path w="10720" h="1068">
                <a:moveTo>
                  <a:pt x="0" y="0"/>
                </a:moveTo>
                <a:lnTo>
                  <a:pt x="10720" y="0"/>
                </a:lnTo>
                <a:lnTo>
                  <a:pt x="10720" y="1068"/>
                </a:lnTo>
                <a:lnTo>
                  <a:pt x="0" y="1068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827960" y="4316040"/>
            <a:ext cx="374904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i="1" lang="en-US" sz="900" spc="-1" strike="noStrike">
                <a:solidFill>
                  <a:srgbClr val="1a395b"/>
                </a:solidFill>
                <a:latin typeface="Calibri-Italic"/>
                <a:ea typeface="Calibri-Italic"/>
              </a:rPr>
              <a:t>Var(p) = μ(1 − μ) / (κ + 1)   —   higher κ means lower variance, higher certainty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8412480" y="4928760"/>
            <a:ext cx="54864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5 / 16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01" name="beta_dist_chart" descr="Beta Distribution"/>
          <p:cNvPicPr/>
          <p:nvPr/>
        </p:nvPicPr>
        <p:blipFill>
          <a:blip r:embed="rId2"/>
          <a:stretch/>
        </p:blipFill>
        <p:spPr>
          <a:xfrm>
            <a:off x="365760" y="3810000"/>
            <a:ext cx="3900000" cy="99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>
            <a:off x="0" y="0"/>
            <a:ext cx="9144360" cy="686160"/>
          </a:xfrm>
          <a:custGeom>
            <a:avLst/>
            <a:gdLst/>
            <a:ahLst/>
            <a:rect l="0" t="0" r="r" b="b"/>
            <a:pathLst>
              <a:path w="25401" h="1906">
                <a:moveTo>
                  <a:pt x="0" y="0"/>
                </a:moveTo>
                <a:lnTo>
                  <a:pt x="25401" y="0"/>
                </a:lnTo>
                <a:lnTo>
                  <a:pt x="2540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Multiple Independent Sources of Evidence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6858000" y="0"/>
            <a:ext cx="2026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7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65760" y="768240"/>
            <a:ext cx="841248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1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Each source represents a distinct, independent signal — a separate reason the risk event could occur.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365760" y="1115640"/>
            <a:ext cx="2012040" cy="2450880"/>
          </a:xfrm>
          <a:custGeom>
            <a:avLst/>
            <a:gdLst/>
            <a:ahLst/>
            <a:rect l="0" t="0" r="r" b="b"/>
            <a:pathLst>
              <a:path w="5589" h="6808">
                <a:moveTo>
                  <a:pt x="0" y="0"/>
                </a:moveTo>
                <a:lnTo>
                  <a:pt x="5589" y="0"/>
                </a:lnTo>
                <a:lnTo>
                  <a:pt x="5589" y="6808"/>
                </a:lnTo>
                <a:lnTo>
                  <a:pt x="0" y="68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1c6ea4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65760" y="1115640"/>
            <a:ext cx="2012040" cy="402840"/>
          </a:xfrm>
          <a:custGeom>
            <a:avLst/>
            <a:gdLst/>
            <a:ahLst/>
            <a:rect l="0" t="0" r="r" b="b"/>
            <a:pathLst>
              <a:path w="5589" h="1119">
                <a:moveTo>
                  <a:pt x="0" y="0"/>
                </a:moveTo>
                <a:lnTo>
                  <a:pt x="5589" y="0"/>
                </a:lnTo>
                <a:lnTo>
                  <a:pt x="5589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457200" y="1115640"/>
            <a:ext cx="1828800" cy="40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Source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475560" y="1609200"/>
            <a:ext cx="1792080" cy="3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1c6ea4"/>
                </a:solidFill>
                <a:latin typeface="Cambria"/>
                <a:ea typeface="Cambria"/>
              </a:rPr>
              <a:t>μ = 0.40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475560" y="1920240"/>
            <a:ext cx="1792080" cy="3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1c6ea4"/>
                </a:solidFill>
                <a:latin typeface="Cambria"/>
                <a:ea typeface="Cambria"/>
              </a:rPr>
              <a:t>κ = 15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475560" y="2331720"/>
            <a:ext cx="1792080" cy="53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9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Moderate signal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i="1" lang="en-US" sz="9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Moderate certainty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2377440" y="2340720"/>
            <a:ext cx="182880" cy="0"/>
          </a:xfrm>
          <a:prstGeom prst="line">
            <a:avLst/>
          </a:prstGeom>
          <a:ln w="12600">
            <a:solidFill>
              <a:srgbClr val="94a3b8"/>
            </a:solidFill>
            <a:custDash>
              <a:ds d="400000" sp="300000"/>
              <a:ds d="4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2560320" y="1115640"/>
            <a:ext cx="2012040" cy="2450880"/>
          </a:xfrm>
          <a:custGeom>
            <a:avLst/>
            <a:gdLst/>
            <a:ahLst/>
            <a:rect l="0" t="0" r="r" b="b"/>
            <a:pathLst>
              <a:path w="5589" h="6808">
                <a:moveTo>
                  <a:pt x="0" y="0"/>
                </a:moveTo>
                <a:lnTo>
                  <a:pt x="5589" y="0"/>
                </a:lnTo>
                <a:lnTo>
                  <a:pt x="5589" y="6808"/>
                </a:lnTo>
                <a:lnTo>
                  <a:pt x="0" y="68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0a7982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2560320" y="1115640"/>
            <a:ext cx="2012040" cy="402840"/>
          </a:xfrm>
          <a:custGeom>
            <a:avLst/>
            <a:gdLst/>
            <a:ahLst/>
            <a:rect l="0" t="0" r="r" b="b"/>
            <a:pathLst>
              <a:path w="5589" h="1119">
                <a:moveTo>
                  <a:pt x="0" y="0"/>
                </a:moveTo>
                <a:lnTo>
                  <a:pt x="5589" y="0"/>
                </a:lnTo>
                <a:lnTo>
                  <a:pt x="5589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0a7982"/>
          </a:solidFill>
          <a:ln w="12600">
            <a:solidFill>
              <a:srgbClr val="0a7982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2651760" y="1115640"/>
            <a:ext cx="1828800" cy="40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Source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2670120" y="1609200"/>
            <a:ext cx="1792080" cy="3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a7982"/>
                </a:solidFill>
                <a:latin typeface="Cambria"/>
                <a:ea typeface="Cambria"/>
              </a:rPr>
              <a:t>μ = 0.60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2670120" y="1920240"/>
            <a:ext cx="1792080" cy="3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a7982"/>
                </a:solidFill>
                <a:latin typeface="Cambria"/>
                <a:ea typeface="Cambria"/>
              </a:rPr>
              <a:t>κ = 15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2670120" y="2331720"/>
            <a:ext cx="1792080" cy="53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9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Higher signal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i="1" lang="en-US" sz="9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Moderate certainty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4572000" y="2340720"/>
            <a:ext cx="182880" cy="0"/>
          </a:xfrm>
          <a:prstGeom prst="line">
            <a:avLst/>
          </a:prstGeom>
          <a:ln w="12600">
            <a:solidFill>
              <a:srgbClr val="94a3b8"/>
            </a:solidFill>
            <a:custDash>
              <a:ds d="400000" sp="300000"/>
              <a:ds d="4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4754880" y="1115640"/>
            <a:ext cx="2012040" cy="2450880"/>
          </a:xfrm>
          <a:custGeom>
            <a:avLst/>
            <a:gdLst/>
            <a:ahLst/>
            <a:rect l="0" t="0" r="r" b="b"/>
            <a:pathLst>
              <a:path w="5589" h="6808">
                <a:moveTo>
                  <a:pt x="0" y="0"/>
                </a:moveTo>
                <a:lnTo>
                  <a:pt x="5589" y="0"/>
                </a:lnTo>
                <a:lnTo>
                  <a:pt x="5589" y="6808"/>
                </a:lnTo>
                <a:lnTo>
                  <a:pt x="0" y="68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b84e1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4754880" y="1115640"/>
            <a:ext cx="2012040" cy="402840"/>
          </a:xfrm>
          <a:custGeom>
            <a:avLst/>
            <a:gdLst/>
            <a:ahLst/>
            <a:rect l="0" t="0" r="r" b="b"/>
            <a:pathLst>
              <a:path w="5589" h="1119">
                <a:moveTo>
                  <a:pt x="0" y="0"/>
                </a:moveTo>
                <a:lnTo>
                  <a:pt x="5589" y="0"/>
                </a:lnTo>
                <a:lnTo>
                  <a:pt x="5589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4846320" y="1115640"/>
            <a:ext cx="1828800" cy="40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Source 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4864680" y="1609200"/>
            <a:ext cx="1792080" cy="3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b84e1d"/>
                </a:solidFill>
                <a:latin typeface="Cambria"/>
                <a:ea typeface="Cambria"/>
              </a:rPr>
              <a:t>μ = 0.40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4864680" y="1920240"/>
            <a:ext cx="1792080" cy="3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b84e1d"/>
                </a:solidFill>
                <a:latin typeface="Cambria"/>
                <a:ea typeface="Cambria"/>
              </a:rPr>
              <a:t>κ = 80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864680" y="2331720"/>
            <a:ext cx="1792080" cy="53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9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Moderate signal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i="1" lang="en-US" sz="9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High certainty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6766560" y="2340720"/>
            <a:ext cx="182880" cy="0"/>
          </a:xfrm>
          <a:prstGeom prst="line">
            <a:avLst/>
          </a:prstGeom>
          <a:ln w="12600">
            <a:solidFill>
              <a:srgbClr val="94a3b8"/>
            </a:solidFill>
            <a:custDash>
              <a:ds d="400000" sp="300000"/>
              <a:ds d="4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6949440" y="1115640"/>
            <a:ext cx="2012040" cy="2450880"/>
          </a:xfrm>
          <a:custGeom>
            <a:avLst/>
            <a:gdLst/>
            <a:ahLst/>
            <a:rect l="0" t="0" r="r" b="b"/>
            <a:pathLst>
              <a:path w="5589" h="6808">
                <a:moveTo>
                  <a:pt x="0" y="0"/>
                </a:moveTo>
                <a:lnTo>
                  <a:pt x="5589" y="0"/>
                </a:lnTo>
                <a:lnTo>
                  <a:pt x="5589" y="6808"/>
                </a:lnTo>
                <a:lnTo>
                  <a:pt x="0" y="68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b87115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6949440" y="1115640"/>
            <a:ext cx="2012040" cy="402840"/>
          </a:xfrm>
          <a:custGeom>
            <a:avLst/>
            <a:gdLst/>
            <a:ahLst/>
            <a:rect l="0" t="0" r="r" b="b"/>
            <a:pathLst>
              <a:path w="5589" h="1119">
                <a:moveTo>
                  <a:pt x="0" y="0"/>
                </a:moveTo>
                <a:lnTo>
                  <a:pt x="5589" y="0"/>
                </a:lnTo>
                <a:lnTo>
                  <a:pt x="5589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b87115"/>
          </a:solidFill>
          <a:ln w="12600">
            <a:solidFill>
              <a:srgbClr val="b8711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040880" y="1115640"/>
            <a:ext cx="1828800" cy="40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Source 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059240" y="1609200"/>
            <a:ext cx="1792080" cy="3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b87115"/>
                </a:solidFill>
                <a:latin typeface="Cambria"/>
                <a:ea typeface="Cambria"/>
              </a:rPr>
              <a:t>μ = 0.70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7059240" y="1920240"/>
            <a:ext cx="1792080" cy="31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b87115"/>
                </a:solidFill>
                <a:latin typeface="Cambria"/>
                <a:ea typeface="Cambria"/>
              </a:rPr>
              <a:t>κ = 80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7059240" y="2331720"/>
            <a:ext cx="1792080" cy="53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9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High signal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i="1" lang="en-US" sz="9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High certainty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365760" y="3712320"/>
            <a:ext cx="8412840" cy="1024560"/>
          </a:xfrm>
          <a:custGeom>
            <a:avLst/>
            <a:gdLst/>
            <a:ahLst/>
            <a:rect l="0" t="0" r="r" b="b"/>
            <a:pathLst>
              <a:path w="23369" h="2846">
                <a:moveTo>
                  <a:pt x="0" y="0"/>
                </a:moveTo>
                <a:lnTo>
                  <a:pt x="23369" y="0"/>
                </a:lnTo>
                <a:lnTo>
                  <a:pt x="23369" y="2846"/>
                </a:lnTo>
                <a:lnTo>
                  <a:pt x="0" y="2846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9080">
            <a:solidFill>
              <a:srgbClr val="1c6ea4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530280" y="3785760"/>
            <a:ext cx="50292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1a395b"/>
                </a:solidFill>
                <a:latin typeface="Cambria"/>
                <a:ea typeface="Cambria"/>
              </a:rPr>
              <a:t>Independent sources → each covers a separate portion of the risk space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530280" y="4078080"/>
            <a:ext cx="8229600" cy="58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Statistical independence means knowing Source 1 fired tells us nothing about whether Source 2 will fire. This is what makes the Noisy-OR multiplication valid: we can simply multiply the probability that each individual source fails to fire. Without independence, we would need to model correlations — vastly more complex.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8412480" y="4928760"/>
            <a:ext cx="54864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7 / 16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>
            <a:off x="0" y="0"/>
            <a:ext cx="9144360" cy="686160"/>
          </a:xfrm>
          <a:custGeom>
            <a:avLst/>
            <a:gdLst/>
            <a:ahLst/>
            <a:rect l="0" t="0" r="r" b="b"/>
            <a:pathLst>
              <a:path w="25401" h="1906">
                <a:moveTo>
                  <a:pt x="0" y="0"/>
                </a:moveTo>
                <a:lnTo>
                  <a:pt x="25401" y="0"/>
                </a:lnTo>
                <a:lnTo>
                  <a:pt x="2540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The Noisy-OR Combination Formula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6858000" y="0"/>
            <a:ext cx="2026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8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914400" y="768240"/>
            <a:ext cx="7315560" cy="1006200"/>
          </a:xfrm>
          <a:custGeom>
            <a:avLst/>
            <a:gdLst/>
            <a:ahLst/>
            <a:rect l="0" t="0" r="r" b="b"/>
            <a:pathLst>
              <a:path w="20321" h="2795">
                <a:moveTo>
                  <a:pt x="0" y="0"/>
                </a:moveTo>
                <a:lnTo>
                  <a:pt x="20321" y="0"/>
                </a:lnTo>
                <a:lnTo>
                  <a:pt x="20321" y="2795"/>
                </a:lnTo>
                <a:lnTo>
                  <a:pt x="0" y="2795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9080">
            <a:solidFill>
              <a:srgbClr val="1c6ea4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051560" y="841320"/>
            <a:ext cx="704088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900" spc="-1" strike="noStrike">
                <a:solidFill>
                  <a:srgbClr val="1a395b"/>
                </a:solidFill>
                <a:latin typeface="Cambria"/>
                <a:ea typeface="Cambria"/>
              </a:rPr>
              <a:t>P(risk) = 1 − ∏ᵢ (1 − pᵢ)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051560" y="1454040"/>
            <a:ext cx="704088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i="1" lang="en-US" sz="9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Probability that at least one independent source fires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365760" y="1920240"/>
            <a:ext cx="8412480" cy="26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1a395b"/>
                </a:solidFill>
                <a:latin typeface="Cambria"/>
                <a:ea typeface="Cambria"/>
              </a:rPr>
              <a:t>Step-by-step derivation: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1161360" y="230436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912" y="156"/>
                </a:moveTo>
                <a:cubicBezTo>
                  <a:pt x="1120" y="365"/>
                  <a:pt x="1120" y="703"/>
                  <a:pt x="912" y="912"/>
                </a:cubicBezTo>
                <a:cubicBezTo>
                  <a:pt x="703" y="1120"/>
                  <a:pt x="365" y="1120"/>
                  <a:pt x="156" y="912"/>
                </a:cubicBezTo>
                <a:cubicBezTo>
                  <a:pt x="-52" y="703"/>
                  <a:pt x="-52" y="365"/>
                  <a:pt x="156" y="156"/>
                </a:cubicBezTo>
                <a:cubicBezTo>
                  <a:pt x="365" y="-52"/>
                  <a:pt x="703" y="-52"/>
                  <a:pt x="912" y="156"/>
                </a:cubicBez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161360" y="2304360"/>
            <a:ext cx="38412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365760" y="2797920"/>
            <a:ext cx="201168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c6ea4"/>
                </a:solidFill>
                <a:latin typeface="Cambria"/>
                <a:ea typeface="Cambria"/>
              </a:rPr>
              <a:t>Sample each source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2377440" y="2496240"/>
            <a:ext cx="182880" cy="0"/>
          </a:xfrm>
          <a:prstGeom prst="line">
            <a:avLst/>
          </a:prstGeom>
          <a:ln w="12600">
            <a:solidFill>
              <a:srgbClr val="94a3b8"/>
            </a:solidFill>
            <a:custDash>
              <a:ds d="300000" sp="100000"/>
              <a:ds d="3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411480" y="3090600"/>
            <a:ext cx="1938600" cy="166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Draw N samples from Beta(α,β) for each source. Each sample pᵢ is one plausible value of that source's true risk probability.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3355920" y="230436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912" y="156"/>
                </a:moveTo>
                <a:cubicBezTo>
                  <a:pt x="1120" y="365"/>
                  <a:pt x="1120" y="703"/>
                  <a:pt x="912" y="912"/>
                </a:cubicBezTo>
                <a:cubicBezTo>
                  <a:pt x="703" y="1120"/>
                  <a:pt x="365" y="1120"/>
                  <a:pt x="156" y="912"/>
                </a:cubicBezTo>
                <a:cubicBezTo>
                  <a:pt x="-52" y="703"/>
                  <a:pt x="-52" y="365"/>
                  <a:pt x="156" y="156"/>
                </a:cubicBezTo>
                <a:cubicBezTo>
                  <a:pt x="365" y="-52"/>
                  <a:pt x="703" y="-52"/>
                  <a:pt x="912" y="156"/>
                </a:cubicBezTo>
                <a:close/>
              </a:path>
            </a:pathLst>
          </a:custGeom>
          <a:solidFill>
            <a:srgbClr val="0a7982"/>
          </a:solidFill>
          <a:ln w="12600">
            <a:solidFill>
              <a:srgbClr val="0a7982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3355920" y="2304360"/>
            <a:ext cx="38412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2560320" y="2797920"/>
            <a:ext cx="201168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0a7982"/>
                </a:solidFill>
                <a:latin typeface="Cambria"/>
                <a:ea typeface="Cambria"/>
              </a:rPr>
              <a:t>Compute non-firing prob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4572000" y="2496240"/>
            <a:ext cx="182880" cy="0"/>
          </a:xfrm>
          <a:prstGeom prst="line">
            <a:avLst/>
          </a:prstGeom>
          <a:ln w="12600">
            <a:solidFill>
              <a:srgbClr val="94a3b8"/>
            </a:solidFill>
            <a:custDash>
              <a:ds d="300000" sp="100000"/>
              <a:ds d="3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2606040" y="3090600"/>
            <a:ext cx="1938600" cy="166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For each sample, compute (1−pᵢ). This is the probability that source i does NOT fire on a single draw.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5550480" y="230436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912" y="156"/>
                </a:moveTo>
                <a:cubicBezTo>
                  <a:pt x="1120" y="365"/>
                  <a:pt x="1120" y="703"/>
                  <a:pt x="912" y="912"/>
                </a:cubicBezTo>
                <a:cubicBezTo>
                  <a:pt x="703" y="1120"/>
                  <a:pt x="365" y="1120"/>
                  <a:pt x="156" y="912"/>
                </a:cubicBezTo>
                <a:cubicBezTo>
                  <a:pt x="-52" y="703"/>
                  <a:pt x="-52" y="365"/>
                  <a:pt x="156" y="156"/>
                </a:cubicBezTo>
                <a:cubicBezTo>
                  <a:pt x="365" y="-52"/>
                  <a:pt x="703" y="-52"/>
                  <a:pt x="912" y="156"/>
                </a:cubicBez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5550480" y="2304360"/>
            <a:ext cx="38412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4754880" y="2797920"/>
            <a:ext cx="201168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b84e1d"/>
                </a:solidFill>
                <a:latin typeface="Cambria"/>
                <a:ea typeface="Cambria"/>
              </a:rPr>
              <a:t>Multiply across sources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6766560" y="2496240"/>
            <a:ext cx="182880" cy="0"/>
          </a:xfrm>
          <a:prstGeom prst="line">
            <a:avLst/>
          </a:prstGeom>
          <a:ln w="12600">
            <a:solidFill>
              <a:srgbClr val="94a3b8"/>
            </a:solidFill>
            <a:custDash>
              <a:ds d="300000" sp="100000"/>
              <a:ds d="3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4800600" y="3090600"/>
            <a:ext cx="1938600" cy="166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By independence: P(none fire) = ∏ᵢ(1−pᵢ). Multiplying survival probabilities gives the joint silence probability.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7745040" y="230436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912" y="156"/>
                </a:moveTo>
                <a:cubicBezTo>
                  <a:pt x="1120" y="365"/>
                  <a:pt x="1120" y="703"/>
                  <a:pt x="912" y="912"/>
                </a:cubicBezTo>
                <a:cubicBezTo>
                  <a:pt x="703" y="1120"/>
                  <a:pt x="365" y="1120"/>
                  <a:pt x="156" y="912"/>
                </a:cubicBezTo>
                <a:cubicBezTo>
                  <a:pt x="-52" y="703"/>
                  <a:pt x="-52" y="365"/>
                  <a:pt x="156" y="156"/>
                </a:cubicBezTo>
                <a:cubicBezTo>
                  <a:pt x="365" y="-52"/>
                  <a:pt x="703" y="-52"/>
                  <a:pt x="912" y="156"/>
                </a:cubicBezTo>
                <a:close/>
              </a:path>
            </a:pathLst>
          </a:custGeom>
          <a:solidFill>
            <a:srgbClr val="b87115"/>
          </a:solidFill>
          <a:ln w="12600">
            <a:solidFill>
              <a:srgbClr val="b8711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7745040" y="2304360"/>
            <a:ext cx="38412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6949440" y="2797920"/>
            <a:ext cx="201168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b87115"/>
                </a:solidFill>
                <a:latin typeface="Cambria"/>
                <a:ea typeface="Cambria"/>
              </a:rPr>
              <a:t>Invert to get risk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6995160" y="3090600"/>
            <a:ext cx="1938600" cy="166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P(at least one fires) = 1 − ∏ᵢ(1−pᵢ). This is the combined risk score — the probability the event occurs via any pathway.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8412480" y="4928760"/>
            <a:ext cx="54864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8 / 16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>
            <a:off x="0" y="0"/>
            <a:ext cx="9144360" cy="686160"/>
          </a:xfrm>
          <a:custGeom>
            <a:avLst/>
            <a:gdLst/>
            <a:ahLst/>
            <a:rect l="0" t="0" r="r" b="b"/>
            <a:pathLst>
              <a:path w="25401" h="1906">
                <a:moveTo>
                  <a:pt x="0" y="0"/>
                </a:moveTo>
                <a:lnTo>
                  <a:pt x="25401" y="0"/>
                </a:lnTo>
                <a:lnTo>
                  <a:pt x="2540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Why Noisy-OR?  The Logic of Independent Risk Pathways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6858000" y="0"/>
            <a:ext cx="2026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9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365760" y="768240"/>
            <a:ext cx="4115160" cy="4115160"/>
          </a:xfrm>
          <a:custGeom>
            <a:avLst/>
            <a:gdLst/>
            <a:ahLst/>
            <a:rect l="0" t="0" r="r" b="b"/>
            <a:pathLst>
              <a:path w="11431" h="11431">
                <a:moveTo>
                  <a:pt x="0" y="0"/>
                </a:moveTo>
                <a:lnTo>
                  <a:pt x="11431" y="0"/>
                </a:lnTo>
                <a:lnTo>
                  <a:pt x="11431" y="11431"/>
                </a:lnTo>
                <a:lnTo>
                  <a:pt x="0" y="114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502920" y="859680"/>
            <a:ext cx="384048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1a395b"/>
                </a:solidFill>
                <a:latin typeface="Cambria"/>
                <a:ea typeface="Cambria"/>
              </a:rPr>
              <a:t>Numeric intuition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548640" y="1216080"/>
            <a:ext cx="37490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1d1d2d"/>
                </a:solidFill>
                <a:latin typeface="Calibri"/>
                <a:ea typeface="Calibri"/>
              </a:rPr>
              <a:t>Two sources: p₁ = 0.70,  p₂ = 0.20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548640" y="1710000"/>
            <a:ext cx="37490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79736f"/>
                </a:solidFill>
                <a:latin typeface="Calibri"/>
                <a:ea typeface="Calibri"/>
              </a:rPr>
              <a:t>P(none fire) = (1−0.70)(1−0.20)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548640" y="1956960"/>
            <a:ext cx="37490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79736f"/>
                </a:solidFill>
                <a:latin typeface="Calibri"/>
                <a:ea typeface="Calibri"/>
              </a:rPr>
              <a:t xml:space="preserve">             </a:t>
            </a:r>
            <a:r>
              <a:rPr b="0" lang="en-US" sz="1000" spc="-1" strike="noStrike">
                <a:solidFill>
                  <a:srgbClr val="79736f"/>
                </a:solidFill>
                <a:latin typeface="Calibri"/>
                <a:ea typeface="Calibri"/>
              </a:rPr>
              <a:t>= 0.30 × 0.80 = 0.24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548640" y="2450520"/>
            <a:ext cx="37490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1a395b"/>
                </a:solidFill>
                <a:latin typeface="Calibri"/>
                <a:ea typeface="Calibri"/>
              </a:rPr>
              <a:t>P(at least one fires)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548640" y="2697480"/>
            <a:ext cx="37490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1c6ea4"/>
                </a:solidFill>
                <a:latin typeface="Calibri-Bold"/>
                <a:ea typeface="Calibri-Bold"/>
              </a:rPr>
              <a:t xml:space="preserve"> </a:t>
            </a:r>
            <a:r>
              <a:rPr b="1" lang="en-US" sz="1000" spc="-1" strike="noStrike">
                <a:solidFill>
                  <a:srgbClr val="1c6ea4"/>
                </a:solidFill>
                <a:latin typeface="Calibri-Bold"/>
                <a:ea typeface="Calibri-Bold"/>
              </a:rPr>
              <a:t>= 1 − 0.24 = 0.76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548640" y="3191400"/>
            <a:ext cx="37490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b84e1d"/>
                </a:solidFill>
                <a:latin typeface="Calibri-Bold"/>
                <a:ea typeface="Calibri-Bold"/>
              </a:rPr>
              <a:t>Combined risk (76%) &gt; max source (70%)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548640" y="3684960"/>
            <a:ext cx="3749040" cy="39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1d1d2d"/>
                </a:solidFill>
                <a:latin typeface="Calibri"/>
                <a:ea typeface="Calibri"/>
              </a:rPr>
              <a:t>The extra 6% = Source 2 covering the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d1d2d"/>
                </a:solidFill>
                <a:latin typeface="Calibri"/>
                <a:ea typeface="Calibri"/>
              </a:rPr>
              <a:t>30% of cases Source 1 misses: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548640" y="3931920"/>
            <a:ext cx="37490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a7982"/>
                </a:solidFill>
                <a:latin typeface="Calibri"/>
                <a:ea typeface="Calibri"/>
              </a:rPr>
              <a:t xml:space="preserve"> </a:t>
            </a:r>
            <a:r>
              <a:rPr b="0" lang="en-US" sz="1000" spc="-1" strike="noStrike">
                <a:solidFill>
                  <a:srgbClr val="0a7982"/>
                </a:solidFill>
                <a:latin typeface="Calibri"/>
                <a:ea typeface="Calibri"/>
              </a:rPr>
              <a:t>0.30 × 0.20 = 0.06  ✓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4663440" y="768240"/>
            <a:ext cx="4115160" cy="4115160"/>
          </a:xfrm>
          <a:custGeom>
            <a:avLst/>
            <a:gdLst/>
            <a:ahLst/>
            <a:rect l="0" t="0" r="r" b="b"/>
            <a:pathLst>
              <a:path w="11431" h="11431">
                <a:moveTo>
                  <a:pt x="0" y="0"/>
                </a:moveTo>
                <a:lnTo>
                  <a:pt x="11431" y="0"/>
                </a:lnTo>
                <a:lnTo>
                  <a:pt x="11431" y="11431"/>
                </a:lnTo>
                <a:lnTo>
                  <a:pt x="0" y="11431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4800600" y="859680"/>
            <a:ext cx="384048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1a395b"/>
                </a:solidFill>
                <a:latin typeface="Cambria"/>
                <a:ea typeface="Cambria"/>
              </a:rPr>
              <a:t>Real-world analogy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4827960" y="1207080"/>
            <a:ext cx="3822120" cy="354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1d1d2d"/>
                </a:solidFill>
                <a:latin typeface="Calibri"/>
                <a:ea typeface="Calibri"/>
              </a:rPr>
              <a:t>Scenario: Vendor payment review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d1d2d"/>
                </a:solidFill>
                <a:latin typeface="Calibri"/>
                <a:ea typeface="Calibri"/>
              </a:rPr>
              <a:t>Source A (unusual payment pattern): p = 0.70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d1d2d"/>
                </a:solidFill>
                <a:latin typeface="Calibri"/>
                <a:ea typeface="Calibri"/>
              </a:rPr>
              <a:t>Source B (vendor watchlist match): p = 0.20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d1d2d"/>
                </a:solidFill>
                <a:latin typeface="Calibri"/>
                <a:ea typeface="Calibri"/>
              </a:rPr>
              <a:t>P(none fire) = 0.30 × 0.80 = 0.24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000" spc="-1" strike="noStrike">
                <a:solidFill>
                  <a:srgbClr val="1d1d2d"/>
                </a:solidFill>
                <a:latin typeface="Calibri"/>
                <a:ea typeface="Calibri"/>
              </a:rPr>
              <a:t>Overall risk = 1 − 0.24 = 76%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000" spc="-1" strike="noStrike">
                <a:solidFill>
                  <a:srgbClr val="1d1d2d"/>
                </a:solidFill>
                <a:latin typeface="Calibri"/>
                <a:ea typeface="Calibri"/>
              </a:rPr>
              <a:t>Marginal contributions: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d1d2d"/>
                </a:solidFill>
                <a:latin typeface="Calibri"/>
                <a:ea typeface="Calibri"/>
              </a:rPr>
              <a:t>Source A: 76% − P(risk without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d1d2d"/>
                </a:solidFill>
                <a:latin typeface="Calibri"/>
                <a:ea typeface="Calibri"/>
              </a:rPr>
              <a:t xml:space="preserve">  = 76% − 20% = +56 pts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d1d2d"/>
                </a:solidFill>
                <a:latin typeface="Calibri"/>
                <a:ea typeface="Calibri"/>
              </a:rPr>
              <a:t>Source B: 76% − P(risk without B)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d1d2d"/>
                </a:solidFill>
                <a:latin typeface="Calibri"/>
                <a:ea typeface="Calibri"/>
              </a:rPr>
              <a:t xml:space="preserve">  = 76% − 70% = +6 pts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900" spc="-1" strike="noStrike" i="1">
                <a:solidFill>
                  <a:srgbClr val="555577"/>
                </a:solidFill>
                <a:latin typeface="Calibri"/>
                <a:ea typeface="Calibri"/>
              </a:rPr>
              <a:t>Source A dominates; Source B adds the 6% of cases A misses (0.30 × 0.20 = 0.06 ✓)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8412480" y="4928760"/>
            <a:ext cx="54864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9 / 16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>
            <a:off x="0" y="0"/>
            <a:ext cx="9144360" cy="686160"/>
          </a:xfrm>
          <a:custGeom>
            <a:avLst/>
            <a:gdLst/>
            <a:ahLst/>
            <a:rect l="0" t="0" r="r" b="b"/>
            <a:pathLst>
              <a:path w="25401" h="1906">
                <a:moveTo>
                  <a:pt x="0" y="0"/>
                </a:moveTo>
                <a:lnTo>
                  <a:pt x="25401" y="0"/>
                </a:lnTo>
                <a:lnTo>
                  <a:pt x="2540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Sources with Different Individual Certainty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6858000" y="0"/>
            <a:ext cx="2026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10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365760" y="768240"/>
            <a:ext cx="8412480" cy="41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1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Two sources can have the same μ but very different κ — and their contribution to model certainty differs dramatically.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365760" y="1078920"/>
            <a:ext cx="3200760" cy="243431"/>
          </a:xfrm>
          <a:custGeom>
            <a:avLst/>
            <a:gdLst/>
            <a:ahLst/>
            <a:rect l="0" t="0" r="r" b="b"/>
            <a:pathLst>
              <a:path w="8891" h="966">
                <a:moveTo>
                  <a:pt x="0" y="0"/>
                </a:moveTo>
                <a:lnTo>
                  <a:pt x="8891" y="0"/>
                </a:lnTo>
                <a:lnTo>
                  <a:pt x="8891" y="966"/>
                </a:lnTo>
                <a:lnTo>
                  <a:pt x="0" y="96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365760" y="1078920"/>
            <a:ext cx="3200400" cy="243179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ffffff"/>
                </a:solidFill>
                <a:latin typeface="Cambria"/>
                <a:ea typeface="Cambria"/>
              </a:rPr>
              <a:t>Property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3611880" y="1078920"/>
            <a:ext cx="2514960" cy="243431"/>
          </a:xfrm>
          <a:custGeom>
            <a:avLst/>
            <a:gdLst/>
            <a:ahLst/>
            <a:rect l="0" t="0" r="r" b="b"/>
            <a:pathLst>
              <a:path w="6986" h="966">
                <a:moveTo>
                  <a:pt x="0" y="0"/>
                </a:moveTo>
                <a:lnTo>
                  <a:pt x="6986" y="0"/>
                </a:lnTo>
                <a:lnTo>
                  <a:pt x="6986" y="966"/>
                </a:lnTo>
                <a:lnTo>
                  <a:pt x="0" y="966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3611880" y="1078920"/>
            <a:ext cx="2514600" cy="243179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ffffff"/>
                </a:solidFill>
                <a:latin typeface="Cambria"/>
                <a:ea typeface="Cambria"/>
              </a:rPr>
              <a:t>Source A  (κ = 5)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6172200" y="1078920"/>
            <a:ext cx="2514960" cy="243431"/>
          </a:xfrm>
          <a:custGeom>
            <a:avLst/>
            <a:gdLst/>
            <a:ahLst/>
            <a:rect l="0" t="0" r="r" b="b"/>
            <a:pathLst>
              <a:path w="6986" h="966">
                <a:moveTo>
                  <a:pt x="0" y="0"/>
                </a:moveTo>
                <a:lnTo>
                  <a:pt x="6986" y="0"/>
                </a:lnTo>
                <a:lnTo>
                  <a:pt x="6986" y="966"/>
                </a:lnTo>
                <a:lnTo>
                  <a:pt x="0" y="966"/>
                </a:lnTo>
                <a:lnTo>
                  <a:pt x="0" y="0"/>
                </a:lnTo>
                <a:close/>
              </a:path>
            </a:pathLst>
          </a:custGeom>
          <a:solidFill>
            <a:srgbClr val="0a7982"/>
          </a:solidFill>
          <a:ln w="12600">
            <a:solidFill>
              <a:srgbClr val="0a7982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6172200" y="1078920"/>
            <a:ext cx="2514600" cy="243179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ffffff"/>
                </a:solidFill>
                <a:latin typeface="Cambria"/>
                <a:ea typeface="Cambria"/>
              </a:rPr>
              <a:t>Source B  (κ = 80)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365760" y="1347804"/>
            <a:ext cx="3200760" cy="256283"/>
          </a:xfrm>
          <a:custGeom>
            <a:avLst/>
            <a:gdLst/>
            <a:ahLst/>
            <a:rect l="0" t="0" r="r" b="b"/>
            <a:pathLst>
              <a:path w="8891" h="1017">
                <a:moveTo>
                  <a:pt x="0" y="0"/>
                </a:moveTo>
                <a:lnTo>
                  <a:pt x="8891" y="0"/>
                </a:lnTo>
                <a:lnTo>
                  <a:pt x="8891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3611880" y="1347804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6172200" y="1347804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438840" y="1360656"/>
            <a:ext cx="3017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1a395b"/>
                </a:solidFill>
                <a:latin typeface="Calibri-Bold"/>
                <a:ea typeface="Calibri-Bold"/>
              </a:rPr>
              <a:t>μ (mean risk)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3639240" y="1360656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0.50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6199560" y="1360656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0.50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365760" y="1616688"/>
            <a:ext cx="3200760" cy="256283"/>
          </a:xfrm>
          <a:custGeom>
            <a:avLst/>
            <a:gdLst/>
            <a:ahLst/>
            <a:rect l="0" t="0" r="r" b="b"/>
            <a:pathLst>
              <a:path w="8891" h="1017">
                <a:moveTo>
                  <a:pt x="0" y="0"/>
                </a:moveTo>
                <a:lnTo>
                  <a:pt x="8891" y="0"/>
                </a:lnTo>
                <a:lnTo>
                  <a:pt x="8891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3611880" y="1616688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6172200" y="1616688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438840" y="1629540"/>
            <a:ext cx="3017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1a395b"/>
                </a:solidFill>
                <a:latin typeface="Calibri-Bold"/>
                <a:ea typeface="Calibri-Bold"/>
              </a:rPr>
              <a:t>κ (concentration)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3639240" y="1629540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6199560" y="1629540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80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365760" y="1885572"/>
            <a:ext cx="3200760" cy="256283"/>
          </a:xfrm>
          <a:custGeom>
            <a:avLst/>
            <a:gdLst/>
            <a:ahLst/>
            <a:rect l="0" t="0" r="r" b="b"/>
            <a:pathLst>
              <a:path w="8891" h="1017">
                <a:moveTo>
                  <a:pt x="0" y="0"/>
                </a:moveTo>
                <a:lnTo>
                  <a:pt x="8891" y="0"/>
                </a:lnTo>
                <a:lnTo>
                  <a:pt x="8891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3611880" y="1885572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6172200" y="1885572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438840" y="1898172"/>
            <a:ext cx="3017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1a395b"/>
                </a:solidFill>
                <a:latin typeface="Calibri-Bold"/>
                <a:ea typeface="Calibri-Bold"/>
              </a:rPr>
              <a:t>α  parameter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3639240" y="1898172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2.5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6199560" y="1898172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40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365760" y="2154204"/>
            <a:ext cx="3200760" cy="256283"/>
          </a:xfrm>
          <a:custGeom>
            <a:avLst/>
            <a:gdLst/>
            <a:ahLst/>
            <a:rect l="0" t="0" r="r" b="b"/>
            <a:pathLst>
              <a:path w="8891" h="1017">
                <a:moveTo>
                  <a:pt x="0" y="0"/>
                </a:moveTo>
                <a:lnTo>
                  <a:pt x="8891" y="0"/>
                </a:lnTo>
                <a:lnTo>
                  <a:pt x="8891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3611880" y="2154204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6172200" y="2154204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438840" y="2167056"/>
            <a:ext cx="3017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1a395b"/>
                </a:solidFill>
                <a:latin typeface="Calibri-Bold"/>
                <a:ea typeface="Calibri-Bold"/>
              </a:rPr>
              <a:t>β  parameter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3639240" y="2167056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2.5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6199560" y="2167056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40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365760" y="2423088"/>
            <a:ext cx="3200760" cy="256283"/>
          </a:xfrm>
          <a:custGeom>
            <a:avLst/>
            <a:gdLst/>
            <a:ahLst/>
            <a:rect l="0" t="0" r="r" b="b"/>
            <a:pathLst>
              <a:path w="8891" h="1017">
                <a:moveTo>
                  <a:pt x="0" y="0"/>
                </a:moveTo>
                <a:lnTo>
                  <a:pt x="8891" y="0"/>
                </a:lnTo>
                <a:lnTo>
                  <a:pt x="8891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3611880" y="2423088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6172200" y="2423088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438840" y="2435940"/>
            <a:ext cx="3017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1a395b"/>
                </a:solidFill>
                <a:latin typeface="Calibri-Bold"/>
                <a:ea typeface="Calibri-Bold"/>
              </a:rPr>
              <a:t>Variance  Var(p)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3639240" y="2435940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0.042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6199560" y="2435940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0.003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365760" y="2691972"/>
            <a:ext cx="3200760" cy="256283"/>
          </a:xfrm>
          <a:custGeom>
            <a:avLst/>
            <a:gdLst/>
            <a:ahLst/>
            <a:rect l="0" t="0" r="r" b="b"/>
            <a:pathLst>
              <a:path w="8891" h="1017">
                <a:moveTo>
                  <a:pt x="0" y="0"/>
                </a:moveTo>
                <a:lnTo>
                  <a:pt x="8891" y="0"/>
                </a:lnTo>
                <a:lnTo>
                  <a:pt x="8891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3611880" y="2691972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6172200" y="2691972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438840" y="2704824"/>
            <a:ext cx="3017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1a395b"/>
                </a:solidFill>
                <a:latin typeface="Calibri-Bold"/>
                <a:ea typeface="Calibri-Bold"/>
              </a:rPr>
              <a:t>90% credible interval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3639240" y="2704824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~8% – 92%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6199560" y="2704824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~44% – 56%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365760" y="2960856"/>
            <a:ext cx="3200760" cy="256283"/>
          </a:xfrm>
          <a:custGeom>
            <a:avLst/>
            <a:gdLst/>
            <a:ahLst/>
            <a:rect l="0" t="0" r="r" b="b"/>
            <a:pathLst>
              <a:path w="8891" h="1017">
                <a:moveTo>
                  <a:pt x="0" y="0"/>
                </a:moveTo>
                <a:lnTo>
                  <a:pt x="8891" y="0"/>
                </a:lnTo>
                <a:lnTo>
                  <a:pt x="8891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3611880" y="2960856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6172200" y="2960856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438840" y="2973708"/>
            <a:ext cx="3017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1a395b"/>
                </a:solidFill>
                <a:latin typeface="Calibri-Bold"/>
                <a:ea typeface="Calibri-Bold"/>
              </a:rPr>
              <a:t>Interpretation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3639240" y="2973708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Flat prior — almost uniform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6199560" y="2973708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0a7982"/>
                </a:solidFill>
                <a:latin typeface="Calibri-Bold"/>
                <a:ea typeface="Calibri-Bold"/>
              </a:rPr>
              <a:t>Tight prior — near certainty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365760" y="3229740"/>
            <a:ext cx="3200760" cy="256283"/>
          </a:xfrm>
          <a:custGeom>
            <a:avLst/>
            <a:gdLst/>
            <a:ahLst/>
            <a:rect l="0" t="0" r="r" b="b"/>
            <a:pathLst>
              <a:path w="8891" h="1017">
                <a:moveTo>
                  <a:pt x="0" y="0"/>
                </a:moveTo>
                <a:lnTo>
                  <a:pt x="8891" y="0"/>
                </a:lnTo>
                <a:lnTo>
                  <a:pt x="8891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3611880" y="3229740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6172200" y="3229740"/>
            <a:ext cx="2514960" cy="256283"/>
          </a:xfrm>
          <a:custGeom>
            <a:avLst/>
            <a:gdLst/>
            <a:ahLst/>
            <a:rect l="0" t="0" r="r" b="b"/>
            <a:pathLst>
              <a:path w="6986" h="1017">
                <a:moveTo>
                  <a:pt x="0" y="0"/>
                </a:moveTo>
                <a:lnTo>
                  <a:pt x="6986" y="0"/>
                </a:lnTo>
                <a:lnTo>
                  <a:pt x="6986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438840" y="3242340"/>
            <a:ext cx="3017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1a395b"/>
                </a:solidFill>
                <a:latin typeface="Calibri-Bold"/>
                <a:ea typeface="Calibri-Bold"/>
              </a:rPr>
              <a:t>Effect on certainty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3639240" y="3242340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Widens P5–P95 band significantly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6199560" y="3242340"/>
            <a:ext cx="2450520" cy="230327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0a7982"/>
                </a:solidFill>
                <a:latin typeface="Calibri-Bold"/>
                <a:ea typeface="Calibri-Bold"/>
              </a:rPr>
              <a:t>Keeps P5–P95 band narrow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365760" y="3447216"/>
            <a:ext cx="8412840" cy="256283"/>
          </a:xfrm>
          <a:custGeom>
            <a:avLst/>
            <a:gdLst/>
            <a:ahLst/>
            <a:rect l="0" t="0" r="r" b="b"/>
            <a:pathLst>
              <a:path w="23369" h="1017">
                <a:moveTo>
                  <a:pt x="0" y="0"/>
                </a:moveTo>
                <a:lnTo>
                  <a:pt x="23369" y="0"/>
                </a:lnTo>
                <a:lnTo>
                  <a:pt x="23369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502920" y="3447216"/>
            <a:ext cx="8229600" cy="256031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900" spc="-1" strike="noStrike">
                <a:solidFill>
                  <a:srgbClr val="1a395b"/>
                </a:solidFill>
                <a:latin typeface="Calibri-Italic"/>
                <a:ea typeface="Calibri-Italic"/>
              </a:rPr>
              <a:t>Key insight: Both sources have identical mean risk (50%) — but Source B contributes far more to model certainty because it has 16× lower variance.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8412480" y="4928760"/>
            <a:ext cx="54864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10 / 16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02" name="beta_dist_comparison" descr="Beta Distribution Comparison"/>
          <p:cNvPicPr/>
          <p:nvPr/>
        </p:nvPicPr>
        <p:blipFill>
          <a:blip r:embed="rId2"/>
          <a:stretch/>
        </p:blipFill>
        <p:spPr>
          <a:xfrm>
            <a:off x="914400" y="3820000"/>
            <a:ext cx="7315200" cy="9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"/>
          <p:cNvSpPr/>
          <p:nvPr/>
        </p:nvSpPr>
        <p:spPr>
          <a:xfrm>
            <a:off x="0" y="0"/>
            <a:ext cx="9144360" cy="686160"/>
          </a:xfrm>
          <a:custGeom>
            <a:avLst/>
            <a:gdLst/>
            <a:ahLst/>
            <a:rect l="0" t="0" r="r" b="b"/>
            <a:pathLst>
              <a:path w="25401" h="1906">
                <a:moveTo>
                  <a:pt x="0" y="0"/>
                </a:moveTo>
                <a:lnTo>
                  <a:pt x="25401" y="0"/>
                </a:lnTo>
                <a:lnTo>
                  <a:pt x="2540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Marginal Contribution — What Is Actually Driving the Risk?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6858000" y="0"/>
            <a:ext cx="2026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11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365760" y="768240"/>
            <a:ext cx="841248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1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Marginal contribution answers: how much would overall risk fall if we removed this source from the model?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365760" y="1078920"/>
            <a:ext cx="8412840" cy="695160"/>
          </a:xfrm>
          <a:custGeom>
            <a:avLst/>
            <a:gdLst/>
            <a:ahLst/>
            <a:rect l="0" t="0" r="r" b="b"/>
            <a:pathLst>
              <a:path w="23369" h="1931">
                <a:moveTo>
                  <a:pt x="0" y="0"/>
                </a:moveTo>
                <a:lnTo>
                  <a:pt x="23369" y="0"/>
                </a:lnTo>
                <a:lnTo>
                  <a:pt x="23369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9080">
            <a:solidFill>
              <a:srgbClr val="1c6ea4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502920" y="1152000"/>
            <a:ext cx="8138160" cy="36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900" spc="-1" strike="noStrike">
                <a:solidFill>
                  <a:srgbClr val="1a395b"/>
                </a:solidFill>
                <a:latin typeface="Cambria"/>
                <a:ea typeface="Cambria"/>
              </a:rPr>
              <a:t>Δᵢ = P(risk | all sources) − P(risk | all sources except i)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502920" y="1454040"/>
            <a:ext cx="813816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i="1" lang="en-US" sz="9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The marginal reduction in combined risk from removing source i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365760" y="1920240"/>
            <a:ext cx="841248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1a395b"/>
                </a:solidFill>
                <a:latin typeface="Cambria"/>
                <a:ea typeface="Cambria"/>
              </a:rPr>
              <a:t>Worked example — 3 active sources: p₁=0.40, p₂=0.60, p₃=0.70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365760" y="2267640"/>
            <a:ext cx="1463400" cy="869040"/>
          </a:xfrm>
          <a:custGeom>
            <a:avLst/>
            <a:gdLst/>
            <a:ahLst/>
            <a:rect l="0" t="0" r="r" b="b"/>
            <a:pathLst>
              <a:path w="4065" h="2414">
                <a:moveTo>
                  <a:pt x="0" y="0"/>
                </a:moveTo>
                <a:lnTo>
                  <a:pt x="4065" y="0"/>
                </a:lnTo>
                <a:lnTo>
                  <a:pt x="4065" y="2414"/>
                </a:lnTo>
                <a:lnTo>
                  <a:pt x="0" y="24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1a395b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365760" y="2267640"/>
            <a:ext cx="1463400" cy="50760"/>
          </a:xfrm>
          <a:custGeom>
            <a:avLst/>
            <a:gdLst/>
            <a:ahLst/>
            <a:rect l="0" t="0" r="r" b="b"/>
            <a:pathLst>
              <a:path w="4065" h="141">
                <a:moveTo>
                  <a:pt x="0" y="0"/>
                </a:moveTo>
                <a:lnTo>
                  <a:pt x="4065" y="0"/>
                </a:lnTo>
                <a:lnTo>
                  <a:pt x="4065" y="141"/>
                </a:lnTo>
                <a:lnTo>
                  <a:pt x="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-360" bIns="-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438840" y="2340720"/>
            <a:ext cx="1316880" cy="48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700" spc="-1" strike="noStrike">
                <a:solidFill>
                  <a:srgbClr val="1a395b"/>
                </a:solidFill>
                <a:latin typeface="Cambria"/>
                <a:ea typeface="Cambria"/>
              </a:rPr>
              <a:t>92.8%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438840" y="2788920"/>
            <a:ext cx="1316880" cy="29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79736f"/>
                </a:solidFill>
                <a:latin typeface="Calibri"/>
                <a:ea typeface="Calibri"/>
              </a:rPr>
              <a:t>Combined Risk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1920240" y="2267640"/>
            <a:ext cx="1463400" cy="869040"/>
          </a:xfrm>
          <a:custGeom>
            <a:avLst/>
            <a:gdLst/>
            <a:ahLst/>
            <a:rect l="0" t="0" r="r" b="b"/>
            <a:pathLst>
              <a:path w="4065" h="2414">
                <a:moveTo>
                  <a:pt x="0" y="0"/>
                </a:moveTo>
                <a:lnTo>
                  <a:pt x="4065" y="0"/>
                </a:lnTo>
                <a:lnTo>
                  <a:pt x="4065" y="2414"/>
                </a:lnTo>
                <a:lnTo>
                  <a:pt x="0" y="24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b84e1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1920240" y="2267640"/>
            <a:ext cx="1463400" cy="50760"/>
          </a:xfrm>
          <a:custGeom>
            <a:avLst/>
            <a:gdLst/>
            <a:ahLst/>
            <a:rect l="0" t="0" r="r" b="b"/>
            <a:pathLst>
              <a:path w="4065" h="141">
                <a:moveTo>
                  <a:pt x="0" y="0"/>
                </a:moveTo>
                <a:lnTo>
                  <a:pt x="4065" y="0"/>
                </a:lnTo>
                <a:lnTo>
                  <a:pt x="4065" y="141"/>
                </a:lnTo>
                <a:lnTo>
                  <a:pt x="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-360" bIns="-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1993320" y="2340720"/>
            <a:ext cx="1316880" cy="48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700" spc="-1" strike="noStrike">
                <a:solidFill>
                  <a:srgbClr val="b84e1d"/>
                </a:solidFill>
                <a:latin typeface="Cambria"/>
                <a:ea typeface="Cambria"/>
              </a:rPr>
              <a:t>+16.8%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993320" y="2788920"/>
            <a:ext cx="1316880" cy="29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79736f"/>
                </a:solidFill>
                <a:latin typeface="Calibri"/>
                <a:ea typeface="Calibri"/>
              </a:rPr>
              <a:t>Source 3 Δ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3474720" y="2267640"/>
            <a:ext cx="1463400" cy="869040"/>
          </a:xfrm>
          <a:custGeom>
            <a:avLst/>
            <a:gdLst/>
            <a:ahLst/>
            <a:rect l="0" t="0" r="r" b="b"/>
            <a:pathLst>
              <a:path w="4065" h="2414">
                <a:moveTo>
                  <a:pt x="0" y="0"/>
                </a:moveTo>
                <a:lnTo>
                  <a:pt x="4065" y="0"/>
                </a:lnTo>
                <a:lnTo>
                  <a:pt x="4065" y="2414"/>
                </a:lnTo>
                <a:lnTo>
                  <a:pt x="0" y="24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0a7982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3474720" y="2267640"/>
            <a:ext cx="1463400" cy="50760"/>
          </a:xfrm>
          <a:custGeom>
            <a:avLst/>
            <a:gdLst/>
            <a:ahLst/>
            <a:rect l="0" t="0" r="r" b="b"/>
            <a:pathLst>
              <a:path w="4065" h="141">
                <a:moveTo>
                  <a:pt x="0" y="0"/>
                </a:moveTo>
                <a:lnTo>
                  <a:pt x="4065" y="0"/>
                </a:lnTo>
                <a:lnTo>
                  <a:pt x="4065" y="141"/>
                </a:lnTo>
                <a:lnTo>
                  <a:pt x="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0a7982"/>
          </a:solidFill>
          <a:ln w="12600">
            <a:solidFill>
              <a:srgbClr val="0a7982"/>
            </a:solidFill>
            <a:round/>
          </a:ln>
        </p:spPr>
        <p:txBody>
          <a:bodyPr lIns="96120" rIns="96120" tIns="-360" bIns="-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3547800" y="2340720"/>
            <a:ext cx="1316880" cy="48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700" spc="-1" strike="noStrike">
                <a:solidFill>
                  <a:srgbClr val="0a7982"/>
                </a:solidFill>
                <a:latin typeface="Cambria"/>
                <a:ea typeface="Cambria"/>
              </a:rPr>
              <a:t>+10.8%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3547800" y="2788920"/>
            <a:ext cx="1316880" cy="29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79736f"/>
                </a:solidFill>
                <a:latin typeface="Calibri"/>
                <a:ea typeface="Calibri"/>
              </a:rPr>
              <a:t>Source 2 Δ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5029200" y="2267640"/>
            <a:ext cx="1463400" cy="869040"/>
          </a:xfrm>
          <a:custGeom>
            <a:avLst/>
            <a:gdLst/>
            <a:ahLst/>
            <a:rect l="0" t="0" r="r" b="b"/>
            <a:pathLst>
              <a:path w="4065" h="2414">
                <a:moveTo>
                  <a:pt x="0" y="0"/>
                </a:moveTo>
                <a:lnTo>
                  <a:pt x="4065" y="0"/>
                </a:lnTo>
                <a:lnTo>
                  <a:pt x="4065" y="2414"/>
                </a:lnTo>
                <a:lnTo>
                  <a:pt x="0" y="24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1c6ea4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5029200" y="2267640"/>
            <a:ext cx="1463400" cy="50760"/>
          </a:xfrm>
          <a:custGeom>
            <a:avLst/>
            <a:gdLst/>
            <a:ahLst/>
            <a:rect l="0" t="0" r="r" b="b"/>
            <a:pathLst>
              <a:path w="4065" h="141">
                <a:moveTo>
                  <a:pt x="0" y="0"/>
                </a:moveTo>
                <a:lnTo>
                  <a:pt x="4065" y="0"/>
                </a:lnTo>
                <a:lnTo>
                  <a:pt x="4065" y="141"/>
                </a:lnTo>
                <a:lnTo>
                  <a:pt x="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-360" bIns="-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5102280" y="2340720"/>
            <a:ext cx="1316880" cy="48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700" spc="-1" strike="noStrike">
                <a:solidFill>
                  <a:srgbClr val="1c6ea4"/>
                </a:solidFill>
                <a:latin typeface="Cambria"/>
                <a:ea typeface="Cambria"/>
              </a:rPr>
              <a:t>+4.8%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5102280" y="2788920"/>
            <a:ext cx="1316880" cy="29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79736f"/>
                </a:solidFill>
                <a:latin typeface="Calibri"/>
                <a:ea typeface="Calibri"/>
              </a:rPr>
              <a:t>Source 1 Δ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6583680" y="2267640"/>
            <a:ext cx="1463400" cy="869040"/>
          </a:xfrm>
          <a:custGeom>
            <a:avLst/>
            <a:gdLst/>
            <a:ahLst/>
            <a:rect l="0" t="0" r="r" b="b"/>
            <a:pathLst>
              <a:path w="4065" h="2414">
                <a:moveTo>
                  <a:pt x="0" y="0"/>
                </a:moveTo>
                <a:lnTo>
                  <a:pt x="4065" y="0"/>
                </a:lnTo>
                <a:lnTo>
                  <a:pt x="4065" y="2414"/>
                </a:lnTo>
                <a:lnTo>
                  <a:pt x="0" y="24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79736f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6583680" y="2267640"/>
            <a:ext cx="1463400" cy="50760"/>
          </a:xfrm>
          <a:custGeom>
            <a:avLst/>
            <a:gdLst/>
            <a:ahLst/>
            <a:rect l="0" t="0" r="r" b="b"/>
            <a:pathLst>
              <a:path w="4065" h="141">
                <a:moveTo>
                  <a:pt x="0" y="0"/>
                </a:moveTo>
                <a:lnTo>
                  <a:pt x="4065" y="0"/>
                </a:lnTo>
                <a:lnTo>
                  <a:pt x="4065" y="141"/>
                </a:lnTo>
                <a:lnTo>
                  <a:pt x="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79736f"/>
          </a:solidFill>
          <a:ln w="12600">
            <a:solidFill>
              <a:srgbClr val="79736f"/>
            </a:solidFill>
            <a:round/>
          </a:ln>
        </p:spPr>
        <p:txBody>
          <a:bodyPr lIns="96120" rIns="96120" tIns="-360" bIns="-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6656760" y="2340720"/>
            <a:ext cx="1316880" cy="48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700" spc="-1" strike="noStrike">
                <a:solidFill>
                  <a:srgbClr val="79736f"/>
                </a:solidFill>
                <a:latin typeface="Cambria"/>
                <a:ea typeface="Cambria"/>
              </a:rPr>
              <a:t>32.4%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6656760" y="2788920"/>
            <a:ext cx="1316880" cy="29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79736f"/>
                </a:solidFill>
                <a:latin typeface="Calibri"/>
                <a:ea typeface="Calibri"/>
              </a:rPr>
              <a:t>Sum of Δs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365760" y="3310200"/>
            <a:ext cx="201168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b84e1d"/>
                </a:solidFill>
                <a:latin typeface="Calibri-Bold"/>
                <a:ea typeface="Calibri-Bold"/>
              </a:rPr>
              <a:t>Source 3  (p=0.70)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2468880" y="3346560"/>
            <a:ext cx="5029560" cy="183240"/>
          </a:xfrm>
          <a:custGeom>
            <a:avLst/>
            <a:gdLst/>
            <a:ahLst/>
            <a:rect l="0" t="0" r="r" b="b"/>
            <a:pathLst>
              <a:path w="13971" h="509">
                <a:moveTo>
                  <a:pt x="0" y="0"/>
                </a:moveTo>
                <a:lnTo>
                  <a:pt x="13971" y="0"/>
                </a:lnTo>
                <a:lnTo>
                  <a:pt x="13971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ede9e3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2468880" y="3346560"/>
            <a:ext cx="5029560" cy="183240"/>
          </a:xfrm>
          <a:custGeom>
            <a:avLst/>
            <a:gdLst/>
            <a:ahLst/>
            <a:rect l="0" t="0" r="r" b="b"/>
            <a:pathLst>
              <a:path w="13971" h="509">
                <a:moveTo>
                  <a:pt x="0" y="0"/>
                </a:moveTo>
                <a:lnTo>
                  <a:pt x="13971" y="0"/>
                </a:lnTo>
                <a:lnTo>
                  <a:pt x="13971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7589520" y="3310200"/>
            <a:ext cx="10058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000" spc="-1" strike="noStrike">
                <a:solidFill>
                  <a:srgbClr val="b84e1d"/>
                </a:solidFill>
                <a:latin typeface="Calibri-Bold"/>
                <a:ea typeface="Calibri-Bold"/>
              </a:rPr>
              <a:t>+16.8%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365760" y="3785760"/>
            <a:ext cx="201168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a7982"/>
                </a:solidFill>
                <a:latin typeface="Calibri-Bold"/>
                <a:ea typeface="Calibri-Bold"/>
              </a:rPr>
              <a:t>Source 2  (p=0.60)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2468880" y="3822120"/>
            <a:ext cx="5029560" cy="183240"/>
          </a:xfrm>
          <a:custGeom>
            <a:avLst/>
            <a:gdLst/>
            <a:ahLst/>
            <a:rect l="0" t="0" r="r" b="b"/>
            <a:pathLst>
              <a:path w="13971" h="509">
                <a:moveTo>
                  <a:pt x="0" y="0"/>
                </a:moveTo>
                <a:lnTo>
                  <a:pt x="13971" y="0"/>
                </a:lnTo>
                <a:lnTo>
                  <a:pt x="13971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ede9e3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2468880" y="3822120"/>
            <a:ext cx="3233520" cy="183240"/>
          </a:xfrm>
          <a:custGeom>
            <a:avLst/>
            <a:gdLst/>
            <a:ahLst/>
            <a:rect l="0" t="0" r="r" b="b"/>
            <a:pathLst>
              <a:path w="8982" h="509">
                <a:moveTo>
                  <a:pt x="0" y="0"/>
                </a:moveTo>
                <a:lnTo>
                  <a:pt x="8982" y="0"/>
                </a:lnTo>
                <a:lnTo>
                  <a:pt x="8982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0a7982"/>
          </a:solidFill>
          <a:ln w="12600">
            <a:solidFill>
              <a:srgbClr val="0a7982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7589520" y="3785760"/>
            <a:ext cx="10058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000" spc="-1" strike="noStrike">
                <a:solidFill>
                  <a:srgbClr val="0a7982"/>
                </a:solidFill>
                <a:latin typeface="Calibri-Bold"/>
                <a:ea typeface="Calibri-Bold"/>
              </a:rPr>
              <a:t>+10.8%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365760" y="4260960"/>
            <a:ext cx="201168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1c6ea4"/>
                </a:solidFill>
                <a:latin typeface="Calibri-Bold"/>
                <a:ea typeface="Calibri-Bold"/>
              </a:rPr>
              <a:t>Source 1  (p=0.40)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2468880" y="4297680"/>
            <a:ext cx="5029560" cy="183240"/>
          </a:xfrm>
          <a:custGeom>
            <a:avLst/>
            <a:gdLst/>
            <a:ahLst/>
            <a:rect l="0" t="0" r="r" b="b"/>
            <a:pathLst>
              <a:path w="13971" h="509">
                <a:moveTo>
                  <a:pt x="0" y="0"/>
                </a:moveTo>
                <a:lnTo>
                  <a:pt x="13971" y="0"/>
                </a:lnTo>
                <a:lnTo>
                  <a:pt x="13971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ede9e3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2468880" y="4297680"/>
            <a:ext cx="1437120" cy="183240"/>
          </a:xfrm>
          <a:custGeom>
            <a:avLst/>
            <a:gdLst/>
            <a:ahLst/>
            <a:rect l="0" t="0" r="r" b="b"/>
            <a:pathLst>
              <a:path w="3992" h="509">
                <a:moveTo>
                  <a:pt x="0" y="0"/>
                </a:moveTo>
                <a:lnTo>
                  <a:pt x="3992" y="0"/>
                </a:lnTo>
                <a:lnTo>
                  <a:pt x="3992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7589520" y="4260960"/>
            <a:ext cx="10058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1000" spc="-1" strike="noStrike">
                <a:solidFill>
                  <a:srgbClr val="1c6ea4"/>
                </a:solidFill>
                <a:latin typeface="Calibri-Bold"/>
                <a:ea typeface="Calibri-Bold"/>
              </a:rPr>
              <a:t>+4.8%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8412480" y="4928760"/>
            <a:ext cx="54864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11 / 16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"/>
          <p:cNvSpPr/>
          <p:nvPr/>
        </p:nvSpPr>
        <p:spPr>
          <a:xfrm>
            <a:off x="0" y="0"/>
            <a:ext cx="9144360" cy="686160"/>
          </a:xfrm>
          <a:custGeom>
            <a:avLst/>
            <a:gdLst/>
            <a:ahLst/>
            <a:rect l="0" t="0" r="r" b="b"/>
            <a:pathLst>
              <a:path w="25401" h="1906">
                <a:moveTo>
                  <a:pt x="0" y="0"/>
                </a:moveTo>
                <a:lnTo>
                  <a:pt x="25401" y="0"/>
                </a:lnTo>
                <a:lnTo>
                  <a:pt x="2540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Certainty — How Confident Are We in the Risk Score?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6858000" y="0"/>
            <a:ext cx="2026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12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365760" y="768240"/>
            <a:ext cx="841248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1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A risk score without a certainty measure is incomplete. Certainty tells us how much to trust the estimate.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365760" y="1078920"/>
            <a:ext cx="8412840" cy="695160"/>
          </a:xfrm>
          <a:custGeom>
            <a:avLst/>
            <a:gdLst/>
            <a:ahLst/>
            <a:rect l="0" t="0" r="r" b="b"/>
            <a:pathLst>
              <a:path w="23369" h="1931">
                <a:moveTo>
                  <a:pt x="0" y="0"/>
                </a:moveTo>
                <a:lnTo>
                  <a:pt x="23369" y="0"/>
                </a:lnTo>
                <a:lnTo>
                  <a:pt x="23369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9080">
            <a:solidFill>
              <a:srgbClr val="1c6ea4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502920" y="1152000"/>
            <a:ext cx="8138160" cy="36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900" spc="-1" strike="noStrike">
                <a:solidFill>
                  <a:srgbClr val="1a395b"/>
                </a:solidFill>
                <a:latin typeface="Cambria"/>
                <a:ea typeface="Cambria"/>
              </a:rPr>
              <a:t>Certainty = 1 − ( P₉₅ − P₅ 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502920" y="1454040"/>
            <a:ext cx="813816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i="1" lang="en-US" sz="9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1 minus the width of the 90% credible interval of the combined posterior risk distribution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365760" y="1920240"/>
            <a:ext cx="2652120" cy="2789280"/>
          </a:xfrm>
          <a:custGeom>
            <a:avLst/>
            <a:gdLst/>
            <a:ahLst/>
            <a:rect l="0" t="0" r="r" b="b"/>
            <a:pathLst>
              <a:path w="7367" h="7748">
                <a:moveTo>
                  <a:pt x="0" y="0"/>
                </a:moveTo>
                <a:lnTo>
                  <a:pt x="7367" y="0"/>
                </a:lnTo>
                <a:lnTo>
                  <a:pt x="7367" y="7748"/>
                </a:lnTo>
                <a:lnTo>
                  <a:pt x="0" y="77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2d793c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365760" y="1920240"/>
            <a:ext cx="2652120" cy="402840"/>
          </a:xfrm>
          <a:custGeom>
            <a:avLst/>
            <a:gdLst/>
            <a:ahLst/>
            <a:rect l="0" t="0" r="r" b="b"/>
            <a:pathLst>
              <a:path w="7367" h="1119">
                <a:moveTo>
                  <a:pt x="0" y="0"/>
                </a:moveTo>
                <a:lnTo>
                  <a:pt x="7367" y="0"/>
                </a:lnTo>
                <a:lnTo>
                  <a:pt x="7367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2d793c"/>
          </a:solidFill>
          <a:ln w="12600">
            <a:solidFill>
              <a:srgbClr val="2d793c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457200" y="1920240"/>
            <a:ext cx="2468880" cy="40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ffffff"/>
                </a:solidFill>
                <a:latin typeface="Cambria"/>
                <a:ea typeface="Cambria"/>
              </a:rPr>
              <a:t>High Certainty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457200" y="2395800"/>
            <a:ext cx="2468880" cy="65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3800" spc="-1" strike="noStrike">
                <a:solidFill>
                  <a:srgbClr val="2d793c"/>
                </a:solidFill>
                <a:latin typeface="Cambria"/>
                <a:ea typeface="Cambria"/>
              </a:rPr>
              <a:t>92%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457200" y="3063240"/>
            <a:ext cx="246888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P5: 47%   P95: 55%   (κ=80)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475560" y="3337560"/>
            <a:ext cx="2432160" cy="12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Tight Beta distributions. P5–P95 span only 8 percentage points. Analyst is very confident in the risk score.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3200400" y="1920240"/>
            <a:ext cx="2652120" cy="2789280"/>
          </a:xfrm>
          <a:custGeom>
            <a:avLst/>
            <a:gdLst/>
            <a:ahLst/>
            <a:rect l="0" t="0" r="r" b="b"/>
            <a:pathLst>
              <a:path w="7367" h="7748">
                <a:moveTo>
                  <a:pt x="0" y="0"/>
                </a:moveTo>
                <a:lnTo>
                  <a:pt x="7367" y="0"/>
                </a:lnTo>
                <a:lnTo>
                  <a:pt x="7367" y="7748"/>
                </a:lnTo>
                <a:lnTo>
                  <a:pt x="0" y="77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b87115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3200400" y="1920240"/>
            <a:ext cx="2652120" cy="402840"/>
          </a:xfrm>
          <a:custGeom>
            <a:avLst/>
            <a:gdLst/>
            <a:ahLst/>
            <a:rect l="0" t="0" r="r" b="b"/>
            <a:pathLst>
              <a:path w="7367" h="1119">
                <a:moveTo>
                  <a:pt x="0" y="0"/>
                </a:moveTo>
                <a:lnTo>
                  <a:pt x="7367" y="0"/>
                </a:lnTo>
                <a:lnTo>
                  <a:pt x="7367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b87115"/>
          </a:solidFill>
          <a:ln w="12600">
            <a:solidFill>
              <a:srgbClr val="b8711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3291840" y="1920240"/>
            <a:ext cx="2468880" cy="40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ffffff"/>
                </a:solidFill>
                <a:latin typeface="Cambria"/>
                <a:ea typeface="Cambria"/>
              </a:rPr>
              <a:t>Moderate Certainty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3291840" y="2395800"/>
            <a:ext cx="2468880" cy="65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3800" spc="-1" strike="noStrike">
                <a:solidFill>
                  <a:srgbClr val="b87115"/>
                </a:solidFill>
                <a:latin typeface="Cambria"/>
                <a:ea typeface="Cambria"/>
              </a:rPr>
              <a:t>74%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3291840" y="3063240"/>
            <a:ext cx="246888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P5: 38%   P95: 64%   (κ=15)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3310200" y="3337560"/>
            <a:ext cx="2432160" cy="12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Broader priors. Meaningful uncertainty — risk could range from 38% to 64%. Score is directionally reliable.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6035040" y="1920240"/>
            <a:ext cx="2652120" cy="2789280"/>
          </a:xfrm>
          <a:custGeom>
            <a:avLst/>
            <a:gdLst/>
            <a:ahLst/>
            <a:rect l="0" t="0" r="r" b="b"/>
            <a:pathLst>
              <a:path w="7367" h="7748">
                <a:moveTo>
                  <a:pt x="0" y="0"/>
                </a:moveTo>
                <a:lnTo>
                  <a:pt x="7367" y="0"/>
                </a:lnTo>
                <a:lnTo>
                  <a:pt x="7367" y="7748"/>
                </a:lnTo>
                <a:lnTo>
                  <a:pt x="0" y="77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b84e1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6035040" y="1920240"/>
            <a:ext cx="2652120" cy="402840"/>
          </a:xfrm>
          <a:custGeom>
            <a:avLst/>
            <a:gdLst/>
            <a:ahLst/>
            <a:rect l="0" t="0" r="r" b="b"/>
            <a:pathLst>
              <a:path w="7367" h="1119">
                <a:moveTo>
                  <a:pt x="0" y="0"/>
                </a:moveTo>
                <a:lnTo>
                  <a:pt x="7367" y="0"/>
                </a:lnTo>
                <a:lnTo>
                  <a:pt x="7367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6126480" y="1920240"/>
            <a:ext cx="2468880" cy="40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ffffff"/>
                </a:solidFill>
                <a:latin typeface="Cambria"/>
                <a:ea typeface="Cambria"/>
              </a:rPr>
              <a:t>Low Certainty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6126480" y="2395800"/>
            <a:ext cx="2468880" cy="65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3800" spc="-1" strike="noStrike">
                <a:solidFill>
                  <a:srgbClr val="b84e1d"/>
                </a:solidFill>
                <a:latin typeface="Cambria"/>
                <a:ea typeface="Cambria"/>
              </a:rPr>
              <a:t>40%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6126480" y="3063240"/>
            <a:ext cx="246888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P5: 11%   P95: 71%   (κ=3)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6144840" y="3337560"/>
            <a:ext cx="2432160" cy="12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1d1d2d"/>
                </a:solidFill>
                <a:latin typeface="Calibri"/>
                <a:ea typeface="Calibri"/>
              </a:rPr>
              <a:t>Very flat priors. Risk could be almost anywhere 11%–71%. More high-quality evidence is needed before acting.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8412480" y="4928760"/>
            <a:ext cx="54864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12 / 16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"/>
          <p:cNvSpPr/>
          <p:nvPr/>
        </p:nvSpPr>
        <p:spPr>
          <a:xfrm>
            <a:off x="0" y="0"/>
            <a:ext cx="9144360" cy="686160"/>
          </a:xfrm>
          <a:custGeom>
            <a:avLst/>
            <a:gdLst/>
            <a:ahLst/>
            <a:rect l="0" t="0" r="r" b="b"/>
            <a:pathLst>
              <a:path w="25401" h="1906">
                <a:moveTo>
                  <a:pt x="0" y="0"/>
                </a:moveTo>
                <a:lnTo>
                  <a:pt x="25401" y="0"/>
                </a:lnTo>
                <a:lnTo>
                  <a:pt x="2540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Updating Beliefs — Bayesian Reasoning in Practice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6858000" y="0"/>
            <a:ext cx="2026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13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365760" y="768240"/>
            <a:ext cx="841248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1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The Noisy-OR model is designed to update. Every parameter change has a clear, traceable mathematical effect.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365760" y="1115640"/>
            <a:ext cx="4160880" cy="1646280"/>
          </a:xfrm>
          <a:custGeom>
            <a:avLst/>
            <a:gdLst/>
            <a:ahLst/>
            <a:rect l="0" t="0" r="r" b="b"/>
            <a:pathLst>
              <a:path w="11558" h="4573">
                <a:moveTo>
                  <a:pt x="0" y="0"/>
                </a:moveTo>
                <a:lnTo>
                  <a:pt x="11558" y="0"/>
                </a:lnTo>
                <a:lnTo>
                  <a:pt x="11558" y="4573"/>
                </a:lnTo>
                <a:lnTo>
                  <a:pt x="0" y="45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365760" y="1115640"/>
            <a:ext cx="4160880" cy="50760"/>
          </a:xfrm>
          <a:custGeom>
            <a:avLst/>
            <a:gdLst/>
            <a:ahLst/>
            <a:rect l="0" t="0" r="r" b="b"/>
            <a:pathLst>
              <a:path w="11558" h="141">
                <a:moveTo>
                  <a:pt x="0" y="0"/>
                </a:moveTo>
                <a:lnTo>
                  <a:pt x="11558" y="0"/>
                </a:lnTo>
                <a:lnTo>
                  <a:pt x="11558" y="141"/>
                </a:lnTo>
                <a:lnTo>
                  <a:pt x="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-360" bIns="-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3657600" y="1197720"/>
            <a:ext cx="750240" cy="256320"/>
          </a:xfrm>
          <a:custGeom>
            <a:avLst/>
            <a:gdLst/>
            <a:ahLst/>
            <a:rect l="0" t="0" r="r" b="b"/>
            <a:pathLst>
              <a:path w="2084" h="712">
                <a:moveTo>
                  <a:pt x="0" y="0"/>
                </a:moveTo>
                <a:lnTo>
                  <a:pt x="2084" y="0"/>
                </a:lnTo>
                <a:lnTo>
                  <a:pt x="2084" y="712"/>
                </a:lnTo>
                <a:lnTo>
                  <a:pt x="0" y="712"/>
                </a:lnTo>
                <a:lnTo>
                  <a:pt x="0" y="0"/>
                </a:ln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3657600" y="1197720"/>
            <a:ext cx="74988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+ SRC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493920" y="1207080"/>
            <a:ext cx="30632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b84e1d"/>
                </a:solidFill>
                <a:latin typeface="Cambria"/>
                <a:ea typeface="Cambria"/>
              </a:rPr>
              <a:t>Activate a new source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493920" y="1517760"/>
            <a:ext cx="3886200" cy="22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79736f"/>
                </a:solidFill>
                <a:latin typeface="Calibri"/>
                <a:ea typeface="Calibri"/>
              </a:rPr>
              <a:t>Before: 2 sources active    P(risk) = 52%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493920" y="1719000"/>
            <a:ext cx="388620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b84e1d"/>
                </a:solidFill>
                <a:latin typeface="Calibri-Bold"/>
                <a:ea typeface="Calibri-Bold"/>
              </a:rPr>
              <a:t>After:  3rd source added    P(risk) = 71%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493920" y="1974960"/>
            <a:ext cx="3886200" cy="69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900" spc="-1" strike="noStrike">
                <a:solidFill>
                  <a:srgbClr val="1d1d2d"/>
                </a:solidFill>
                <a:latin typeface="Calibri-Italic"/>
                <a:ea typeface="Calibri-Italic"/>
              </a:rPr>
              <a:t>A new independent detection pathway is confirmed. Combined risk rises because the new source covers cases the others miss.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4709160" y="1115640"/>
            <a:ext cx="4160880" cy="1646280"/>
          </a:xfrm>
          <a:custGeom>
            <a:avLst/>
            <a:gdLst/>
            <a:ahLst/>
            <a:rect l="0" t="0" r="r" b="b"/>
            <a:pathLst>
              <a:path w="11558" h="4573">
                <a:moveTo>
                  <a:pt x="0" y="0"/>
                </a:moveTo>
                <a:lnTo>
                  <a:pt x="11558" y="0"/>
                </a:lnTo>
                <a:lnTo>
                  <a:pt x="11558" y="4573"/>
                </a:lnTo>
                <a:lnTo>
                  <a:pt x="0" y="45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a7982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4709160" y="1115640"/>
            <a:ext cx="4160880" cy="50760"/>
          </a:xfrm>
          <a:custGeom>
            <a:avLst/>
            <a:gdLst/>
            <a:ahLst/>
            <a:rect l="0" t="0" r="r" b="b"/>
            <a:pathLst>
              <a:path w="11558" h="141">
                <a:moveTo>
                  <a:pt x="0" y="0"/>
                </a:moveTo>
                <a:lnTo>
                  <a:pt x="11558" y="0"/>
                </a:lnTo>
                <a:lnTo>
                  <a:pt x="11558" y="141"/>
                </a:lnTo>
                <a:lnTo>
                  <a:pt x="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0a7982"/>
          </a:solidFill>
          <a:ln w="12600">
            <a:solidFill>
              <a:srgbClr val="0a7982"/>
            </a:solidFill>
            <a:round/>
          </a:ln>
        </p:spPr>
        <p:txBody>
          <a:bodyPr lIns="96120" rIns="96120" tIns="-360" bIns="-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8001000" y="1197720"/>
            <a:ext cx="750240" cy="256320"/>
          </a:xfrm>
          <a:custGeom>
            <a:avLst/>
            <a:gdLst/>
            <a:ahLst/>
            <a:rect l="0" t="0" r="r" b="b"/>
            <a:pathLst>
              <a:path w="2084" h="712">
                <a:moveTo>
                  <a:pt x="0" y="0"/>
                </a:moveTo>
                <a:lnTo>
                  <a:pt x="2084" y="0"/>
                </a:lnTo>
                <a:lnTo>
                  <a:pt x="2084" y="712"/>
                </a:lnTo>
                <a:lnTo>
                  <a:pt x="0" y="712"/>
                </a:lnTo>
                <a:lnTo>
                  <a:pt x="0" y="0"/>
                </a:lnTo>
                <a:close/>
              </a:path>
            </a:pathLst>
          </a:custGeom>
          <a:solidFill>
            <a:srgbClr val="0a7982"/>
          </a:solidFill>
          <a:ln w="12600">
            <a:solidFill>
              <a:srgbClr val="0a7982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8001000" y="1197720"/>
            <a:ext cx="74988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 xml:space="preserve">↑ </a:t>
            </a:r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κ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4837320" y="1207080"/>
            <a:ext cx="30632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a7982"/>
                </a:solidFill>
                <a:latin typeface="Cambria"/>
                <a:ea typeface="Cambria"/>
              </a:rPr>
              <a:t>Raise confidence in a source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4837320" y="1517760"/>
            <a:ext cx="3886200" cy="22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79736f"/>
                </a:solidFill>
                <a:latin typeface="Calibri"/>
                <a:ea typeface="Calibri"/>
              </a:rPr>
              <a:t>Before: Source A: κ=8      Certainty: 61%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4837320" y="1719000"/>
            <a:ext cx="388620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0a7982"/>
                </a:solidFill>
                <a:latin typeface="Calibri-Bold"/>
                <a:ea typeface="Calibri-Bold"/>
              </a:rPr>
              <a:t>After:  Source A: κ=60     Certainty: 87%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4837320" y="1974960"/>
            <a:ext cx="3886200" cy="69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900" spc="-1" strike="noStrike">
                <a:solidFill>
                  <a:srgbClr val="1d1d2d"/>
                </a:solidFill>
                <a:latin typeface="Calibri-Italic"/>
                <a:ea typeface="Calibri-Italic"/>
              </a:rPr>
              <a:t>We now believe our μ estimate more strongly. Mean risk barely changes, but the credible interval narrows — certainty jumps.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365760" y="2898720"/>
            <a:ext cx="4160880" cy="1646280"/>
          </a:xfrm>
          <a:custGeom>
            <a:avLst/>
            <a:gdLst/>
            <a:ahLst/>
            <a:rect l="0" t="0" r="r" b="b"/>
            <a:pathLst>
              <a:path w="11558" h="4573">
                <a:moveTo>
                  <a:pt x="0" y="0"/>
                </a:moveTo>
                <a:lnTo>
                  <a:pt x="11558" y="0"/>
                </a:lnTo>
                <a:lnTo>
                  <a:pt x="11558" y="4573"/>
                </a:lnTo>
                <a:lnTo>
                  <a:pt x="0" y="45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365760" y="2898720"/>
            <a:ext cx="4160880" cy="50760"/>
          </a:xfrm>
          <a:custGeom>
            <a:avLst/>
            <a:gdLst/>
            <a:ahLst/>
            <a:rect l="0" t="0" r="r" b="b"/>
            <a:pathLst>
              <a:path w="11558" h="141">
                <a:moveTo>
                  <a:pt x="0" y="0"/>
                </a:moveTo>
                <a:lnTo>
                  <a:pt x="11558" y="0"/>
                </a:lnTo>
                <a:lnTo>
                  <a:pt x="11558" y="141"/>
                </a:lnTo>
                <a:lnTo>
                  <a:pt x="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-360" bIns="-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3657600" y="2980800"/>
            <a:ext cx="750240" cy="256320"/>
          </a:xfrm>
          <a:custGeom>
            <a:avLst/>
            <a:gdLst/>
            <a:ahLst/>
            <a:rect l="0" t="0" r="r" b="b"/>
            <a:pathLst>
              <a:path w="2084" h="712">
                <a:moveTo>
                  <a:pt x="0" y="0"/>
                </a:moveTo>
                <a:lnTo>
                  <a:pt x="2084" y="0"/>
                </a:lnTo>
                <a:lnTo>
                  <a:pt x="2084" y="712"/>
                </a:lnTo>
                <a:lnTo>
                  <a:pt x="0" y="712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3657600" y="2980800"/>
            <a:ext cx="74988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 xml:space="preserve">↑ </a:t>
            </a:r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μ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493920" y="2990160"/>
            <a:ext cx="30632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1c6ea4"/>
                </a:solidFill>
                <a:latin typeface="Cambria"/>
                <a:ea typeface="Cambria"/>
              </a:rPr>
              <a:t>Revise belief upward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493920" y="3300840"/>
            <a:ext cx="3886200" cy="22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79736f"/>
                </a:solidFill>
                <a:latin typeface="Calibri"/>
                <a:ea typeface="Calibri"/>
              </a:rPr>
              <a:t>Before: Source B: μ=0.30   P(risk) = 44%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493920" y="3502080"/>
            <a:ext cx="388620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1c6ea4"/>
                </a:solidFill>
                <a:latin typeface="Calibri-Bold"/>
                <a:ea typeface="Calibri-Bold"/>
              </a:rPr>
              <a:t>After:  Source B: μ=0.55   P(risk) = 66%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493920" y="3758040"/>
            <a:ext cx="3886200" cy="69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900" spc="-1" strike="noStrike">
                <a:solidFill>
                  <a:srgbClr val="1d1d2d"/>
                </a:solidFill>
                <a:latin typeface="Calibri-Italic"/>
                <a:ea typeface="Calibri-Italic"/>
              </a:rPr>
              <a:t>New intelligence suggests this source fires more often. Mean risk shifts accordingly. The posterior updates immediately.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4709160" y="2898720"/>
            <a:ext cx="4160880" cy="1646280"/>
          </a:xfrm>
          <a:custGeom>
            <a:avLst/>
            <a:gdLst/>
            <a:ahLst/>
            <a:rect l="0" t="0" r="r" b="b"/>
            <a:pathLst>
              <a:path w="11558" h="4573">
                <a:moveTo>
                  <a:pt x="0" y="0"/>
                </a:moveTo>
                <a:lnTo>
                  <a:pt x="11558" y="0"/>
                </a:lnTo>
                <a:lnTo>
                  <a:pt x="11558" y="4573"/>
                </a:lnTo>
                <a:lnTo>
                  <a:pt x="0" y="45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b8711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4709160" y="2898720"/>
            <a:ext cx="4160880" cy="50760"/>
          </a:xfrm>
          <a:custGeom>
            <a:avLst/>
            <a:gdLst/>
            <a:ahLst/>
            <a:rect l="0" t="0" r="r" b="b"/>
            <a:pathLst>
              <a:path w="11558" h="141">
                <a:moveTo>
                  <a:pt x="0" y="0"/>
                </a:moveTo>
                <a:lnTo>
                  <a:pt x="11558" y="0"/>
                </a:lnTo>
                <a:lnTo>
                  <a:pt x="11558" y="141"/>
                </a:lnTo>
                <a:lnTo>
                  <a:pt x="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b87115"/>
          </a:solidFill>
          <a:ln w="12600">
            <a:solidFill>
              <a:srgbClr val="b87115"/>
            </a:solidFill>
            <a:round/>
          </a:ln>
        </p:spPr>
        <p:txBody>
          <a:bodyPr lIns="96120" rIns="96120" tIns="-360" bIns="-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8001000" y="2980800"/>
            <a:ext cx="750240" cy="256320"/>
          </a:xfrm>
          <a:custGeom>
            <a:avLst/>
            <a:gdLst/>
            <a:ahLst/>
            <a:rect l="0" t="0" r="r" b="b"/>
            <a:pathLst>
              <a:path w="2084" h="712">
                <a:moveTo>
                  <a:pt x="0" y="0"/>
                </a:moveTo>
                <a:lnTo>
                  <a:pt x="2084" y="0"/>
                </a:lnTo>
                <a:lnTo>
                  <a:pt x="2084" y="712"/>
                </a:lnTo>
                <a:lnTo>
                  <a:pt x="0" y="712"/>
                </a:lnTo>
                <a:lnTo>
                  <a:pt x="0" y="0"/>
                </a:lnTo>
                <a:close/>
              </a:path>
            </a:pathLst>
          </a:custGeom>
          <a:solidFill>
            <a:srgbClr val="b87115"/>
          </a:solidFill>
          <a:ln w="12600">
            <a:solidFill>
              <a:srgbClr val="b8711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8001000" y="2980800"/>
            <a:ext cx="74988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 xml:space="preserve">− </a:t>
            </a:r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SRC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4837320" y="2990160"/>
            <a:ext cx="30632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b87115"/>
                </a:solidFill>
                <a:latin typeface="Cambria"/>
                <a:ea typeface="Cambria"/>
              </a:rPr>
              <a:t>Deactivate a ruled-out source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4837320" y="3300840"/>
            <a:ext cx="3886200" cy="22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79736f"/>
                </a:solidFill>
                <a:latin typeface="Calibri"/>
                <a:ea typeface="Calibri"/>
              </a:rPr>
              <a:t>Before: 3 sources active    P(risk) = 71%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4837320" y="3502080"/>
            <a:ext cx="388620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b87115"/>
                </a:solidFill>
                <a:latin typeface="Calibri-Bold"/>
                <a:ea typeface="Calibri-Bold"/>
              </a:rPr>
              <a:t>After:  Source removed      P(risk) = 52%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4837320" y="3758040"/>
            <a:ext cx="3886200" cy="69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900" spc="-1" strike="noStrike">
                <a:solidFill>
                  <a:srgbClr val="1d1d2d"/>
                </a:solidFill>
                <a:latin typeface="Calibri-Italic"/>
                <a:ea typeface="Calibri-Italic"/>
              </a:rPr>
              <a:t>Investigation confirms this source is not active. Risk falls back to baseline — the model is fully reversible and consistent.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8412480" y="4928760"/>
            <a:ext cx="54864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13 / 16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"/>
          <p:cNvSpPr/>
          <p:nvPr/>
        </p:nvSpPr>
        <p:spPr>
          <a:xfrm>
            <a:off x="0" y="0"/>
            <a:ext cx="9144360" cy="686160"/>
          </a:xfrm>
          <a:custGeom>
            <a:avLst/>
            <a:gdLst/>
            <a:ahLst/>
            <a:rect l="0" t="0" r="r" b="b"/>
            <a:pathLst>
              <a:path w="25401" h="1906">
                <a:moveTo>
                  <a:pt x="0" y="0"/>
                </a:moveTo>
                <a:lnTo>
                  <a:pt x="25401" y="0"/>
                </a:lnTo>
                <a:lnTo>
                  <a:pt x="2540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Configuring the Model per Agency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6858000" y="0"/>
            <a:ext cx="2026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14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365760" y="768240"/>
            <a:ext cx="8412480" cy="41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1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The same underlying sources serve every agency. Only the parameters change — giving each agency a model calibrated to their specific risk thresholds and operating context.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365760" y="1170360"/>
            <a:ext cx="2286360" cy="3402000"/>
          </a:xfrm>
          <a:custGeom>
            <a:avLst/>
            <a:gdLst/>
            <a:ahLst/>
            <a:rect l="0" t="0" r="r" b="b"/>
            <a:pathLst>
              <a:path w="6351" h="9450">
                <a:moveTo>
                  <a:pt x="0" y="0"/>
                </a:moveTo>
                <a:lnTo>
                  <a:pt x="6351" y="0"/>
                </a:lnTo>
                <a:lnTo>
                  <a:pt x="6351" y="9450"/>
                </a:lnTo>
                <a:lnTo>
                  <a:pt x="0" y="9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365760" y="1170360"/>
            <a:ext cx="2286360" cy="366120"/>
          </a:xfrm>
          <a:custGeom>
            <a:avLst/>
            <a:gdLst/>
            <a:ahLst/>
            <a:rect l="0" t="0" r="r" b="b"/>
            <a:pathLst>
              <a:path w="6351" h="1017">
                <a:moveTo>
                  <a:pt x="0" y="0"/>
                </a:moveTo>
                <a:lnTo>
                  <a:pt x="6351" y="0"/>
                </a:lnTo>
                <a:lnTo>
                  <a:pt x="6351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365760" y="1170360"/>
            <a:ext cx="228600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ffffff"/>
                </a:solidFill>
                <a:latin typeface="Cambria"/>
                <a:ea typeface="Cambria"/>
              </a:rPr>
              <a:t>SHARED SOURCES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475560" y="1645920"/>
            <a:ext cx="2066760" cy="402840"/>
          </a:xfrm>
          <a:custGeom>
            <a:avLst/>
            <a:gdLst/>
            <a:ahLst/>
            <a:rect l="0" t="0" r="r" b="b"/>
            <a:pathLst>
              <a:path w="5741" h="1119">
                <a:moveTo>
                  <a:pt x="0" y="0"/>
                </a:moveTo>
                <a:lnTo>
                  <a:pt x="5741" y="0"/>
                </a:lnTo>
                <a:lnTo>
                  <a:pt x="5741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511920" y="171900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511920" y="1719000"/>
            <a:ext cx="255960" cy="32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800" spc="-1" strike="noStrike">
                <a:solidFill>
                  <a:srgbClr val="ffffff"/>
                </a:solidFill>
                <a:latin typeface="Calibri-Bold"/>
                <a:ea typeface="Calibri-Bold"/>
              </a:rPr>
              <a:t>S1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822960" y="1700640"/>
            <a:ext cx="162756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Source 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475560" y="2139840"/>
            <a:ext cx="2066760" cy="402840"/>
          </a:xfrm>
          <a:custGeom>
            <a:avLst/>
            <a:gdLst/>
            <a:ahLst/>
            <a:rect l="0" t="0" r="r" b="b"/>
            <a:pathLst>
              <a:path w="5741" h="1119">
                <a:moveTo>
                  <a:pt x="0" y="0"/>
                </a:moveTo>
                <a:lnTo>
                  <a:pt x="5741" y="0"/>
                </a:lnTo>
                <a:lnTo>
                  <a:pt x="5741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0a7982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511920" y="221292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0a7982"/>
          </a:solidFill>
          <a:ln w="12600">
            <a:solidFill>
              <a:srgbClr val="0a7982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511920" y="2212920"/>
            <a:ext cx="255960" cy="32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800" spc="-1" strike="noStrike">
                <a:solidFill>
                  <a:srgbClr val="ffffff"/>
                </a:solidFill>
                <a:latin typeface="Calibri-Bold"/>
                <a:ea typeface="Calibri-Bold"/>
              </a:rPr>
              <a:t>S2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822960" y="2194560"/>
            <a:ext cx="162756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Source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475560" y="2633400"/>
            <a:ext cx="2066760" cy="402840"/>
          </a:xfrm>
          <a:custGeom>
            <a:avLst/>
            <a:gdLst/>
            <a:ahLst/>
            <a:rect l="0" t="0" r="r" b="b"/>
            <a:pathLst>
              <a:path w="5741" h="1119">
                <a:moveTo>
                  <a:pt x="0" y="0"/>
                </a:moveTo>
                <a:lnTo>
                  <a:pt x="5741" y="0"/>
                </a:lnTo>
                <a:lnTo>
                  <a:pt x="5741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511920" y="270648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511920" y="2706480"/>
            <a:ext cx="255960" cy="32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800" spc="-1" strike="noStrike">
                <a:solidFill>
                  <a:srgbClr val="ffffff"/>
                </a:solidFill>
                <a:latin typeface="Calibri-Bold"/>
                <a:ea typeface="Calibri-Bold"/>
              </a:rPr>
              <a:t>S3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822960" y="2688480"/>
            <a:ext cx="162756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Source 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475560" y="3127320"/>
            <a:ext cx="2066760" cy="402840"/>
          </a:xfrm>
          <a:custGeom>
            <a:avLst/>
            <a:gdLst/>
            <a:ahLst/>
            <a:rect l="0" t="0" r="r" b="b"/>
            <a:pathLst>
              <a:path w="5741" h="1119">
                <a:moveTo>
                  <a:pt x="0" y="0"/>
                </a:moveTo>
                <a:lnTo>
                  <a:pt x="5741" y="0"/>
                </a:lnTo>
                <a:lnTo>
                  <a:pt x="5741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b8711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511920" y="320040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b87115"/>
          </a:solidFill>
          <a:ln w="12600">
            <a:solidFill>
              <a:srgbClr val="b8711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511920" y="3200400"/>
            <a:ext cx="255960" cy="32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800" spc="-1" strike="noStrike">
                <a:solidFill>
                  <a:srgbClr val="ffffff"/>
                </a:solidFill>
                <a:latin typeface="Calibri-Bold"/>
                <a:ea typeface="Calibri-Bold"/>
              </a:rPr>
              <a:t>S4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822960" y="3182040"/>
            <a:ext cx="162756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Source 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475560" y="3620880"/>
            <a:ext cx="2066760" cy="402840"/>
          </a:xfrm>
          <a:custGeom>
            <a:avLst/>
            <a:gdLst/>
            <a:ahLst/>
            <a:rect l="0" t="0" r="r" b="b"/>
            <a:pathLst>
              <a:path w="5741" h="1119">
                <a:moveTo>
                  <a:pt x="0" y="0"/>
                </a:moveTo>
                <a:lnTo>
                  <a:pt x="5741" y="0"/>
                </a:lnTo>
                <a:lnTo>
                  <a:pt x="5741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f0ede8"/>
          </a:solidFill>
          <a:ln w="12600">
            <a:solidFill>
              <a:srgbClr val="2d793c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511920" y="369432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2d793c"/>
          </a:solidFill>
          <a:ln w="12600">
            <a:solidFill>
              <a:srgbClr val="2d793c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511920" y="3694320"/>
            <a:ext cx="255960" cy="32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800" spc="-1" strike="noStrike">
                <a:solidFill>
                  <a:srgbClr val="ffffff"/>
                </a:solidFill>
                <a:latin typeface="Calibri-Bold"/>
                <a:ea typeface="Calibri-Bold"/>
              </a:rPr>
              <a:t>S5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822960" y="3675960"/>
            <a:ext cx="162756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Source 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2651760" y="2871360"/>
            <a:ext cx="475200" cy="0"/>
          </a:xfrm>
          <a:prstGeom prst="line">
            <a:avLst/>
          </a:prstGeom>
          <a:ln w="1908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2633400" y="2944440"/>
            <a:ext cx="5302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i="1" lang="en-US" sz="6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per-agency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i="1" lang="en-US" sz="6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configuration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3218760" y="1170360"/>
            <a:ext cx="2560680" cy="3402000"/>
          </a:xfrm>
          <a:custGeom>
            <a:avLst/>
            <a:gdLst/>
            <a:ahLst/>
            <a:rect l="0" t="0" r="r" b="b"/>
            <a:pathLst>
              <a:path w="7113" h="9450">
                <a:moveTo>
                  <a:pt x="0" y="0"/>
                </a:moveTo>
                <a:lnTo>
                  <a:pt x="7113" y="0"/>
                </a:lnTo>
                <a:lnTo>
                  <a:pt x="7113" y="9450"/>
                </a:lnTo>
                <a:lnTo>
                  <a:pt x="0" y="9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1c6ea4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3218760" y="1170360"/>
            <a:ext cx="2560680" cy="366120"/>
          </a:xfrm>
          <a:custGeom>
            <a:avLst/>
            <a:gdLst/>
            <a:ahLst/>
            <a:rect l="0" t="0" r="r" b="b"/>
            <a:pathLst>
              <a:path w="7113" h="1017">
                <a:moveTo>
                  <a:pt x="0" y="0"/>
                </a:moveTo>
                <a:lnTo>
                  <a:pt x="7113" y="0"/>
                </a:lnTo>
                <a:lnTo>
                  <a:pt x="7113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3218760" y="1170360"/>
            <a:ext cx="256032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ffffff"/>
                </a:solidFill>
                <a:latin typeface="Cambria"/>
                <a:ea typeface="Cambria"/>
              </a:rPr>
              <a:t>AGENCY 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3310200" y="1645920"/>
            <a:ext cx="2377800" cy="402840"/>
          </a:xfrm>
          <a:custGeom>
            <a:avLst/>
            <a:gdLst/>
            <a:ahLst/>
            <a:rect l="0" t="0" r="r" b="b"/>
            <a:pathLst>
              <a:path w="6605" h="1119">
                <a:moveTo>
                  <a:pt x="0" y="0"/>
                </a:moveTo>
                <a:lnTo>
                  <a:pt x="6605" y="0"/>
                </a:lnTo>
                <a:lnTo>
                  <a:pt x="6605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3346560" y="1682640"/>
            <a:ext cx="27432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1c6ea4"/>
                </a:solidFill>
                <a:latin typeface="Calibri-Bold"/>
                <a:ea typeface="Calibri-Bold"/>
              </a:rPr>
              <a:t>S1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3657600" y="1664280"/>
            <a:ext cx="118872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1c6ea4"/>
                </a:solidFill>
                <a:latin typeface="Calibri-Bold"/>
                <a:ea typeface="Calibri-Bold"/>
              </a:rPr>
              <a:t>μ=0.70  κ=80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3657600" y="1847160"/>
            <a:ext cx="1956960" cy="19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736f"/>
                </a:solidFill>
                <a:latin typeface="Calibri"/>
                <a:ea typeface="Calibri"/>
              </a:rPr>
              <a:t>Primary signal — high μ, very certain (κ=80)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3310200" y="2139840"/>
            <a:ext cx="2377800" cy="402840"/>
          </a:xfrm>
          <a:custGeom>
            <a:avLst/>
            <a:gdLst/>
            <a:ahLst/>
            <a:rect l="0" t="0" r="r" b="b"/>
            <a:pathLst>
              <a:path w="6605" h="1119">
                <a:moveTo>
                  <a:pt x="0" y="0"/>
                </a:moveTo>
                <a:lnTo>
                  <a:pt x="6605" y="0"/>
                </a:lnTo>
                <a:lnTo>
                  <a:pt x="6605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3346560" y="2176200"/>
            <a:ext cx="27432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1c6ea4"/>
                </a:solidFill>
                <a:latin typeface="Calibri-Bold"/>
                <a:ea typeface="Calibri-Bold"/>
              </a:rPr>
              <a:t>S2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3657600" y="2157840"/>
            <a:ext cx="118872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1c6ea4"/>
                </a:solidFill>
                <a:latin typeface="Calibri-Bold"/>
                <a:ea typeface="Calibri-Bold"/>
              </a:rPr>
              <a:t>μ=0.20  κ=10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3657600" y="2340720"/>
            <a:ext cx="1956960" cy="19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736f"/>
                </a:solidFill>
                <a:latin typeface="Calibri"/>
                <a:ea typeface="Calibri"/>
              </a:rPr>
              <a:t>Rarely relevant for this agency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3310200" y="2633400"/>
            <a:ext cx="2377800" cy="402840"/>
          </a:xfrm>
          <a:custGeom>
            <a:avLst/>
            <a:gdLst/>
            <a:ahLst/>
            <a:rect l="0" t="0" r="r" b="b"/>
            <a:pathLst>
              <a:path w="6605" h="1119">
                <a:moveTo>
                  <a:pt x="0" y="0"/>
                </a:moveTo>
                <a:lnTo>
                  <a:pt x="6605" y="0"/>
                </a:lnTo>
                <a:lnTo>
                  <a:pt x="6605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3346560" y="2670120"/>
            <a:ext cx="27432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1c6ea4"/>
                </a:solidFill>
                <a:latin typeface="Calibri-Bold"/>
                <a:ea typeface="Calibri-Bold"/>
              </a:rPr>
              <a:t>S3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3657600" y="2651760"/>
            <a:ext cx="118872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1c6ea4"/>
                </a:solidFill>
                <a:latin typeface="Calibri-Bold"/>
                <a:ea typeface="Calibri-Bold"/>
              </a:rPr>
              <a:t>μ=0.50  κ=50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3657600" y="2834640"/>
            <a:ext cx="1956960" cy="19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736f"/>
                </a:solidFill>
                <a:latin typeface="Calibri"/>
                <a:ea typeface="Calibri"/>
              </a:rPr>
              <a:t>Strong secondary signal, confident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3310200" y="3127320"/>
            <a:ext cx="2377800" cy="402840"/>
          </a:xfrm>
          <a:custGeom>
            <a:avLst/>
            <a:gdLst/>
            <a:ahLst/>
            <a:rect l="0" t="0" r="r" b="b"/>
            <a:pathLst>
              <a:path w="6605" h="1119">
                <a:moveTo>
                  <a:pt x="0" y="0"/>
                </a:moveTo>
                <a:lnTo>
                  <a:pt x="6605" y="0"/>
                </a:lnTo>
                <a:lnTo>
                  <a:pt x="6605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3346560" y="3163680"/>
            <a:ext cx="27432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1c6ea4"/>
                </a:solidFill>
                <a:latin typeface="Calibri-Bold"/>
                <a:ea typeface="Calibri-Bold"/>
              </a:rPr>
              <a:t>S4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3657600" y="3145680"/>
            <a:ext cx="118872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1c6ea4"/>
                </a:solidFill>
                <a:latin typeface="Calibri-Bold"/>
                <a:ea typeface="Calibri-Bold"/>
              </a:rPr>
              <a:t>μ=0.15  κ=8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3657600" y="3328560"/>
            <a:ext cx="1956960" cy="19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736f"/>
                </a:solidFill>
                <a:latin typeface="Calibri"/>
                <a:ea typeface="Calibri"/>
              </a:rPr>
              <a:t>Near-irrelevant for this agency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3310200" y="3620880"/>
            <a:ext cx="2377800" cy="402840"/>
          </a:xfrm>
          <a:custGeom>
            <a:avLst/>
            <a:gdLst/>
            <a:ahLst/>
            <a:rect l="0" t="0" r="r" b="b"/>
            <a:pathLst>
              <a:path w="6605" h="1119">
                <a:moveTo>
                  <a:pt x="0" y="0"/>
                </a:moveTo>
                <a:lnTo>
                  <a:pt x="6605" y="0"/>
                </a:lnTo>
                <a:lnTo>
                  <a:pt x="6605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3346560" y="3657600"/>
            <a:ext cx="27432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1c6ea4"/>
                </a:solidFill>
                <a:latin typeface="Calibri-Bold"/>
                <a:ea typeface="Calibri-Bold"/>
              </a:rPr>
              <a:t>S5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3657600" y="3639240"/>
            <a:ext cx="118872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1c6ea4"/>
                </a:solidFill>
                <a:latin typeface="Calibri-Bold"/>
                <a:ea typeface="Calibri-Bold"/>
              </a:rPr>
              <a:t>μ=0.20  κ=12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3657600" y="3822120"/>
            <a:ext cx="1956960" cy="19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736f"/>
                </a:solidFill>
                <a:latin typeface="Calibri"/>
                <a:ea typeface="Calibri"/>
              </a:rPr>
              <a:t>Background signal, very low weight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6144840" y="1170360"/>
            <a:ext cx="2560680" cy="3402000"/>
          </a:xfrm>
          <a:custGeom>
            <a:avLst/>
            <a:gdLst/>
            <a:ahLst/>
            <a:rect l="0" t="0" r="r" b="b"/>
            <a:pathLst>
              <a:path w="7113" h="9450">
                <a:moveTo>
                  <a:pt x="0" y="0"/>
                </a:moveTo>
                <a:lnTo>
                  <a:pt x="7113" y="0"/>
                </a:lnTo>
                <a:lnTo>
                  <a:pt x="7113" y="9450"/>
                </a:lnTo>
                <a:lnTo>
                  <a:pt x="0" y="9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0a7982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6144840" y="1170360"/>
            <a:ext cx="2560680" cy="366120"/>
          </a:xfrm>
          <a:custGeom>
            <a:avLst/>
            <a:gdLst/>
            <a:ahLst/>
            <a:rect l="0" t="0" r="r" b="b"/>
            <a:pathLst>
              <a:path w="7113" h="1017">
                <a:moveTo>
                  <a:pt x="0" y="0"/>
                </a:moveTo>
                <a:lnTo>
                  <a:pt x="7113" y="0"/>
                </a:lnTo>
                <a:lnTo>
                  <a:pt x="7113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0a7982"/>
          </a:solidFill>
          <a:ln w="12600">
            <a:solidFill>
              <a:srgbClr val="0a7982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6144840" y="1170360"/>
            <a:ext cx="256032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ffffff"/>
                </a:solidFill>
                <a:latin typeface="Cambria"/>
                <a:ea typeface="Cambria"/>
              </a:rPr>
              <a:t>AGENCY 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6236280" y="1645920"/>
            <a:ext cx="2377800" cy="402840"/>
          </a:xfrm>
          <a:custGeom>
            <a:avLst/>
            <a:gdLst/>
            <a:ahLst/>
            <a:rect l="0" t="0" r="r" b="b"/>
            <a:pathLst>
              <a:path w="6605" h="1119">
                <a:moveTo>
                  <a:pt x="0" y="0"/>
                </a:moveTo>
                <a:lnTo>
                  <a:pt x="6605" y="0"/>
                </a:lnTo>
                <a:lnTo>
                  <a:pt x="6605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6272640" y="1682640"/>
            <a:ext cx="27432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a7982"/>
                </a:solidFill>
                <a:latin typeface="Calibri-Bold"/>
                <a:ea typeface="Calibri-Bold"/>
              </a:rPr>
              <a:t>S1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6583680" y="1664280"/>
            <a:ext cx="118872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a7982"/>
                </a:solidFill>
                <a:latin typeface="Calibri-Bold"/>
                <a:ea typeface="Calibri-Bold"/>
              </a:rPr>
              <a:t>μ=0.50  κ=12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6583680" y="1847160"/>
            <a:ext cx="1956960" cy="19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736f"/>
                </a:solidFill>
                <a:latin typeface="Calibri"/>
                <a:ea typeface="Calibri"/>
              </a:rPr>
              <a:t>Primary signal — lower μ, low certainty (κ=12)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6236280" y="2139840"/>
            <a:ext cx="2377800" cy="402840"/>
          </a:xfrm>
          <a:custGeom>
            <a:avLst/>
            <a:gdLst/>
            <a:ahLst/>
            <a:rect l="0" t="0" r="r" b="b"/>
            <a:pathLst>
              <a:path w="6605" h="1119">
                <a:moveTo>
                  <a:pt x="0" y="0"/>
                </a:moveTo>
                <a:lnTo>
                  <a:pt x="6605" y="0"/>
                </a:lnTo>
                <a:lnTo>
                  <a:pt x="6605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6272640" y="2176200"/>
            <a:ext cx="27432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a7982"/>
                </a:solidFill>
                <a:latin typeface="Calibri-Bold"/>
                <a:ea typeface="Calibri-Bold"/>
              </a:rPr>
              <a:t>S2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6583680" y="2157840"/>
            <a:ext cx="118872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a7982"/>
                </a:solidFill>
                <a:latin typeface="Calibri-Bold"/>
                <a:ea typeface="Calibri-Bold"/>
              </a:rPr>
              <a:t>μ=0.30  κ=15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6583680" y="2340720"/>
            <a:ext cx="1956960" cy="19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736f"/>
                </a:solidFill>
                <a:latin typeface="Calibri"/>
                <a:ea typeface="Calibri"/>
              </a:rPr>
              <a:t>Moderate relevance for this agency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6236280" y="2633400"/>
            <a:ext cx="2377800" cy="402840"/>
          </a:xfrm>
          <a:custGeom>
            <a:avLst/>
            <a:gdLst/>
            <a:ahLst/>
            <a:rect l="0" t="0" r="r" b="b"/>
            <a:pathLst>
              <a:path w="6605" h="1119">
                <a:moveTo>
                  <a:pt x="0" y="0"/>
                </a:moveTo>
                <a:lnTo>
                  <a:pt x="6605" y="0"/>
                </a:lnTo>
                <a:lnTo>
                  <a:pt x="6605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6272640" y="2670120"/>
            <a:ext cx="27432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a7982"/>
                </a:solidFill>
                <a:latin typeface="Calibri-Bold"/>
                <a:ea typeface="Calibri-Bold"/>
              </a:rPr>
              <a:t>S3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6583680" y="2651760"/>
            <a:ext cx="118872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a7982"/>
                </a:solidFill>
                <a:latin typeface="Calibri-Bold"/>
                <a:ea typeface="Calibri-Bold"/>
              </a:rPr>
              <a:t>μ=0.40  κ=8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6583680" y="2834640"/>
            <a:ext cx="1956960" cy="19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736f"/>
                </a:solidFill>
                <a:latin typeface="Calibri"/>
                <a:ea typeface="Calibri"/>
              </a:rPr>
              <a:t>Secondary signal, low certainty (κ=8)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6236280" y="3127320"/>
            <a:ext cx="2377800" cy="402840"/>
          </a:xfrm>
          <a:custGeom>
            <a:avLst/>
            <a:gdLst/>
            <a:ahLst/>
            <a:rect l="0" t="0" r="r" b="b"/>
            <a:pathLst>
              <a:path w="6605" h="1119">
                <a:moveTo>
                  <a:pt x="0" y="0"/>
                </a:moveTo>
                <a:lnTo>
                  <a:pt x="6605" y="0"/>
                </a:lnTo>
                <a:lnTo>
                  <a:pt x="6605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6272640" y="3163680"/>
            <a:ext cx="27432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a7982"/>
                </a:solidFill>
                <a:latin typeface="Calibri-Bold"/>
                <a:ea typeface="Calibri-Bold"/>
              </a:rPr>
              <a:t>S4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6583680" y="3145680"/>
            <a:ext cx="118872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a7982"/>
                </a:solidFill>
                <a:latin typeface="Calibri-Bold"/>
                <a:ea typeface="Calibri-Bold"/>
              </a:rPr>
              <a:t>μ=0.25  κ=10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6583680" y="3328560"/>
            <a:ext cx="1956960" cy="19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736f"/>
                </a:solidFill>
                <a:latin typeface="Calibri"/>
                <a:ea typeface="Calibri"/>
              </a:rPr>
              <a:t>Minor signal for this agency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6236280" y="3620880"/>
            <a:ext cx="2377800" cy="402840"/>
          </a:xfrm>
          <a:custGeom>
            <a:avLst/>
            <a:gdLst/>
            <a:ahLst/>
            <a:rect l="0" t="0" r="r" b="b"/>
            <a:pathLst>
              <a:path w="6605" h="1119">
                <a:moveTo>
                  <a:pt x="0" y="0"/>
                </a:moveTo>
                <a:lnTo>
                  <a:pt x="6605" y="0"/>
                </a:lnTo>
                <a:lnTo>
                  <a:pt x="6605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6272640" y="3657600"/>
            <a:ext cx="274320" cy="32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a7982"/>
                </a:solidFill>
                <a:latin typeface="Calibri-Bold"/>
                <a:ea typeface="Calibri-Bold"/>
              </a:rPr>
              <a:t>S5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6583680" y="3639240"/>
            <a:ext cx="1188720" cy="20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800" spc="-1" strike="noStrike">
                <a:solidFill>
                  <a:srgbClr val="0a7982"/>
                </a:solidFill>
                <a:latin typeface="Calibri-Bold"/>
                <a:ea typeface="Calibri-Bold"/>
              </a:rPr>
              <a:t>μ=0.20  κ=8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6583680" y="3822120"/>
            <a:ext cx="1956960" cy="19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736f"/>
                </a:solidFill>
                <a:latin typeface="Calibri"/>
                <a:ea typeface="Calibri"/>
              </a:rPr>
              <a:t>Background signal, minimal weight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2651760" y="2871360"/>
            <a:ext cx="3492720" cy="0"/>
          </a:xfrm>
          <a:prstGeom prst="line">
            <a:avLst/>
          </a:prstGeom>
          <a:ln w="6480">
            <a:solidFill>
              <a:srgbClr val="94a3b8"/>
            </a:solidFill>
            <a:custDash>
              <a:ds d="400000" sp="300000"/>
              <a:ds d="4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3240" rIns="93240" tIns="-48240" bIns="-482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365760" y="4626720"/>
            <a:ext cx="8412840" cy="237960"/>
          </a:xfrm>
          <a:custGeom>
            <a:avLst/>
            <a:gdLst/>
            <a:ahLst/>
            <a:rect l="0" t="0" r="r" b="b"/>
            <a:pathLst>
              <a:path w="23369" h="661">
                <a:moveTo>
                  <a:pt x="0" y="0"/>
                </a:moveTo>
                <a:lnTo>
                  <a:pt x="23369" y="0"/>
                </a:lnTo>
                <a:lnTo>
                  <a:pt x="23369" y="661"/>
                </a:lnTo>
                <a:lnTo>
                  <a:pt x="0" y="661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502920" y="4626720"/>
            <a:ext cx="8229600" cy="23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900" spc="-1" strike="noStrike">
                <a:solidFill>
                  <a:srgbClr val="1a395b"/>
                </a:solidFill>
                <a:latin typeface="Calibri-Italic"/>
                <a:ea typeface="Calibri-Italic"/>
              </a:rPr>
              <a:t>Same 5 sources. Same mathematical engine. Different risk thresholds per agency — each calibrated by adjusting μ and κ per source.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8412480" y="4928760"/>
            <a:ext cx="54864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14 / 16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"/>
          <p:cNvSpPr/>
          <p:nvPr/>
        </p:nvSpPr>
        <p:spPr>
          <a:xfrm>
            <a:off x="0" y="0"/>
            <a:ext cx="9144360" cy="686160"/>
          </a:xfrm>
          <a:custGeom>
            <a:avLst/>
            <a:gdLst/>
            <a:ahLst/>
            <a:rect l="0" t="0" r="r" b="b"/>
            <a:pathLst>
              <a:path w="25401" h="1906">
                <a:moveTo>
                  <a:pt x="0" y="0"/>
                </a:moveTo>
                <a:lnTo>
                  <a:pt x="25401" y="0"/>
                </a:lnTo>
                <a:lnTo>
                  <a:pt x="2540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411480" y="0"/>
            <a:ext cx="6858000" cy="70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Same Transaction, Two Agency Profiles — Very Different Outcomes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6858000" y="0"/>
            <a:ext cx="2026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15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365760" y="768240"/>
            <a:ext cx="8412480" cy="5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1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A potentially improper transaction is evaluated against both agency configurations. Both agencies match S1 and S3 only — but Agency 1 places far greater weight and certainty on those sources, producing a 15-point gap in combined risk.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365760" y="1115640"/>
            <a:ext cx="8412840" cy="347760"/>
          </a:xfrm>
          <a:custGeom>
            <a:avLst/>
            <a:gdLst/>
            <a:ahLst/>
            <a:rect l="0" t="0" r="r" b="b"/>
            <a:pathLst>
              <a:path w="23369" h="966">
                <a:moveTo>
                  <a:pt x="0" y="0"/>
                </a:moveTo>
                <a:lnTo>
                  <a:pt x="23369" y="0"/>
                </a:lnTo>
                <a:lnTo>
                  <a:pt x="23369" y="966"/>
                </a:lnTo>
                <a:lnTo>
                  <a:pt x="0" y="96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502920" y="1115640"/>
            <a:ext cx="8229600" cy="34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Scenario: potentially improper transaction — S1 and S3 match for both agencies. S2, S4, and S5 do not match.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365760" y="1536120"/>
            <a:ext cx="4115160" cy="3273840"/>
          </a:xfrm>
          <a:custGeom>
            <a:avLst/>
            <a:gdLst/>
            <a:ahLst/>
            <a:rect l="0" t="0" r="r" b="b"/>
            <a:pathLst>
              <a:path w="11431" h="9094">
                <a:moveTo>
                  <a:pt x="0" y="0"/>
                </a:moveTo>
                <a:lnTo>
                  <a:pt x="11431" y="0"/>
                </a:lnTo>
                <a:lnTo>
                  <a:pt x="11431" y="9094"/>
                </a:lnTo>
                <a:lnTo>
                  <a:pt x="0" y="90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1c6ea4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365760" y="1536120"/>
            <a:ext cx="4115160" cy="366120"/>
          </a:xfrm>
          <a:custGeom>
            <a:avLst/>
            <a:gdLst/>
            <a:ahLst/>
            <a:rect l="0" t="0" r="r" b="b"/>
            <a:pathLst>
              <a:path w="11431" h="1017">
                <a:moveTo>
                  <a:pt x="0" y="0"/>
                </a:moveTo>
                <a:lnTo>
                  <a:pt x="11431" y="0"/>
                </a:lnTo>
                <a:lnTo>
                  <a:pt x="11431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502920" y="1536120"/>
            <a:ext cx="384048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ffffff"/>
                </a:solidFill>
                <a:latin typeface="Cambria"/>
                <a:ea typeface="Cambria"/>
              </a:rPr>
              <a:t>Agency 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475560" y="1974960"/>
            <a:ext cx="3895560" cy="329400"/>
          </a:xfrm>
          <a:custGeom>
            <a:avLst/>
            <a:gdLst/>
            <a:ahLst/>
            <a:rect l="0" t="0" r="r" b="b"/>
            <a:pathLst>
              <a:path w="10821" h="915">
                <a:moveTo>
                  <a:pt x="0" y="0"/>
                </a:moveTo>
                <a:lnTo>
                  <a:pt x="10821" y="0"/>
                </a:lnTo>
                <a:lnTo>
                  <a:pt x="10821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511920" y="2011680"/>
            <a:ext cx="6584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700" spc="-1" strike="noStrike">
                <a:solidFill>
                  <a:srgbClr val="1c6ea4"/>
                </a:solidFill>
                <a:latin typeface="Calibri-Bold"/>
                <a:ea typeface="Calibri-Bold"/>
              </a:rPr>
              <a:t>MATCH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1207080" y="2030040"/>
            <a:ext cx="182880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Source 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3072240" y="2030040"/>
            <a:ext cx="124344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800" spc="-1" strike="noStrike">
                <a:solidFill>
                  <a:srgbClr val="1c6ea4"/>
                </a:solidFill>
                <a:latin typeface="Calibri-Bold"/>
                <a:ea typeface="Calibri-Bold"/>
              </a:rPr>
              <a:t>μ=0.7  κ=80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475560" y="2359080"/>
            <a:ext cx="3895560" cy="329400"/>
          </a:xfrm>
          <a:custGeom>
            <a:avLst/>
            <a:gdLst/>
            <a:ahLst/>
            <a:rect l="0" t="0" r="r" b="b"/>
            <a:pathLst>
              <a:path w="10821" h="915">
                <a:moveTo>
                  <a:pt x="0" y="0"/>
                </a:moveTo>
                <a:lnTo>
                  <a:pt x="10821" y="0"/>
                </a:lnTo>
                <a:lnTo>
                  <a:pt x="10821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511920" y="2395800"/>
            <a:ext cx="6584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94a3b8"/>
                </a:solidFill>
                <a:latin typeface="Calibri"/>
                <a:ea typeface="Calibri"/>
              </a:rPr>
              <a:t>no match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1207080" y="2414160"/>
            <a:ext cx="182880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Source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3072240" y="2414160"/>
            <a:ext cx="124344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μ=0.2  κ=10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475560" y="2743200"/>
            <a:ext cx="3895560" cy="329400"/>
          </a:xfrm>
          <a:custGeom>
            <a:avLst/>
            <a:gdLst/>
            <a:ahLst/>
            <a:rect l="0" t="0" r="r" b="b"/>
            <a:pathLst>
              <a:path w="10821" h="915">
                <a:moveTo>
                  <a:pt x="0" y="0"/>
                </a:moveTo>
                <a:lnTo>
                  <a:pt x="10821" y="0"/>
                </a:lnTo>
                <a:lnTo>
                  <a:pt x="10821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511920" y="2779920"/>
            <a:ext cx="6584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700" spc="-1" strike="noStrike">
                <a:solidFill>
                  <a:srgbClr val="1c6ea4"/>
                </a:solidFill>
                <a:latin typeface="Calibri-Bold"/>
                <a:ea typeface="Calibri-Bold"/>
              </a:rPr>
              <a:t>MATCH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207080" y="2797920"/>
            <a:ext cx="182880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Source 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3072240" y="2797920"/>
            <a:ext cx="124344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800" spc="-1" strike="noStrike">
                <a:solidFill>
                  <a:srgbClr val="1c6ea4"/>
                </a:solidFill>
                <a:latin typeface="Calibri-Bold"/>
                <a:ea typeface="Calibri-Bold"/>
              </a:rPr>
              <a:t>μ=0.5  κ=50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475560" y="3127320"/>
            <a:ext cx="3895560" cy="329400"/>
          </a:xfrm>
          <a:custGeom>
            <a:avLst/>
            <a:gdLst/>
            <a:ahLst/>
            <a:rect l="0" t="0" r="r" b="b"/>
            <a:pathLst>
              <a:path w="10821" h="915">
                <a:moveTo>
                  <a:pt x="0" y="0"/>
                </a:moveTo>
                <a:lnTo>
                  <a:pt x="10821" y="0"/>
                </a:lnTo>
                <a:lnTo>
                  <a:pt x="10821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511920" y="3163680"/>
            <a:ext cx="6584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94a3b8"/>
                </a:solidFill>
                <a:latin typeface="Calibri"/>
                <a:ea typeface="Calibri"/>
              </a:rPr>
              <a:t>no match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1207080" y="3182040"/>
            <a:ext cx="182880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Source 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3072240" y="3182040"/>
            <a:ext cx="124344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μ=0.15  κ=8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475560" y="3511440"/>
            <a:ext cx="3895560" cy="329400"/>
          </a:xfrm>
          <a:custGeom>
            <a:avLst/>
            <a:gdLst/>
            <a:ahLst/>
            <a:rect l="0" t="0" r="r" b="b"/>
            <a:pathLst>
              <a:path w="10821" h="915">
                <a:moveTo>
                  <a:pt x="0" y="0"/>
                </a:moveTo>
                <a:lnTo>
                  <a:pt x="10821" y="0"/>
                </a:lnTo>
                <a:lnTo>
                  <a:pt x="10821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511920" y="3547800"/>
            <a:ext cx="6584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94a3b8"/>
                </a:solidFill>
                <a:latin typeface="Calibri"/>
                <a:ea typeface="Calibri"/>
              </a:rPr>
              <a:t>no match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1207080" y="3566160"/>
            <a:ext cx="182880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Source 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3072240" y="3566160"/>
            <a:ext cx="124344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μ=0.2  κ=12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475560" y="3950280"/>
            <a:ext cx="3895560" cy="658800"/>
          </a:xfrm>
          <a:custGeom>
            <a:avLst/>
            <a:gdLst/>
            <a:ahLst/>
            <a:rect l="0" t="0" r="r" b="b"/>
            <a:pathLst>
              <a:path w="10821" h="1830">
                <a:moveTo>
                  <a:pt x="0" y="0"/>
                </a:moveTo>
                <a:lnTo>
                  <a:pt x="10821" y="0"/>
                </a:lnTo>
                <a:lnTo>
                  <a:pt x="10821" y="1830"/>
                </a:lnTo>
                <a:lnTo>
                  <a:pt x="0" y="1830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9080">
            <a:solidFill>
              <a:srgbClr val="1c6ea4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530280" y="3968640"/>
            <a:ext cx="115200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3400" spc="-1" strike="noStrike">
                <a:solidFill>
                  <a:srgbClr val="1c6ea4"/>
                </a:solidFill>
                <a:latin typeface="Cambria"/>
                <a:ea typeface="Cambria"/>
              </a:rPr>
              <a:t>85%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1737360" y="4005000"/>
            <a:ext cx="155448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1c6ea4"/>
                </a:solidFill>
                <a:latin typeface="Calibri-Bold"/>
                <a:ea typeface="Calibri-Bold"/>
              </a:rPr>
              <a:t>Combined Risk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1737360" y="4187880"/>
            <a:ext cx="256032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1 − (1−0.70)(1−0.50)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= 1 − (0.30 × 0.50) = 85.0%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4663440" y="1536120"/>
            <a:ext cx="4115160" cy="3273840"/>
          </a:xfrm>
          <a:custGeom>
            <a:avLst/>
            <a:gdLst/>
            <a:ahLst/>
            <a:rect l="0" t="0" r="r" b="b"/>
            <a:pathLst>
              <a:path w="11431" h="9094">
                <a:moveTo>
                  <a:pt x="0" y="0"/>
                </a:moveTo>
                <a:lnTo>
                  <a:pt x="11431" y="0"/>
                </a:lnTo>
                <a:lnTo>
                  <a:pt x="11431" y="9094"/>
                </a:lnTo>
                <a:lnTo>
                  <a:pt x="0" y="90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0a7982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4663440" y="1536120"/>
            <a:ext cx="4115160" cy="366120"/>
          </a:xfrm>
          <a:custGeom>
            <a:avLst/>
            <a:gdLst/>
            <a:ahLst/>
            <a:rect l="0" t="0" r="r" b="b"/>
            <a:pathLst>
              <a:path w="11431" h="1017">
                <a:moveTo>
                  <a:pt x="0" y="0"/>
                </a:moveTo>
                <a:lnTo>
                  <a:pt x="11431" y="0"/>
                </a:lnTo>
                <a:lnTo>
                  <a:pt x="11431" y="1017"/>
                </a:lnTo>
                <a:lnTo>
                  <a:pt x="0" y="1017"/>
                </a:lnTo>
                <a:lnTo>
                  <a:pt x="0" y="0"/>
                </a:lnTo>
                <a:close/>
              </a:path>
            </a:pathLst>
          </a:custGeom>
          <a:solidFill>
            <a:srgbClr val="0a7982"/>
          </a:solidFill>
          <a:ln w="12600">
            <a:solidFill>
              <a:srgbClr val="0a7982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4800600" y="1536120"/>
            <a:ext cx="384048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ffffff"/>
                </a:solidFill>
                <a:latin typeface="Cambria"/>
                <a:ea typeface="Cambria"/>
              </a:rPr>
              <a:t>Agency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4773240" y="1974960"/>
            <a:ext cx="3895560" cy="329400"/>
          </a:xfrm>
          <a:custGeom>
            <a:avLst/>
            <a:gdLst/>
            <a:ahLst/>
            <a:rect l="0" t="0" r="r" b="b"/>
            <a:pathLst>
              <a:path w="10821" h="915">
                <a:moveTo>
                  <a:pt x="0" y="0"/>
                </a:moveTo>
                <a:lnTo>
                  <a:pt x="10821" y="0"/>
                </a:lnTo>
                <a:lnTo>
                  <a:pt x="10821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4809600" y="2011680"/>
            <a:ext cx="6584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700" spc="-1" strike="noStrike">
                <a:solidFill>
                  <a:srgbClr val="0a7982"/>
                </a:solidFill>
                <a:latin typeface="Calibri-Bold"/>
                <a:ea typeface="Calibri-Bold"/>
              </a:rPr>
              <a:t>MATCH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5504760" y="2030040"/>
            <a:ext cx="182880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Source 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7369920" y="2030040"/>
            <a:ext cx="107892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800" spc="-1" strike="noStrike">
                <a:solidFill>
                  <a:srgbClr val="0a7982"/>
                </a:solidFill>
                <a:latin typeface="Calibri-Bold"/>
                <a:ea typeface="Calibri-Bold"/>
              </a:rPr>
              <a:t>μ=0.5  κ=12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4773240" y="2359080"/>
            <a:ext cx="3895560" cy="329400"/>
          </a:xfrm>
          <a:custGeom>
            <a:avLst/>
            <a:gdLst/>
            <a:ahLst/>
            <a:rect l="0" t="0" r="r" b="b"/>
            <a:pathLst>
              <a:path w="10821" h="915">
                <a:moveTo>
                  <a:pt x="0" y="0"/>
                </a:moveTo>
                <a:lnTo>
                  <a:pt x="10821" y="0"/>
                </a:lnTo>
                <a:lnTo>
                  <a:pt x="10821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4809600" y="2395800"/>
            <a:ext cx="6584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94a3b8"/>
                </a:solidFill>
                <a:latin typeface="Calibri"/>
                <a:ea typeface="Calibri"/>
              </a:rPr>
              <a:t>no match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5504760" y="2414160"/>
            <a:ext cx="182880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Source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7369920" y="2414160"/>
            <a:ext cx="107892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μ=0.3  κ=15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4773240" y="2743200"/>
            <a:ext cx="3895560" cy="329400"/>
          </a:xfrm>
          <a:custGeom>
            <a:avLst/>
            <a:gdLst/>
            <a:ahLst/>
            <a:rect l="0" t="0" r="r" b="b"/>
            <a:pathLst>
              <a:path w="10821" h="915">
                <a:moveTo>
                  <a:pt x="0" y="0"/>
                </a:moveTo>
                <a:lnTo>
                  <a:pt x="10821" y="0"/>
                </a:lnTo>
                <a:lnTo>
                  <a:pt x="10821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4809600" y="2779920"/>
            <a:ext cx="6584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700" spc="-1" strike="noStrike">
                <a:solidFill>
                  <a:srgbClr val="0a7982"/>
                </a:solidFill>
                <a:latin typeface="Calibri-Bold"/>
                <a:ea typeface="Calibri-Bold"/>
              </a:rPr>
              <a:t>MATCH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5504760" y="2797920"/>
            <a:ext cx="182880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d1d2d"/>
                </a:solidFill>
                <a:latin typeface="Calibri"/>
                <a:ea typeface="Calibri"/>
              </a:rPr>
              <a:t>Source 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7369920" y="2797920"/>
            <a:ext cx="107892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en-US" sz="800" spc="-1" strike="noStrike">
                <a:solidFill>
                  <a:srgbClr val="0a7982"/>
                </a:solidFill>
                <a:latin typeface="Calibri-Bold"/>
                <a:ea typeface="Calibri-Bold"/>
              </a:rPr>
              <a:t>μ=0.4  κ=8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4773240" y="3127320"/>
            <a:ext cx="3895560" cy="329400"/>
          </a:xfrm>
          <a:custGeom>
            <a:avLst/>
            <a:gdLst/>
            <a:ahLst/>
            <a:rect l="0" t="0" r="r" b="b"/>
            <a:pathLst>
              <a:path w="10821" h="915">
                <a:moveTo>
                  <a:pt x="0" y="0"/>
                </a:moveTo>
                <a:lnTo>
                  <a:pt x="10821" y="0"/>
                </a:lnTo>
                <a:lnTo>
                  <a:pt x="10821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4809600" y="3163680"/>
            <a:ext cx="6584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94a3b8"/>
                </a:solidFill>
                <a:latin typeface="Calibri"/>
                <a:ea typeface="Calibri"/>
              </a:rPr>
              <a:t>no match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5504760" y="3182040"/>
            <a:ext cx="182880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Source 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7369920" y="3182040"/>
            <a:ext cx="107892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μ=0.25  κ=10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4773240" y="3511440"/>
            <a:ext cx="3895560" cy="329400"/>
          </a:xfrm>
          <a:custGeom>
            <a:avLst/>
            <a:gdLst/>
            <a:ahLst/>
            <a:rect l="0" t="0" r="r" b="b"/>
            <a:pathLst>
              <a:path w="10821" h="915">
                <a:moveTo>
                  <a:pt x="0" y="0"/>
                </a:moveTo>
                <a:lnTo>
                  <a:pt x="10821" y="0"/>
                </a:lnTo>
                <a:lnTo>
                  <a:pt x="10821" y="915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12600">
            <a:solidFill>
              <a:srgbClr val="d5cec5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4809600" y="3547800"/>
            <a:ext cx="65844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94a3b8"/>
                </a:solidFill>
                <a:latin typeface="Calibri"/>
                <a:ea typeface="Calibri"/>
              </a:rPr>
              <a:t>no match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5504760" y="3566160"/>
            <a:ext cx="182880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Source 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7369920" y="3566160"/>
            <a:ext cx="1078920" cy="2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μ=0.2  κ=8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4773240" y="3950280"/>
            <a:ext cx="3895560" cy="658800"/>
          </a:xfrm>
          <a:custGeom>
            <a:avLst/>
            <a:gdLst/>
            <a:ahLst/>
            <a:rect l="0" t="0" r="r" b="b"/>
            <a:pathLst>
              <a:path w="10821" h="1830">
                <a:moveTo>
                  <a:pt x="0" y="0"/>
                </a:moveTo>
                <a:lnTo>
                  <a:pt x="10821" y="0"/>
                </a:lnTo>
                <a:lnTo>
                  <a:pt x="10821" y="1830"/>
                </a:lnTo>
                <a:lnTo>
                  <a:pt x="0" y="1830"/>
                </a:lnTo>
                <a:lnTo>
                  <a:pt x="0" y="0"/>
                </a:lnTo>
                <a:close/>
              </a:path>
            </a:pathLst>
          </a:custGeom>
          <a:solidFill>
            <a:srgbClr val="e8f7f7"/>
          </a:solidFill>
          <a:ln w="19080">
            <a:solidFill>
              <a:srgbClr val="0a7982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4827960" y="3968640"/>
            <a:ext cx="1152000" cy="6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3400" spc="-1" strike="noStrike">
                <a:solidFill>
                  <a:srgbClr val="0a7982"/>
                </a:solidFill>
                <a:latin typeface="Cambria"/>
                <a:ea typeface="Cambria"/>
              </a:rPr>
              <a:t>70%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6035040" y="4005000"/>
            <a:ext cx="155448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0a7982"/>
                </a:solidFill>
                <a:latin typeface="Calibri-Bold"/>
                <a:ea typeface="Calibri-Bold"/>
              </a:rPr>
              <a:t>Combined Risk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6035040" y="4187880"/>
            <a:ext cx="256032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1 − (1−0.50)(1−0.40)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800" spc="-1" strike="noStrike">
                <a:solidFill>
                  <a:srgbClr val="79736f"/>
                </a:solidFill>
                <a:latin typeface="Calibri"/>
                <a:ea typeface="Calibri"/>
              </a:rPr>
              <a:t>= 1 − (0.50 × 0.60) = 70.0%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"/>
          <p:cNvSpPr/>
          <p:nvPr/>
        </p:nvSpPr>
        <p:spPr>
          <a:xfrm>
            <a:off x="365760" y="4626720"/>
            <a:ext cx="4115160" cy="311400"/>
          </a:xfrm>
          <a:custGeom>
            <a:avLst/>
            <a:gdLst/>
            <a:ahLst/>
            <a:rect l="0" t="0" r="r" b="b"/>
            <a:pathLst>
              <a:path w="11431" h="865">
                <a:moveTo>
                  <a:pt x="0" y="0"/>
                </a:moveTo>
                <a:lnTo>
                  <a:pt x="11431" y="0"/>
                </a:lnTo>
                <a:lnTo>
                  <a:pt x="11431" y="865"/>
                </a:lnTo>
                <a:lnTo>
                  <a:pt x="0" y="865"/>
                </a:lnTo>
                <a:lnTo>
                  <a:pt x="0" y="0"/>
                </a:lnTo>
                <a:close/>
              </a:path>
            </a:pathLst>
          </a:custGeom>
          <a:solidFill>
            <a:srgbClr val="ebf4fa"/>
          </a:solidFill>
          <a:ln w="9360">
            <a:solidFill>
              <a:srgbClr val="1c6ea4"/>
            </a:solidFill>
            <a:round/>
          </a:ln>
        </p:spPr>
        <p:txBody>
          <a:bodyPr lIns="94680" rIns="94680" tIns="49680" bIns="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475560" y="4626720"/>
            <a:ext cx="3913560" cy="34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1c6ea4"/>
                </a:solidFill>
                <a:latin typeface="Calibri"/>
                <a:ea typeface="Calibri"/>
              </a:rPr>
              <a:t>Agency 1: S1 carries high weight (μ=0.70) and high certainty (κ=80) → same two matches score 85%.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>
            <a:off x="4663440" y="4626720"/>
            <a:ext cx="4115160" cy="311400"/>
          </a:xfrm>
          <a:custGeom>
            <a:avLst/>
            <a:gdLst/>
            <a:ahLst/>
            <a:rect l="0" t="0" r="r" b="b"/>
            <a:pathLst>
              <a:path w="11431" h="865">
                <a:moveTo>
                  <a:pt x="0" y="0"/>
                </a:moveTo>
                <a:lnTo>
                  <a:pt x="11431" y="0"/>
                </a:lnTo>
                <a:lnTo>
                  <a:pt x="11431" y="865"/>
                </a:lnTo>
                <a:lnTo>
                  <a:pt x="0" y="865"/>
                </a:lnTo>
                <a:lnTo>
                  <a:pt x="0" y="0"/>
                </a:lnTo>
                <a:close/>
              </a:path>
            </a:pathLst>
          </a:custGeom>
          <a:solidFill>
            <a:srgbClr val="e8f7f7"/>
          </a:solidFill>
          <a:ln w="9360">
            <a:solidFill>
              <a:srgbClr val="0a7982"/>
            </a:solidFill>
            <a:round/>
          </a:ln>
        </p:spPr>
        <p:txBody>
          <a:bodyPr lIns="94680" rIns="94680" tIns="49680" bIns="49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4773240" y="4626720"/>
            <a:ext cx="3913560" cy="34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0a7982"/>
                </a:solidFill>
                <a:latin typeface="Calibri"/>
                <a:ea typeface="Calibri"/>
              </a:rPr>
              <a:t>Agency 2: S1 carries lower weight (μ=0.50) and lower certainty (κ=12) → same two matches score only 70%. 15-point gap from calibration alone.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8412480" y="4928760"/>
            <a:ext cx="54864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15 / 16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"/>
          <p:cNvSpPr/>
          <p:nvPr/>
        </p:nvSpPr>
        <p:spPr>
          <a:xfrm>
            <a:off x="0" y="0"/>
            <a:ext cx="4023720" cy="5143680"/>
          </a:xfrm>
          <a:custGeom>
            <a:avLst/>
            <a:gdLst/>
            <a:ahLst/>
            <a:rect l="0" t="0" r="r" b="b"/>
            <a:pathLst>
              <a:path w="11177" h="14288">
                <a:moveTo>
                  <a:pt x="0" y="0"/>
                </a:moveTo>
                <a:lnTo>
                  <a:pt x="11177" y="0"/>
                </a:lnTo>
                <a:lnTo>
                  <a:pt x="11177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solidFill>
            <a:srgbClr val="102132"/>
          </a:solidFill>
          <a:ln w="12600">
            <a:solidFill>
              <a:srgbClr val="102132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4023360" y="0"/>
            <a:ext cx="50760" cy="5143680"/>
          </a:xfrm>
          <a:custGeom>
            <a:avLst/>
            <a:gdLst/>
            <a:ahLst/>
            <a:rect l="0" t="0" r="r" b="b"/>
            <a:pathLst>
              <a:path w="141" h="14288">
                <a:moveTo>
                  <a:pt x="0" y="0"/>
                </a:moveTo>
                <a:lnTo>
                  <a:pt x="141" y="0"/>
                </a:lnTo>
                <a:lnTo>
                  <a:pt x="141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365760" y="502920"/>
            <a:ext cx="3383280" cy="100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WHY THIS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MODEL WORKS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365760" y="1572840"/>
            <a:ext cx="3108960" cy="0"/>
          </a:xfrm>
          <a:prstGeom prst="line">
            <a:avLst/>
          </a:prstGeom>
          <a:ln w="19080">
            <a:solidFill>
              <a:srgbClr val="1c6e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"/>
          <p:cNvSpPr/>
          <p:nvPr/>
        </p:nvSpPr>
        <p:spPr>
          <a:xfrm>
            <a:off x="365760" y="170064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621720" y="1682640"/>
            <a:ext cx="318204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c5d8e8"/>
                </a:solidFill>
                <a:latin typeface="Calibri"/>
                <a:ea typeface="Calibri"/>
              </a:rPr>
              <a:t>Grounded in probability theory — not heuristics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>
            <a:off x="365760" y="210312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621720" y="2084760"/>
            <a:ext cx="318204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c5d8e8"/>
                </a:solidFill>
                <a:latin typeface="Calibri"/>
                <a:ea typeface="Calibri"/>
              </a:rPr>
              <a:t>Transparent: every parameter has a clear meaning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365760" y="250560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621720" y="2487240"/>
            <a:ext cx="318204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c5d8e8"/>
                </a:solidFill>
                <a:latin typeface="Calibri"/>
                <a:ea typeface="Calibri"/>
              </a:rPr>
              <a:t>Handles any number of independent sources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>
            <a:off x="365760" y="290772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621720" y="2889360"/>
            <a:ext cx="318204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c5d8e8"/>
                </a:solidFill>
                <a:latin typeface="Calibri"/>
                <a:ea typeface="Calibri"/>
              </a:rPr>
              <a:t>Uncertainty-aware: certainty is built into the output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>
            <a:off x="365760" y="331020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621720" y="3291840"/>
            <a:ext cx="318204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c5d8e8"/>
                </a:solidFill>
                <a:latin typeface="Calibri"/>
                <a:ea typeface="Calibri"/>
              </a:rPr>
              <a:t>Bayesian: beliefs update cleanly with new evidence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>
            <a:off x="365760" y="371232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621720" y="3694320"/>
            <a:ext cx="318204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c5d8e8"/>
                </a:solidFill>
                <a:latin typeface="Calibri"/>
                <a:ea typeface="Calibri"/>
              </a:rPr>
              <a:t>Auditable: Monte Carlo traces every inference step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365760" y="411480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621720" y="4096440"/>
            <a:ext cx="318204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c5d8e8"/>
                </a:solidFill>
                <a:latin typeface="Calibri"/>
                <a:ea typeface="Calibri"/>
              </a:rPr>
              <a:t>Interpretable: marginal contributions reveal drivers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>
            <a:off x="365760" y="451728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621720" y="4498920"/>
            <a:ext cx="318204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c5d8e8"/>
                </a:solidFill>
                <a:latin typeface="Calibri"/>
                <a:ea typeface="Calibri"/>
              </a:rPr>
              <a:t>Bounded: output is always a valid probability in (0,1)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>
            <a:off x="4206240" y="320040"/>
            <a:ext cx="2240640" cy="2149200"/>
          </a:xfrm>
          <a:custGeom>
            <a:avLst/>
            <a:gdLst/>
            <a:ahLst/>
            <a:rect l="0" t="0" r="r" b="b"/>
            <a:pathLst>
              <a:path w="6224" h="5970">
                <a:moveTo>
                  <a:pt x="0" y="0"/>
                </a:moveTo>
                <a:lnTo>
                  <a:pt x="6224" y="0"/>
                </a:lnTo>
                <a:lnTo>
                  <a:pt x="6224" y="5970"/>
                </a:lnTo>
                <a:lnTo>
                  <a:pt x="0" y="5970"/>
                </a:lnTo>
                <a:lnTo>
                  <a:pt x="0" y="0"/>
                </a:lnTo>
                <a:close/>
              </a:path>
            </a:pathLst>
          </a:custGeom>
          <a:solidFill>
            <a:srgbClr val="193453"/>
          </a:solidFill>
          <a:ln w="19080">
            <a:solidFill>
              <a:srgbClr val="1c6ea4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>
            <a:off x="4206240" y="320040"/>
            <a:ext cx="2240640" cy="50760"/>
          </a:xfrm>
          <a:custGeom>
            <a:avLst/>
            <a:gdLst/>
            <a:ahLst/>
            <a:rect l="0" t="0" r="r" b="b"/>
            <a:pathLst>
              <a:path w="6224" h="141">
                <a:moveTo>
                  <a:pt x="0" y="0"/>
                </a:moveTo>
                <a:lnTo>
                  <a:pt x="6224" y="0"/>
                </a:lnTo>
                <a:lnTo>
                  <a:pt x="6224" y="141"/>
                </a:lnTo>
                <a:lnTo>
                  <a:pt x="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-360" bIns="-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4334400" y="429840"/>
            <a:ext cx="199332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1c6ea4"/>
                </a:solidFill>
                <a:latin typeface="Cambria"/>
                <a:ea typeface="Cambria"/>
              </a:rPr>
              <a:t>Beta Distribution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4334400" y="777240"/>
            <a:ext cx="1993320" cy="15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c5d8e8"/>
                </a:solidFill>
                <a:latin typeface="Calibri"/>
                <a:ea typeface="Calibri"/>
              </a:rPr>
              <a:t>Models per-source uncertainty using μ (mean belief) and κ (confidence). Var(p)=μ(1−μ)/(κ+1). Higher κ → tighter, more certain prior.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6629400" y="320040"/>
            <a:ext cx="2240640" cy="2149200"/>
          </a:xfrm>
          <a:custGeom>
            <a:avLst/>
            <a:gdLst/>
            <a:ahLst/>
            <a:rect l="0" t="0" r="r" b="b"/>
            <a:pathLst>
              <a:path w="6224" h="5970">
                <a:moveTo>
                  <a:pt x="0" y="0"/>
                </a:moveTo>
                <a:lnTo>
                  <a:pt x="6224" y="0"/>
                </a:lnTo>
                <a:lnTo>
                  <a:pt x="6224" y="5970"/>
                </a:lnTo>
                <a:lnTo>
                  <a:pt x="0" y="5970"/>
                </a:lnTo>
                <a:lnTo>
                  <a:pt x="0" y="0"/>
                </a:lnTo>
                <a:close/>
              </a:path>
            </a:pathLst>
          </a:custGeom>
          <a:solidFill>
            <a:srgbClr val="193453"/>
          </a:solidFill>
          <a:ln w="19080">
            <a:solidFill>
              <a:srgbClr val="0a7982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>
            <a:off x="6629400" y="320040"/>
            <a:ext cx="2240640" cy="50760"/>
          </a:xfrm>
          <a:custGeom>
            <a:avLst/>
            <a:gdLst/>
            <a:ahLst/>
            <a:rect l="0" t="0" r="r" b="b"/>
            <a:pathLst>
              <a:path w="6224" h="141">
                <a:moveTo>
                  <a:pt x="0" y="0"/>
                </a:moveTo>
                <a:lnTo>
                  <a:pt x="6224" y="0"/>
                </a:lnTo>
                <a:lnTo>
                  <a:pt x="6224" y="141"/>
                </a:lnTo>
                <a:lnTo>
                  <a:pt x="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0a7982"/>
          </a:solidFill>
          <a:ln w="12600">
            <a:solidFill>
              <a:srgbClr val="0a7982"/>
            </a:solidFill>
            <a:round/>
          </a:ln>
        </p:spPr>
        <p:txBody>
          <a:bodyPr lIns="96120" rIns="96120" tIns="-360" bIns="-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6757560" y="429840"/>
            <a:ext cx="199332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a7982"/>
                </a:solidFill>
                <a:latin typeface="Cambria"/>
                <a:ea typeface="Cambria"/>
              </a:rPr>
              <a:t>Noisy-OR Formula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6757560" y="777240"/>
            <a:ext cx="1993320" cy="15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c5d8e8"/>
                </a:solidFill>
                <a:latin typeface="Calibri"/>
                <a:ea typeface="Calibri"/>
              </a:rPr>
              <a:t>P(risk)=1−∏(1−pᵢ). Combines independent sources via the 'at least one fires' logic. Mathematically exact under independence.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4206240" y="2651760"/>
            <a:ext cx="2240640" cy="2149200"/>
          </a:xfrm>
          <a:custGeom>
            <a:avLst/>
            <a:gdLst/>
            <a:ahLst/>
            <a:rect l="0" t="0" r="r" b="b"/>
            <a:pathLst>
              <a:path w="6224" h="5970">
                <a:moveTo>
                  <a:pt x="0" y="0"/>
                </a:moveTo>
                <a:lnTo>
                  <a:pt x="6224" y="0"/>
                </a:lnTo>
                <a:lnTo>
                  <a:pt x="6224" y="5970"/>
                </a:lnTo>
                <a:lnTo>
                  <a:pt x="0" y="5970"/>
                </a:lnTo>
                <a:lnTo>
                  <a:pt x="0" y="0"/>
                </a:lnTo>
                <a:close/>
              </a:path>
            </a:pathLst>
          </a:custGeom>
          <a:solidFill>
            <a:srgbClr val="193453"/>
          </a:solidFill>
          <a:ln w="19080">
            <a:solidFill>
              <a:srgbClr val="b84e1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4206240" y="2651760"/>
            <a:ext cx="2240640" cy="50760"/>
          </a:xfrm>
          <a:custGeom>
            <a:avLst/>
            <a:gdLst/>
            <a:ahLst/>
            <a:rect l="0" t="0" r="r" b="b"/>
            <a:pathLst>
              <a:path w="6224" h="141">
                <a:moveTo>
                  <a:pt x="0" y="0"/>
                </a:moveTo>
                <a:lnTo>
                  <a:pt x="6224" y="0"/>
                </a:lnTo>
                <a:lnTo>
                  <a:pt x="6224" y="141"/>
                </a:lnTo>
                <a:lnTo>
                  <a:pt x="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b84e1d"/>
          </a:solidFill>
          <a:ln w="12600">
            <a:solidFill>
              <a:srgbClr val="b84e1d"/>
            </a:solidFill>
            <a:round/>
          </a:ln>
        </p:spPr>
        <p:txBody>
          <a:bodyPr lIns="96120" rIns="96120" tIns="-360" bIns="-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4334400" y="2761560"/>
            <a:ext cx="199332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b84e1d"/>
                </a:solidFill>
                <a:latin typeface="Cambria"/>
                <a:ea typeface="Cambria"/>
              </a:rPr>
              <a:t>Marginal Contribution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4334400" y="3108960"/>
            <a:ext cx="1993320" cy="15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c5d8e8"/>
                </a:solidFill>
                <a:latin typeface="Calibri"/>
                <a:ea typeface="Calibri"/>
              </a:rPr>
              <a:t>Δᵢ = overall risk minus risk without source i. Reveals which signal dominates and quantifies each source's unique contribution.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6629400" y="2651760"/>
            <a:ext cx="2240640" cy="2149200"/>
          </a:xfrm>
          <a:custGeom>
            <a:avLst/>
            <a:gdLst/>
            <a:ahLst/>
            <a:rect l="0" t="0" r="r" b="b"/>
            <a:pathLst>
              <a:path w="6224" h="5970">
                <a:moveTo>
                  <a:pt x="0" y="0"/>
                </a:moveTo>
                <a:lnTo>
                  <a:pt x="6224" y="0"/>
                </a:lnTo>
                <a:lnTo>
                  <a:pt x="6224" y="5970"/>
                </a:lnTo>
                <a:lnTo>
                  <a:pt x="0" y="5970"/>
                </a:lnTo>
                <a:lnTo>
                  <a:pt x="0" y="0"/>
                </a:lnTo>
                <a:close/>
              </a:path>
            </a:pathLst>
          </a:custGeom>
          <a:solidFill>
            <a:srgbClr val="193453"/>
          </a:solidFill>
          <a:ln w="19080">
            <a:solidFill>
              <a:srgbClr val="b87115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6629400" y="2651760"/>
            <a:ext cx="2240640" cy="50760"/>
          </a:xfrm>
          <a:custGeom>
            <a:avLst/>
            <a:gdLst/>
            <a:ahLst/>
            <a:rect l="0" t="0" r="r" b="b"/>
            <a:pathLst>
              <a:path w="6224" h="141">
                <a:moveTo>
                  <a:pt x="0" y="0"/>
                </a:moveTo>
                <a:lnTo>
                  <a:pt x="6224" y="0"/>
                </a:lnTo>
                <a:lnTo>
                  <a:pt x="6224" y="141"/>
                </a:lnTo>
                <a:lnTo>
                  <a:pt x="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b87115"/>
          </a:solidFill>
          <a:ln w="12600">
            <a:solidFill>
              <a:srgbClr val="b87115"/>
            </a:solidFill>
            <a:round/>
          </a:ln>
        </p:spPr>
        <p:txBody>
          <a:bodyPr lIns="96120" rIns="96120" tIns="-360" bIns="-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6757560" y="2761560"/>
            <a:ext cx="199332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b87115"/>
                </a:solidFill>
                <a:latin typeface="Cambria"/>
                <a:ea typeface="Cambria"/>
              </a:rPr>
              <a:t>Certainty Score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6757560" y="3108960"/>
            <a:ext cx="1993320" cy="15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c5d8e8"/>
                </a:solidFill>
                <a:latin typeface="Calibri"/>
                <a:ea typeface="Calibri"/>
              </a:rPr>
              <a:t>Certainty = 1−(P₉₅−P₅). Measures how tightly the posterior distribution is concentrated. Rises with κ, falls with uncertainty.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4206240" y="4800600"/>
            <a:ext cx="4846680" cy="256320"/>
          </a:xfrm>
          <a:custGeom>
            <a:avLst/>
            <a:gdLst/>
            <a:ahLst/>
            <a:rect l="0" t="0" r="r" b="b"/>
            <a:pathLst>
              <a:path w="13463" h="712">
                <a:moveTo>
                  <a:pt x="0" y="0"/>
                </a:moveTo>
                <a:lnTo>
                  <a:pt x="13463" y="0"/>
                </a:lnTo>
                <a:lnTo>
                  <a:pt x="13463" y="712"/>
                </a:lnTo>
                <a:lnTo>
                  <a:pt x="0" y="712"/>
                </a:lnTo>
                <a:lnTo>
                  <a:pt x="0" y="0"/>
                </a:lnTo>
                <a:close/>
              </a:path>
            </a:pathLst>
          </a:custGeom>
          <a:solidFill>
            <a:srgbClr val="0d1f2f"/>
          </a:solidFill>
          <a:ln w="12600">
            <a:solidFill>
              <a:srgbClr val="0d1f2f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4206240" y="4800600"/>
            <a:ext cx="484632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800" spc="-1" strike="noStrike">
                <a:solidFill>
                  <a:srgbClr val="496f90"/>
                </a:solidFill>
                <a:latin typeface="Calibri"/>
                <a:ea typeface="Calibri"/>
              </a:rPr>
              <a:t>A principled, transparent, and updatable framework for risk under uncertainty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"/>
          <p:cNvSpPr/>
          <p:nvPr/>
        </p:nvSpPr>
        <p:spPr>
          <a:xfrm>
            <a:off x="0" y="0"/>
            <a:ext cx="164880" cy="5143680"/>
          </a:xfrm>
          <a:custGeom>
            <a:avLst/>
            <a:gdLst/>
            <a:ahLst/>
            <a:rect l="0" t="0" r="r" b="b"/>
            <a:pathLst>
              <a:path w="458" h="14288">
                <a:moveTo>
                  <a:pt x="0" y="0"/>
                </a:moveTo>
                <a:lnTo>
                  <a:pt x="458" y="0"/>
                </a:lnTo>
                <a:lnTo>
                  <a:pt x="458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solidFill>
            <a:srgbClr val="1c6ea4"/>
          </a:solidFill>
          <a:ln w="12600">
            <a:solidFill>
              <a:srgbClr val="1c6e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79adc8"/>
                </a:solidFill>
                <a:latin typeface="Calibri-Bold"/>
                <a:ea typeface="Calibri-Bold"/>
              </a:rPr>
              <a:t>APPENDIX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457200" y="1993320"/>
            <a:ext cx="822960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4200" spc="-1" strike="noStrike">
                <a:solidFill>
                  <a:srgbClr val="ffffff"/>
                </a:solidFill>
                <a:latin typeface="Cambria"/>
                <a:ea typeface="Cambria"/>
              </a:rPr>
              <a:t>Beta Distribution Plots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457200" y="2907720"/>
            <a:ext cx="685800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8abed8"/>
                </a:solidFill>
                <a:latin typeface="Calibri"/>
                <a:ea typeface="Calibri"/>
              </a:rPr>
              <a:t>Visual reference for distribution shapes, certainty intervals,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300" spc="-1" strike="noStrike">
                <a:solidFill>
                  <a:srgbClr val="8abed8"/>
                </a:solidFill>
                <a:latin typeface="Calibri"/>
                <a:ea typeface="Calibri"/>
              </a:rPr>
              <a:t>per-agency source priors, and combined risk posteriors.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0d1d2f"/>
          </a:solidFill>
          <a:ln w="12600">
            <a:solidFill>
              <a:srgbClr val="0d1d2f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495f6f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8229600" y="4928760"/>
            <a:ext cx="73152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700" spc="-1" strike="noStrike">
                <a:solidFill>
                  <a:srgbClr val="495f6f"/>
                </a:solidFill>
                <a:latin typeface="Calibri"/>
                <a:ea typeface="Calibri"/>
              </a:rPr>
              <a:t>Appendix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"/>
          <p:cNvSpPr/>
          <p:nvPr/>
        </p:nvSpPr>
        <p:spPr>
          <a:xfrm>
            <a:off x="0" y="0"/>
            <a:ext cx="9144360" cy="567360"/>
          </a:xfrm>
          <a:custGeom>
            <a:avLst/>
            <a:gdLst/>
            <a:ahLst/>
            <a:rect l="0" t="0" r="r" b="b"/>
            <a:pathLst>
              <a:path w="25401" h="1576">
                <a:moveTo>
                  <a:pt x="0" y="0"/>
                </a:moveTo>
                <a:lnTo>
                  <a:pt x="25401" y="0"/>
                </a:lnTo>
                <a:lnTo>
                  <a:pt x="25401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365760" y="0"/>
            <a:ext cx="685800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APPENDIX  ·  Beta Distribution — Effect of κ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6858000" y="0"/>
            <a:ext cx="202680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A-1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365760" y="676800"/>
            <a:ext cx="841248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0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All three curves share the same mean belief μ = 0.40. Only κ differs — controlling how tightly the distribution is concentrated around that belief. This plot directly reinforces slide 5.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0" name="" descr=""/>
          <p:cNvPicPr/>
          <p:nvPr/>
        </p:nvPicPr>
        <p:blipFill>
          <a:blip r:embed="rId1"/>
          <a:stretch/>
        </p:blipFill>
        <p:spPr>
          <a:xfrm>
            <a:off x="1097280" y="1060560"/>
            <a:ext cx="6949440" cy="3730680"/>
          </a:xfrm>
          <a:prstGeom prst="rect">
            <a:avLst/>
          </a:prstGeom>
          <a:ln w="0">
            <a:noFill/>
          </a:ln>
        </p:spPr>
      </p:pic>
      <p:sp>
        <p:nvSpPr>
          <p:cNvPr id="681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365760" y="4928760"/>
            <a:ext cx="64008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  ·  APPENDIX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"/>
          <p:cNvSpPr/>
          <p:nvPr/>
        </p:nvSpPr>
        <p:spPr>
          <a:xfrm>
            <a:off x="0" y="0"/>
            <a:ext cx="9144360" cy="567360"/>
          </a:xfrm>
          <a:custGeom>
            <a:avLst/>
            <a:gdLst/>
            <a:ahLst/>
            <a:rect l="0" t="0" r="r" b="b"/>
            <a:pathLst>
              <a:path w="25401" h="1576">
                <a:moveTo>
                  <a:pt x="0" y="0"/>
                </a:moveTo>
                <a:lnTo>
                  <a:pt x="25401" y="0"/>
                </a:lnTo>
                <a:lnTo>
                  <a:pt x="25401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365760" y="0"/>
            <a:ext cx="685800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APPENDIX  ·  Same μ, Different κ — Certainty Comparison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6858000" y="0"/>
            <a:ext cx="202680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A-2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365760" y="676800"/>
            <a:ext cx="841248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0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Two sources with identical μ = 0.65 produce dramatically different credible intervals. The 90% CI for the high-κ source is less than a quarter the width of the low-κ source — this is what certainty scoring captures.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7" name="" descr=""/>
          <p:cNvPicPr/>
          <p:nvPr/>
        </p:nvPicPr>
        <p:blipFill>
          <a:blip r:embed="rId1"/>
          <a:stretch/>
        </p:blipFill>
        <p:spPr>
          <a:xfrm>
            <a:off x="640080" y="1060560"/>
            <a:ext cx="7863840" cy="3730680"/>
          </a:xfrm>
          <a:prstGeom prst="rect">
            <a:avLst/>
          </a:prstGeom>
          <a:ln w="0">
            <a:noFill/>
          </a:ln>
        </p:spPr>
      </p:pic>
      <p:sp>
        <p:nvSpPr>
          <p:cNvPr id="688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365760" y="4928760"/>
            <a:ext cx="64008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  ·  APPENDIX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"/>
          <p:cNvSpPr/>
          <p:nvPr/>
        </p:nvSpPr>
        <p:spPr>
          <a:xfrm>
            <a:off x="0" y="0"/>
            <a:ext cx="9144360" cy="567360"/>
          </a:xfrm>
          <a:custGeom>
            <a:avLst/>
            <a:gdLst/>
            <a:ahLst/>
            <a:rect l="0" t="0" r="r" b="b"/>
            <a:pathLst>
              <a:path w="25401" h="1576">
                <a:moveTo>
                  <a:pt x="0" y="0"/>
                </a:moveTo>
                <a:lnTo>
                  <a:pt x="25401" y="0"/>
                </a:lnTo>
                <a:lnTo>
                  <a:pt x="25401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365760" y="0"/>
            <a:ext cx="685800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APPENDIX  ·  Per-Agency Source Priors — Same Transaction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6858000" y="0"/>
            <a:ext cx="202680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A-3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365760" y="676800"/>
            <a:ext cx="8412480" cy="68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0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Both agencies match the same two sources (S1 and S3) — but their μ and κ parameters differ dramatically. Agency 1 treats S1 as a strong, certain signal (μ=0.70, κ=80) and S3 as a solid secondary (μ=0.50, κ=50). Agency 2 has lower priors on both (S1: μ=0.50, κ=12; S3: μ=0.40, κ=8). Agency 2's wide, flat curves reflect genuine uncertainty — same evidence, very different confidence.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4" name="" descr=""/>
          <p:cNvPicPr/>
          <p:nvPr/>
        </p:nvPicPr>
        <p:blipFill>
          <a:blip r:embed="rId1"/>
          <a:stretch/>
        </p:blipFill>
        <p:spPr>
          <a:xfrm>
            <a:off x="640080" y="1060560"/>
            <a:ext cx="7863840" cy="3730680"/>
          </a:xfrm>
          <a:prstGeom prst="rect">
            <a:avLst/>
          </a:prstGeom>
          <a:ln w="0">
            <a:noFill/>
          </a:ln>
        </p:spPr>
      </p:pic>
      <p:sp>
        <p:nvSpPr>
          <p:cNvPr id="695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365760" y="4928760"/>
            <a:ext cx="64008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  ·  APPENDIX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"/>
          <p:cNvSpPr/>
          <p:nvPr/>
        </p:nvSpPr>
        <p:spPr>
          <a:xfrm>
            <a:off x="0" y="0"/>
            <a:ext cx="9144360" cy="567360"/>
          </a:xfrm>
          <a:custGeom>
            <a:avLst/>
            <a:gdLst/>
            <a:ahLst/>
            <a:rect l="0" t="0" r="r" b="b"/>
            <a:pathLst>
              <a:path w="25401" h="1576">
                <a:moveTo>
                  <a:pt x="0" y="0"/>
                </a:moveTo>
                <a:lnTo>
                  <a:pt x="25401" y="0"/>
                </a:lnTo>
                <a:lnTo>
                  <a:pt x="25401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365760" y="0"/>
            <a:ext cx="685800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APPENDIX  ·  Monte Carlo Combined Risk Posteriors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6858000" y="0"/>
            <a:ext cx="202680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  <a:ea typeface="Calibri"/>
              </a:rPr>
              <a:t>A-4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365760" y="676800"/>
            <a:ext cx="8412480" cy="534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000" spc="-1" strike="noStrike">
                <a:solidFill>
                  <a:srgbClr val="79736f"/>
                </a:solidFill>
                <a:latin typeface="Calibri-Italic"/>
                <a:ea typeface="Calibri-Italic"/>
              </a:rPr>
              <a:t>50,000 Monte Carlo samples per agency. Both agencies match exactly two sources (S1 and S3) — the only difference is μ and κ per source. The posteriors sit ~15 percentage points apart, showing how calibration alone drives materially different risk conclusions from identical evidence.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1" name="" descr=""/>
          <p:cNvPicPr/>
          <p:nvPr/>
        </p:nvPicPr>
        <p:blipFill>
          <a:blip r:embed="rId1"/>
          <a:stretch/>
        </p:blipFill>
        <p:spPr>
          <a:xfrm>
            <a:off x="640080" y="1115640"/>
            <a:ext cx="7863840" cy="3675960"/>
          </a:xfrm>
          <a:prstGeom prst="rect">
            <a:avLst/>
          </a:prstGeom>
          <a:ln w="0">
            <a:noFill/>
          </a:ln>
        </p:spPr>
      </p:pic>
      <p:sp>
        <p:nvSpPr>
          <p:cNvPr id="702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365760" y="4928760"/>
            <a:ext cx="64008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  ·  APPENDIX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200" spc="-1" strike="noStrike">
                <a:solidFill>
                  <a:srgbClr val="d5cec5"/>
                </a:solidFill>
                <a:latin typeface="Cambria"/>
                <a:ea typeface="Cambria"/>
              </a:rPr>
              <a:t>NOTES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200" spc="-1" strike="noStrike">
                <a:solidFill>
                  <a:srgbClr val="d5cec5"/>
                </a:solidFill>
                <a:latin typeface="Cambria"/>
                <a:ea typeface="Cambria"/>
              </a:rPr>
              <a:t>NOTES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200" spc="-1" strike="noStrike">
                <a:solidFill>
                  <a:srgbClr val="d5cec5"/>
                </a:solidFill>
                <a:latin typeface="Cambria"/>
                <a:ea typeface="Cambria"/>
              </a:rPr>
              <a:t>NOTES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365760" y="4928760"/>
            <a:ext cx="54864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  <a:ea typeface="Calibri"/>
              </a:rPr>
              <a:t>NOISY-OR BAYESIAN RISK MODEL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5"/>
        </a:solidFill>
      </p:bgPr>
    </p:bg>
    <p:spTree>
      <p:nvGrpSpPr>
        <p:cNvPr id="90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" name=""/>
          <p:cNvSpPr/>
          <p:nvPr/>
        </p:nvSpPr>
        <p:spPr>
          <a:xfrm>
            <a:off x="0" y="0"/>
            <a:ext cx="9144360" cy="567360"/>
          </a:xfrm>
          <a:custGeom>
            <a:avLst/>
            <a:gdLst/>
            <a:ahLst/>
            <a:rect l="0" t="0" r="r" b="b"/>
            <a:pathLst>
              <a:path w="25401" h="1576">
                <a:moveTo>
                  <a:pt x="0" y="0"/>
                </a:moveTo>
                <a:lnTo>
                  <a:pt x="25401" y="0"/>
                </a:lnTo>
                <a:lnTo>
                  <a:pt x="25401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2" name=""/>
          <p:cNvSpPr txBox="1"/>
          <p:nvPr/>
        </p:nvSpPr>
        <p:spPr>
          <a:xfrm>
            <a:off x="365760" y="0"/>
            <a:ext cx="685800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APPENDIX  ·  JSON Configuration — Storing and Sharing Parameters</a:t>
            </a:r>
          </a:p>
        </p:txBody>
      </p:sp>
      <p:sp>
        <p:nvSpPr>
          <p:cNvPr id="9013" name=""/>
          <p:cNvSpPr txBox="1"/>
          <p:nvPr/>
        </p:nvSpPr>
        <p:spPr>
          <a:xfrm>
            <a:off x="6858000" y="0"/>
            <a:ext cx="202680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en-US" sz="900" spc="-1" strike="noStrike">
                <a:solidFill>
                  <a:srgbClr val="79adc8"/>
                </a:solidFill>
                <a:latin typeface="Calibri"/>
              </a:rPr>
              <a:t>A-5</a:t>
            </a:r>
          </a:p>
        </p:txBody>
      </p:sp>
      <p:sp>
        <p:nvSpPr>
          <p:cNvPr id="9014" name=""/>
          <p:cNvSpPr txBox="1"/>
          <p:nvPr/>
        </p:nvSpPr>
        <p:spPr>
          <a:xfrm>
            <a:off x="365760" y="640000"/>
            <a:ext cx="8412480" cy="3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000" spc="-1" strike="noStrike">
                <a:solidFill>
                  <a:srgbClr val="79736f"/>
                </a:solidFill>
                <a:latin typeface="Calibri"/>
              </a:rPr>
              <a:t>The μ and κ parameters for every source can be stored as a simple JSON file — making them easy to version, audit, and update. Different agencies maintain separate configs for the same sources.</a:t>
            </a:r>
          </a:p>
        </p:txBody>
      </p:sp>
      <p:sp>
        <p:nvSpPr>
          <p:cNvPr id="9015" name=""/>
          <p:cNvSpPr txBox="1"/>
          <p:nvPr/>
        </p:nvSpPr>
        <p:spPr>
          <a:xfrm>
            <a:off x="365760" y="1080000"/>
            <a:ext cx="4000000" cy="3600000"/>
          </a:xfrm>
          <a:prstGeom prst="rect">
            <a:avLst/>
          </a:prstGeom>
          <a:solidFill>
            <a:srgbClr val="1a2d40"/>
          </a:solidFill>
          <a:ln w="18000">
            <a:solidFill>
              <a:srgbClr val="2a4d70"/>
            </a:solidFill>
          </a:ln>
        </p:spPr>
        <p:txBody>
          <a:bodyPr lIns="120000" rIns="120000" tIns="90000" bIns="90000" anchor="t">
            <a:noAutofit/>
          </a:bodyPr>
          <a:p>
            <a:r>
              <a:rPr b="1" lang="en-US" sz="950" spc="-1" strike="noStrike">
                <a:solidFill>
                  <a:srgbClr val="79adc8"/>
                </a:solidFill>
                <a:latin typeface="Consolas"/>
              </a:rPr>
              <a:t>agency_1_config.json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>{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 xml:space="preserve">  "agency": "Agency_1",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 xml:space="preserve">  "sources": {</a:t>
            </a:r>
          </a:p>
          <a:p>
            <a:r>
              <a:rPr b="0" lang="en-US" sz="850" spc="-1" strike="noStrike">
                <a:solidFill>
                  <a:srgbClr val="7ecfa0"/>
                </a:solidFill>
                <a:latin typeface="Consolas"/>
              </a:rPr>
              <a:t xml:space="preserve">    "S1": {"mu": 0.70, "kappa": 80},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 xml:space="preserve">    "S2": {"mu": 0.20, "kappa": 10},</a:t>
            </a:r>
          </a:p>
          <a:p>
            <a:r>
              <a:rPr b="0" lang="en-US" sz="850" spc="-1" strike="noStrike">
                <a:solidFill>
                  <a:srgbClr val="7ecfa0"/>
                </a:solidFill>
                <a:latin typeface="Consolas"/>
              </a:rPr>
              <a:t xml:space="preserve">    "S3": {"mu": 0.50, "kappa": 50},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 xml:space="preserve">    "S4": {"mu": 0.15, "kappa":  8},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 xml:space="preserve">    "S5": {"mu": 0.20, "kappa": 12}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 xml:space="preserve">  }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>}</a:t>
            </a:r>
          </a:p>
          <a:p>
            <a:endParaRPr b="0" lang="en-US" sz="850" spc="-1" strike="noStrike">
              <a:solidFill>
                <a:srgbClr val="ffffff"/>
              </a:solidFill>
              <a:latin typeface="Consolas"/>
            </a:endParaRPr>
          </a:p>
          <a:p>
            <a:r>
              <a:rPr b="0" lang="en-US" sz="800" spc="-1" strike="noStrike" i="1">
                <a:solidFill>
                  <a:srgbClr val="7ecfa0"/>
                </a:solidFill>
                <a:latin typeface="Consolas"/>
              </a:rPr>
              <a:t># S1 high weight, very certain</a:t>
            </a:r>
          </a:p>
          <a:p>
            <a:r>
              <a:rPr b="0" lang="en-US" sz="800" spc="-1" strike="noStrike" i="1">
                <a:solidFill>
                  <a:srgbClr val="7ecfa0"/>
                </a:solidFill>
                <a:latin typeface="Consolas"/>
              </a:rPr>
              <a:t># S3 strong secondary signal</a:t>
            </a:r>
          </a:p>
        </p:txBody>
      </p:sp>
      <p:sp>
        <p:nvSpPr>
          <p:cNvPr id="9016" name=""/>
          <p:cNvSpPr txBox="1"/>
          <p:nvPr/>
        </p:nvSpPr>
        <p:spPr>
          <a:xfrm>
            <a:off x="4780000" y="1080000"/>
            <a:ext cx="4000000" cy="3600000"/>
          </a:xfrm>
          <a:prstGeom prst="rect">
            <a:avLst/>
          </a:prstGeom>
          <a:solidFill>
            <a:srgbClr val="1a2d40"/>
          </a:solidFill>
          <a:ln w="18000">
            <a:solidFill>
              <a:srgbClr val="2a4d70"/>
            </a:solidFill>
          </a:ln>
        </p:spPr>
        <p:txBody>
          <a:bodyPr lIns="120000" rIns="120000" tIns="90000" bIns="90000" anchor="t">
            <a:noAutofit/>
          </a:bodyPr>
          <a:p>
            <a:r>
              <a:rPr b="1" lang="en-US" sz="950" spc="-1" strike="noStrike">
                <a:solidFill>
                  <a:srgbClr val="ffa060"/>
                </a:solidFill>
                <a:latin typeface="Consolas"/>
              </a:rPr>
              <a:t>agency_2_config.json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>{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 xml:space="preserve">  "agency": "Agency_2",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 xml:space="preserve">  "sources": {</a:t>
            </a:r>
          </a:p>
          <a:p>
            <a:r>
              <a:rPr b="0" lang="en-US" sz="850" spc="-1" strike="noStrike">
                <a:solidFill>
                  <a:srgbClr val="ffd080"/>
                </a:solidFill>
                <a:latin typeface="Consolas"/>
              </a:rPr>
              <a:t xml:space="preserve">    "S1": {"mu": 0.50, "kappa": 12},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 xml:space="preserve">    "S2": {"mu": 0.30, "kappa": 15},</a:t>
            </a:r>
          </a:p>
          <a:p>
            <a:r>
              <a:rPr b="0" lang="en-US" sz="850" spc="-1" strike="noStrike">
                <a:solidFill>
                  <a:srgbClr val="ffd080"/>
                </a:solidFill>
                <a:latin typeface="Consolas"/>
              </a:rPr>
              <a:t xml:space="preserve">    "S3": {"mu": 0.40, "kappa":  8},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 xml:space="preserve">    "S4": {"mu": 0.25, "kappa": 10},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 xml:space="preserve">    "S5": {"mu": 0.20, "kappa":  8}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 xml:space="preserve">  }</a:t>
            </a:r>
          </a:p>
          <a:p>
            <a:r>
              <a:rPr b="0" lang="en-US" sz="850" spc="-1" strike="noStrike">
                <a:solidFill>
                  <a:srgbClr val="a8c8e8"/>
                </a:solidFill>
                <a:latin typeface="Consolas"/>
              </a:rPr>
              <a:t>}</a:t>
            </a:r>
          </a:p>
          <a:p>
            <a:endParaRPr b="0" lang="en-US" sz="850" spc="-1" strike="noStrike">
              <a:solidFill>
                <a:srgbClr val="ffffff"/>
              </a:solidFill>
              <a:latin typeface="Consolas"/>
            </a:endParaRPr>
          </a:p>
          <a:p>
            <a:r>
              <a:rPr b="0" lang="en-US" sz="800" spc="-1" strike="noStrike" i="1">
                <a:solidFill>
                  <a:srgbClr val="ffd080"/>
                </a:solidFill>
                <a:latin typeface="Consolas"/>
              </a:rPr>
              <a:t># S1 lower weight, less certain</a:t>
            </a:r>
          </a:p>
          <a:p>
            <a:r>
              <a:rPr b="0" lang="en-US" sz="800" spc="-1" strike="noStrike" i="1">
                <a:solidFill>
                  <a:srgbClr val="ffd080"/>
                </a:solidFill>
                <a:latin typeface="Consolas"/>
              </a:rPr>
              <a:t># S3 weaker secondary signal</a:t>
            </a:r>
          </a:p>
        </p:txBody>
      </p:sp>
      <p:sp>
        <p:nvSpPr>
          <p:cNvPr id="9017" name=""/>
          <p:cNvSpPr txBox="1"/>
          <p:nvPr/>
        </p:nvSpPr>
        <p:spPr>
          <a:xfrm>
            <a:off x="365760" y="4730000"/>
            <a:ext cx="8400000" cy="1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0000" bIns="30000" anchor="ctr">
            <a:noAutofit/>
          </a:bodyPr>
          <a:p>
            <a:pPr algn="ctr"/>
            <a:r>
              <a:rPr b="0" i="1" lang="en-US" sz="900" spc="-1" strike="noStrike">
                <a:solidFill>
                  <a:srgbClr val="555577"/>
                </a:solidFill>
                <a:latin typeface="Calibri"/>
              </a:rPr>
              <a:t>Same 5 sources. Same engine. Each agency updates only their JSON — no code changes needed. Parameters version-control cleanly in git.</a:t>
            </a:r>
          </a:p>
        </p:txBody>
      </p:sp>
      <p:sp>
        <p:nvSpPr>
          <p:cNvPr id="9018" name=""/>
          <p:cNvSpPr/>
          <p:nvPr/>
        </p:nvSpPr>
        <p:spPr>
          <a:xfrm>
            <a:off x="0" y="4919400"/>
            <a:ext cx="9144360" cy="224280"/>
          </a:xfrm>
          <a:custGeom>
            <a:avLst/>
            <a:gdLst/>
            <a:ahLst/>
            <a:rect l="0" t="0" r="r" b="b"/>
            <a:pathLst>
              <a:path w="25401" h="623">
                <a:moveTo>
                  <a:pt x="0" y="0"/>
                </a:moveTo>
                <a:lnTo>
                  <a:pt x="25401" y="0"/>
                </a:lnTo>
                <a:lnTo>
                  <a:pt x="25401" y="623"/>
                </a:lnTo>
                <a:lnTo>
                  <a:pt x="0" y="623"/>
                </a:lnTo>
                <a:lnTo>
                  <a:pt x="0" y="0"/>
                </a:lnTo>
                <a:close/>
              </a:path>
            </a:pathLst>
          </a:custGeom>
          <a:solidFill>
            <a:srgbClr val="1a395b"/>
          </a:solidFill>
          <a:ln w="12600">
            <a:solidFill>
              <a:srgbClr val="1a395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9" name=""/>
          <p:cNvSpPr txBox="1"/>
          <p:nvPr/>
        </p:nvSpPr>
        <p:spPr>
          <a:xfrm>
            <a:off x="365760" y="4928760"/>
            <a:ext cx="6400800" cy="20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700" spc="-1" strike="noStrike">
                <a:solidFill>
                  <a:srgbClr val="79adc8"/>
                </a:solidFill>
                <a:latin typeface="Calibri"/>
              </a:rPr>
              <a:t>NOISY-OR BAYESIAN RISK MODEL  ·  APPENDIX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