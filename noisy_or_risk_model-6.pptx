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2468880" cy="5143500"/>
          </a:xfrm>
          <a:prstGeom prst="rect">
            <a:avLst/>
          </a:prstGeom>
          <a:solidFill>
            <a:srgbClr val="142D47"/>
          </a:solidFill>
          <a:ln w="12700">
            <a:solidFill>
              <a:srgbClr val="142D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86600" y="365760"/>
            <a:ext cx="256032" cy="25603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005840"/>
            <a:ext cx="347472" cy="34747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828800"/>
            <a:ext cx="164592" cy="164592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2560320"/>
            <a:ext cx="274320" cy="274320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3291840"/>
            <a:ext cx="201168" cy="201168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1D6FA4">
              <a:alpha val="30000"/>
            </a:srgbClr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77724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900" kern="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170432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Bayesian Risk Model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&amp; Statistical Framework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Evidence-Based Risk Quantification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35808"/>
            <a:ext cx="530352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8211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</a:t>
            </a:r>
            <a:pPr indent="0" marL="0">
              <a:buNone/>
            </a:pPr>
            <a:r>
              <a:rPr lang="en-US" sz="950" dirty="0">
                <a:solidFill>
                  <a:srgbClr val="8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Distributions  ·  Noisy-OR Combination  ·  Marginal Contribution  ·  Certainty Scoring  ·  Bayesian Updating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Probabilistic Risk Models?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estimates hide the most important information: how confident are we? A probabilistic model makes uncertainty a first-class citizen.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16642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inherently uncertain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is perfectly reliable. A match score, a model output, or an analyst judgment all carry noise. Encoding that noise explicitly leads to better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07008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07008"/>
            <a:ext cx="64008" cy="16642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2984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comes from many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18888" y="1591056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streams provide independent pathways to a risk outcome. A model that fuses them cleanly is more powerful than any single signal alone.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166420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Beliefs should update fluidly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2120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evidence arrives — a source fires, an expert revises a score — the combined risk estimate should shift automatically with a clear mathematical audit trail.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4160520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63240"/>
            <a:ext cx="64008" cy="1664208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as important as the estimate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18888" y="344728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80% risk with 95% certainty is a very different situation from an 80% risk with 40% certainty. Both numbers matter for decision-making.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Labeled Risk Categories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system assigns a hard-coded label (High / Moderate / Low) to each source. The combined risk is simply the worst label present — no math, no certainty, no differentiation.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61288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9808" y="1115568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17043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combined score is just the worst label — no aggregation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1408176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 A = High and Source B = Low, the result is High. Source B contributes nothing. Two sources that both say "Moderate" also produce "Moderate" — as if only one source exists. Independent evidence is discarded.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9808" y="1956816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1956816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01168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labels hide completely different sources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2249424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(almost always fires, very reliable) and Source B (rarely fires, analyst guessing) both labelled "High." The system treats them identically. There is no way to know which source to investigate first or trust more.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843784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2798064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2798064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85292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certainty — the label carries no confidence information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3090672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of "High" could reflect a strong, data-driven signal or a vague, uncertain hunch. The system provides no way to distinguish them. Two analysts looking at the same source could assign "High" for completely different reasons.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685032"/>
            <a:ext cx="292608" cy="29260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6850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9808" y="3639312"/>
            <a:ext cx="519379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39312"/>
            <a:ext cx="54864" cy="74980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694176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more sources cannot improve the score — only worsen it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14400" y="3931920"/>
            <a:ext cx="49194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current result is already "High," activating additional sources changes nothing — the result stays "High" regardless. The model cannot capture the intuition that more confirming evidence should increase confidence.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1078992"/>
            <a:ext cx="2788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99632" y="11521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label system works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14447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Each source has a fixed label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99632" y="1682496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682496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1682496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99632" y="2084832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208483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24928" y="208483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99632" y="2487168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487168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solidFill>
            <a:srgbClr val="FDF3E2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24928" y="248716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199632" y="2889504"/>
            <a:ext cx="1188720" cy="329184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889504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solidFill>
            <a:srgbClr val="EAF5EC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2889504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99632" y="3346704"/>
            <a:ext cx="2560320" cy="0"/>
          </a:xfrm>
          <a:prstGeom prst="line">
            <a:avLst/>
          </a:prstGeom>
          <a:noFill/>
          <a:ln w="9525">
            <a:solidFill>
              <a:srgbClr val="D5CE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4015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Result = worst label present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solidFill>
            <a:srgbClr val="FBEEE9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99632" y="36210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RISK = HIGH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199632" y="411480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contribute nothing.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them leaves the same result.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65760" y="4617720"/>
            <a:ext cx="8412480" cy="219456"/>
          </a:xfrm>
          <a:prstGeom prst="rect">
            <a:avLst/>
          </a:prstGeom>
          <a:solidFill>
            <a:srgbClr val="FBEEE9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17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system is not a risk model — it is a lookup table that ignores independent evidence, certainty, and combination logic.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Noisy-OR Model Fixes Each Failure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structural weakness of label-based systems is directly addressed by the Bayesian Noisy-OR model.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834640" cy="34747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0" y="1115568"/>
            <a:ext cx="2724912" cy="347472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65392" y="1115568"/>
            <a:ext cx="2029968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1155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System 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4612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58768" y="11155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01968" y="111556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53619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72768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= worst label only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B, C, D all ignored. Independent evidence from multiple sources is silently discarded.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53619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794760" y="1536192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1572768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contributes via Noisy-OR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 = 1−(1−p_A)(1−p_B)(1−p_C)(1−p_D). Each source adds coverage. None are ignored.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65976" y="1591056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A=HIGH, B=HIGH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C=MOD, D=LOW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C, D ignored)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7424928" y="1591056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635240" y="1591056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p_A=0.75, p_B=0.60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p_C=0.45, p_D=0.20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97.6% combined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sources count)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65760" y="2340864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377440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label, unknowable difference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on a reliable source looks identical to "High" on a vague, uncertain source. No way to tell them apart.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3408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94760" y="2340864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2377440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separates signal strength from certainty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High (κ=80) has Var(p)=0.003. A shaky High (κ=5) has Var(p)=0.047. Both visible, both actionable.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29400" y="2377440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65976" y="2395728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B =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(indistinguishable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label system)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24928" y="2395728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635240" y="2395728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μ=0.75, κ=80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93%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μ=0.75, κ=5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certainty 49%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314553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182112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certainty attached to any label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 carries no confidence information. The model gives no signal about whether to act immediately or investigate further.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14553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794760" y="3145536"/>
            <a:ext cx="272491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3182112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1 − (P₉₅ − P₅) is always 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credible interval = act. Wide interval = gather more evidence first. Built into every estimate.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29400" y="3182112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65976" y="3200400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(should we act now?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more data?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know.)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7424928" y="3200400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635240" y="3200400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82%, Cert: 91%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 now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78%, Cert: 44%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 first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365760" y="3950208"/>
            <a:ext cx="283464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986784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 cannot help — only hurt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result is "High," additional sources are irrelevant. Confirming evidence adds nothing to the score.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950208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794760" y="3950208"/>
            <a:ext cx="2724912" cy="749808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3986784"/>
            <a:ext cx="2542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source narrows uncertainty and raises combined risk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Activating a new source always updates the posterior — even if it confirms what we already know.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986784"/>
            <a:ext cx="1911096" cy="67665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65976" y="4005072"/>
            <a:ext cx="7498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+B=HIGH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+C=HIGH → HIGH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change ever)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7424928" y="4005072"/>
            <a:ext cx="2011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635240" y="4005072"/>
            <a:ext cx="859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p=0.75 → 75%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+p=0.60 → 90.0%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+p=0.45 → 94.5%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(each source adds)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365760" y="4791456"/>
            <a:ext cx="8412480" cy="18288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914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does not improve on the label system — it replaces a broken foundation with a principled one.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Beta Distribution — Modeling Uncertainty in a Probability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distribution over a probability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152144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source has an unknown true probability p of signaling a risk event. Rather than guess a single value, we model the full range of plausible values.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1828800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Beta distribution is defined on (0,1) — exactly the right range for a probability. It is parameterized by shape parameters α and β.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523744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505456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mean-concentration re-parameterization:  α = μκ  and  β = (1−μ)κ, where μ is our best estimate and κ controls how confident we are.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3182112"/>
            <a:ext cx="34930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lets us say: 'I think this source has about 40% risk probability, and I'm moderately confident' — all in two numbers.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758952"/>
            <a:ext cx="4114800" cy="4087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850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κ shapes the distribution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188720"/>
            <a:ext cx="128016" cy="65836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4336" y="1188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  (very confident)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74336" y="142646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tight peak near 40%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74336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probability mass concentrated near μ. Analyst is very sure.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73168" y="2194560"/>
            <a:ext cx="128016" cy="65836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4336" y="21945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  (moderate certainty)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74336" y="24323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spread 20%–65%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74336" y="26334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confidence but meaningful spread. Could range widely.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3200400"/>
            <a:ext cx="128016" cy="658368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74336" y="3200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3   (low certainty)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74336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= 0.40  →  nearly flat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639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information. Distribution is nearly uniform across (0,1).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73168" y="4315968"/>
            <a:ext cx="3858768" cy="38404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315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Var(p) = μ(1 − μ) / (κ + 1)   —   higher κ means lower variance, higher certainty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Parameterizing Belief: μ (Mean) and κ (Concentration)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4160520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 —  The Mean: What We Believe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30352" y="1335024"/>
            <a:ext cx="3858768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is our best-estimate of the source's risk probability.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Re-parameterization:
</a:t>
            </a:r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α = μ × κ
    β = (1 − μ) × κ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0.40  →  40% signal probability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μ = 0.70  →  70% signal probability
</a:t>
            </a:r>
            <a:pPr indent="0" marL="0">
              <a:buNone/>
            </a:pPr>
            <a:r>
              <a:rPr lang="en-US" sz="10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
</a:t>
            </a:r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μ to reflect your prior belief about how often this source signals risk. It is the center of mass of the Beta distribution — the value around which probability concentrates.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777240"/>
            <a:ext cx="41605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777240"/>
            <a:ext cx="4160520" cy="475488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77724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 —  Concentration: How Sure We 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36592" y="1335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596128" y="1362456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1362456"/>
            <a:ext cx="234086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1572768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flat — almost no information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36592" y="182880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856232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856232"/>
            <a:ext cx="877824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2066544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— some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36592" y="23225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30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96128" y="2350008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2350008"/>
            <a:ext cx="175564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2560320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peak — good confidence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36592" y="2816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80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96128" y="2843784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6128" y="2843784"/>
            <a:ext cx="248716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3054096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peak — high confidence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36592" y="3310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= 150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96128" y="3337560"/>
            <a:ext cx="2926080" cy="182880"/>
          </a:xfrm>
          <a:prstGeom prst="rect">
            <a:avLst/>
          </a:prstGeom>
          <a:solidFill>
            <a:srgbClr val="E8F4F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96128" y="3337560"/>
            <a:ext cx="2867558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3547872"/>
            <a:ext cx="3858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Near-certain — very tight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4041648"/>
            <a:ext cx="3858768" cy="658368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4059936"/>
            <a:ext cx="3675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∞: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collapses to a point mass at μ. Perfect certainty.
</a:t>
            </a:r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κ → 0: 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flattens to uniform. No information at all.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Independent Sources of Evidence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source represents a distinct, independent signal — a separate reason the risk event could occur.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011680" cy="402336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6032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15568"/>
            <a:ext cx="2011680" cy="402336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0.60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004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15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7004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certainty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75488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115568"/>
            <a:ext cx="201168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6460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0.40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6460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0" y="2340864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949440" y="1115568"/>
            <a:ext cx="2011680" cy="2450592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1115568"/>
            <a:ext cx="201168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15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059168" y="1609344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μ = 0.70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59168" y="192024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κ = 80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59168" y="233172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signal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certainty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12464"/>
            <a:ext cx="8412480" cy="102412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7856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 sources → each covers a separate portion of the risk space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" y="407822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independence means knowing Source 1 fired tells us nothing about whether Source 2 will fire. This is what makes the Noisy-OR multiplication valid: we can simply multiply the probability that each individual source fails to fire. Without independence, we would need to model correlations — vastly more complex.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Noisy-OR Combination Formula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768096"/>
            <a:ext cx="7315200" cy="1005840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841248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P(risk) = 1 − ∏ᵢ (1 − pᵢ)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that at least one independent source fires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Step-by-step derivation: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61288" y="2304288"/>
            <a:ext cx="384048" cy="384048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each source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3" name="Text 11"/>
          <p:cNvSpPr/>
          <p:nvPr/>
        </p:nvSpPr>
        <p:spPr>
          <a:xfrm>
            <a:off x="41148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 samples from Beta(α,β) for each source. Each sample pᵢ is one plausible value of that source's true risk probability.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55848" y="2304288"/>
            <a:ext cx="384048" cy="384048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non-firing prob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Text 16"/>
          <p:cNvSpPr/>
          <p:nvPr/>
        </p:nvSpPr>
        <p:spPr>
          <a:xfrm>
            <a:off x="260604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(1−pᵢ). This is the probability that source i does NOT fire on a single draw.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0408" y="2304288"/>
            <a:ext cx="384048" cy="384048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040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across sources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2496312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480060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independence: P(none fire) = ∏ᵢ(1−pᵢ). Multiplying survival probabilities gives the joint silence probability.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44968" y="2304288"/>
            <a:ext cx="384048" cy="384048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4496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9440" y="2798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 to get risk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95160" y="3090672"/>
            <a:ext cx="1938528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 = 1 − ∏ᵢ(1−pᵢ). This is the combined risk score — the probability the event occurs via any pathway.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Noisy-OR?  The Logic of Independent Risk Pathways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68096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intuition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sources: p₁ = 0.70,  p₂ = 0.20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99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P(none fire) = (1−0.70)(1−0.20)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= 0.30 × 0.80 = 0.24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fires)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1 − 0.24 = 0.76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 (76%) &gt; max source (70%)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6% = Source 2 covering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cases Source 1 misses: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0.30 × 0.20 = 0.06 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68096"/>
            <a:ext cx="4114800" cy="411480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59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1207008"/>
            <a:ext cx="38221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two independent alarm systems: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 fires with 70% probability when a threat exists.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B fires with 20% probability when a threat exists.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is safe only if BOTH alarms stay silent: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P(safe) = P(A silent) × P(B silent)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= 0.30 × 0.80 = 0.24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P(at least one alarm fires) = 1 − 0.24 = 76%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Noisy-OR: exactly the right model for combining independent risk signals that each provide a separate detection pathway.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with Different Individual Certainty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can have the same μ but very different κ — and their contribution to model certainty differs dramatically.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  (κ = 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B  (κ = 80)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1188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463040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4813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(mean risk)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3931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199632" y="148132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184708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188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847088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86537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 (concentration)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3931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186537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23113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1188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2231136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4942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parameter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3931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24942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615184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188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2615184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26334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parameter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3931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99632" y="263347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2999232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1188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999232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0175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 Var(p)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3931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9632" y="3017520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3383280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1188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3383280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credible interval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63931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– 92%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3401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 – 56%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3767328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1188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3767328"/>
            <a:ext cx="25146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363931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prior — almost uniform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199632" y="3785616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prior — near certainty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200400" cy="365760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1188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51376"/>
            <a:ext cx="2514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certainty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63931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P5–P95 band significantly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4169664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P5–P95 band narrow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Both sources have identical mean risk (50%) — but Source B contributes far more to model certainty because it has 16× lower variance.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 — What Is Actually Driving the Risk?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contribution answers: how much would overall risk fall if we removed this source from the model?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Δᵢ = P(risk | all sources) − P(risk | all sources except i)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marginal reduction in combined risk from removing source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3 active sources: p₁=0.40, p₂=0.60, p₃=0.70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B3A5C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67712"/>
            <a:ext cx="1463040" cy="502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92.8%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3891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2024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20240" y="2267712"/>
            <a:ext cx="146304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9339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+16.8%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9339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0" y="2267712"/>
            <a:ext cx="146304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54787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Δ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0" y="2267712"/>
            <a:ext cx="146304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510235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2267712"/>
            <a:ext cx="14630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7A7470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2267712"/>
            <a:ext cx="1463040" cy="50292"/>
          </a:xfrm>
          <a:prstGeom prst="rect">
            <a:avLst/>
          </a:prstGeom>
          <a:solidFill>
            <a:srgbClr val="7A7470"/>
          </a:solidFill>
          <a:ln w="12700">
            <a:solidFill>
              <a:srgbClr val="7A74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2340864"/>
            <a:ext cx="1316736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7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6656832" y="2788920"/>
            <a:ext cx="1316736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Δs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  (p=0.70)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346704"/>
            <a:ext cx="5029200" cy="182880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310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+16.8%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37856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  (p=0.60)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3822192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68880" y="3822192"/>
            <a:ext cx="3233057" cy="18288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7856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26110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  (p=0.40)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4297680"/>
            <a:ext cx="5029200" cy="182880"/>
          </a:xfrm>
          <a:prstGeom prst="rect">
            <a:avLst/>
          </a:prstGeom>
          <a:solidFill>
            <a:srgbClr val="EDE9E3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68880" y="4297680"/>
            <a:ext cx="1436914" cy="1828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42611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736592"/>
            <a:ext cx="8412480" cy="0"/>
          </a:xfrm>
          <a:prstGeom prst="rect">
            <a:avLst/>
          </a:prstGeom>
          <a:noFill/>
          <a:ln/>
        </p:spPr>
      </p:sp>
      <p:sp>
        <p:nvSpPr>
          <p:cNvPr id="43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— How Confident Are We in the Risk Score?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score without a certainty measure is incomplete. Certainty tells us how much to trust the estimate.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412480" cy="694944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52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= 1 − ( P₉₅ − P₅ 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145389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minus the width of the 90% credible interval of the combined posterior risk distribution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A3D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20240"/>
            <a:ext cx="2651760" cy="402336"/>
          </a:xfrm>
          <a:prstGeom prst="rect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Certainty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47%   P95: 55%   (κ=80)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Beta distributions. P5–P95 span only 8 percentage points. Analyst is very confident in the risk score.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920240"/>
            <a:ext cx="2651760" cy="402336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Certainty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38%   P95: 64%   (κ=15)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012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priors. Meaningful uncertainty — risk could range from 38% to 64%. Score is directionally reliable.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35040" y="1920240"/>
            <a:ext cx="265176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920240"/>
            <a:ext cx="2651760" cy="402336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23957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12648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P5: 11%   P95: 71%   (κ=3)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144768" y="3337560"/>
            <a:ext cx="24323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flat priors. Risk could be almost anywhere 11%–71%. More high-quality evidence is needed before acting.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Beliefs — Bayesian Reasoning in Practice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Noisy-OR model is designed to update. Every parameter change has a clear, traceable mathematical effect.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F1E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416052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a new source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2 sources active    P(risk) = 52%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4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3rd source added    P(risk) = 71%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37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independent detection pathway is confirmed. Combined risk rises because the new source covers cases the others miss.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16052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119786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κ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37176" y="1207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 confidence in a source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7176" y="15179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A: κ=8      Certainty: 61%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37176" y="17190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A: κ=60     Certainty: 87%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37176" y="197510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now believe our μ estimate more strongly. Mean risk barely changes, but the credible interval narrows — certainty jumps.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898648"/>
            <a:ext cx="416052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37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belief upward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Source B: μ=0.30   P(risk) = 44%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B: μ=0.55   P(risk) = 66%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intelligence suggests this source fires more often. Mean risk shifts accordingly. The posterior updates immediately.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2898648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2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898648"/>
            <a:ext cx="416052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01000" y="298094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SRC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37176" y="299008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Deactivate a ruled-out source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37176" y="33009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3 sources active    P(risk) = 71%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37176" y="3502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 Source removed      P(risk) = 52%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37176" y="3758184"/>
            <a:ext cx="3886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confirms this source is not active. Risk falls back to baseline — the model is fully reversible and consistent.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Model per Customer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underlying sources serve every customer. Only the parameters change — giving each customer a model calibrated to their specific risk appetite and operating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2860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5CEC5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70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SOURCES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" y="1645920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719072"/>
            <a:ext cx="256032" cy="25603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" y="170078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139696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2212848"/>
            <a:ext cx="256032" cy="256032"/>
          </a:xfrm>
          <a:prstGeom prst="ellipse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" y="219456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5488" y="2633472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" y="2706624"/>
            <a:ext cx="256032" cy="256032"/>
          </a:xfrm>
          <a:prstGeom prst="ellipse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06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268833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" y="3127248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200400"/>
            <a:ext cx="256032" cy="256032"/>
          </a:xfrm>
          <a:prstGeom prst="ellipse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" y="31821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" y="3621024"/>
            <a:ext cx="2066544" cy="402336"/>
          </a:xfrm>
          <a:prstGeom prst="rect">
            <a:avLst/>
          </a:prstGeom>
          <a:solidFill>
            <a:srgbClr val="F0EDE8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" y="3694176"/>
            <a:ext cx="256032" cy="256032"/>
          </a:xfrm>
          <a:prstGeom prst="ellipse">
            <a:avLst/>
          </a:prstGeom>
          <a:solidFill>
            <a:srgbClr val="2E7A3D"/>
          </a:solidFill>
          <a:ln w="12700">
            <a:solidFill>
              <a:srgbClr val="2E7A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3694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" y="367588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51760" y="2871216"/>
            <a:ext cx="475488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944368"/>
            <a:ext cx="530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21868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1012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4670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μ=0.70  κ=80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— high weight, very confident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31012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κ=30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65760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relevance, medium certainty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31012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65760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μ=0.60  κ=60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signal, high certainty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310128" y="3127248"/>
            <a:ext cx="2377440" cy="402336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4670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0" y="3218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90288" y="3218688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disabled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3310128" y="3621024"/>
            <a:ext cx="2377440" cy="402336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4670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657600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590288" y="371246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applicable — disabled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144768" y="1170432"/>
            <a:ext cx="2560320" cy="3401568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11704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2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36208" y="1645920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2784" y="1682496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83680" y="1664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μ=0.40  κ=15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583680" y="18470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weight for this customer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6236208" y="2139696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72784" y="2176272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583680" y="2157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μ=0.30  κ=10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583680" y="2340864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prior, low certainty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236208" y="2633472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72784" y="267004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8368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μ=0.45  κ=20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583680" y="283464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signal, lower certainty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236208" y="3127248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72784" y="3163824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583680" y="3145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μ=0.75  κ=80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583680" y="3328416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 — highest weight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236208" y="3621024"/>
            <a:ext cx="2377440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3657600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83680" y="3639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μ=0.65  κ=50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583680" y="38221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secondary signal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2651760" y="2871216"/>
            <a:ext cx="3493008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365760" y="4626864"/>
            <a:ext cx="8412480" cy="237744"/>
          </a:xfrm>
          <a:prstGeom prst="rect">
            <a:avLst/>
          </a:prstGeom>
          <a:solidFill>
            <a:srgbClr val="EBF4FA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02920" y="4626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sources. Same mathematical engine. Completely different risk profiles — each calibrated in minutes by adjusting μ and κ per source.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Transaction, Two Customer Profiles — Very Different Outcomes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680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transaction is evaluated against both customer configurations. The same underlying signal produces appropriately different risk scores.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4747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transaction fires S1 (velocity) + S3 (device) + S5 (network linkage). S2 and S4 are not matched.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1D6FA4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36192"/>
            <a:ext cx="411480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20700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072384" y="202996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  κ=80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20700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72384" y="2414016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μ=0.55  κ=30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20700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72384" y="279806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  κ=60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20700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072384" y="3182112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" y="3511296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20700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072384" y="3566160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" y="3950208"/>
            <a:ext cx="3895344" cy="658368"/>
          </a:xfrm>
          <a:prstGeom prst="rect">
            <a:avLst/>
          </a:prstGeom>
          <a:solidFill>
            <a:srgbClr val="EBF4FA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96849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1591056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91056" y="4206240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(1−0.70)(1−0.60) = 1 − 0.12 = 88%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63440" y="1536192"/>
            <a:ext cx="4114800" cy="3273552"/>
          </a:xfrm>
          <a:prstGeom prst="rect">
            <a:avLst/>
          </a:prstGeom>
          <a:solidFill>
            <a:srgbClr val="FFFFFF"/>
          </a:solidFill>
          <a:ln w="19050">
            <a:solidFill>
              <a:srgbClr val="0B7A82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536192"/>
            <a:ext cx="4114800" cy="365760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73168" y="1975104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50468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370064" y="2029968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  κ=15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2359152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239572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04688" y="241401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370064" y="2414016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μ=0.3  κ=10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73168" y="2743200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9744" y="27797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504688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3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370064" y="2798064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μ=0.45  κ=20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73168" y="3127248"/>
            <a:ext cx="3895344" cy="329184"/>
          </a:xfrm>
          <a:prstGeom prst="rect">
            <a:avLst/>
          </a:prstGeom>
          <a:solidFill>
            <a:srgbClr val="F5F2EE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9744" y="316382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504688" y="31821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4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70064" y="318211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μ=0.75  κ=80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773168" y="3511296"/>
            <a:ext cx="3895344" cy="329184"/>
          </a:xfrm>
          <a:prstGeom prst="rect">
            <a:avLst/>
          </a:prstGeom>
          <a:solidFill>
            <a:srgbClr val="EBF4FA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54787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5504688" y="356616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5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370064" y="356616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μ=0.65  κ=50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773168" y="3950208"/>
            <a:ext cx="3895344" cy="658368"/>
          </a:xfrm>
          <a:prstGeom prst="rect">
            <a:avLst/>
          </a:prstGeom>
          <a:solidFill>
            <a:srgbClr val="E8F7F7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3968496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60" name="Text 58"/>
          <p:cNvSpPr/>
          <p:nvPr/>
        </p:nvSpPr>
        <p:spPr>
          <a:xfrm>
            <a:off x="5888736" y="40050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Risk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888736" y="416966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(1−0.40)(1−0.45)(1−0.65) = 1 − 0.231 = 76.9%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lower (κ=15–50): wider credible interval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8412480" cy="310896"/>
          </a:xfrm>
          <a:prstGeom prst="rect">
            <a:avLst/>
          </a:prstGeom>
          <a:solidFill>
            <a:srgbClr val="F0EDE8"/>
          </a:solidFill>
          <a:ln w="12700">
            <a:solidFill>
              <a:srgbClr val="D5CEC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4626864"/>
            <a:ext cx="4114800" cy="310896"/>
          </a:xfrm>
          <a:prstGeom prst="rect">
            <a:avLst/>
          </a:prstGeom>
          <a:solidFill>
            <a:srgbClr val="EBF4FA"/>
          </a:solidFill>
          <a:ln w="9525">
            <a:solidFill>
              <a:srgbClr val="1D6FA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1: high certainty (κ=60–80 active sources) → narrow credible interval → confident to act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63440" y="4626864"/>
            <a:ext cx="4114800" cy="310896"/>
          </a:xfrm>
          <a:prstGeom prst="rect">
            <a:avLst/>
          </a:prstGeom>
          <a:solidFill>
            <a:srgbClr val="E8F7F7"/>
          </a:solidFill>
          <a:ln w="9525">
            <a:solidFill>
              <a:srgbClr val="0B7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73168" y="462686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2: lower certainty (κ=15–50) + S4 not matched (highest-weight source) → wider interval → investigate further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412480" y="49286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WORKS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3108960" cy="0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0078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68249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probability theory — not heuristics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08483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every parameter has a clear meaning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50545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48716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any number of independent 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89504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Uncertainty-aware: certainty is built into the output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291840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Bayesian: beliefs update cleanly with new evidence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94176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Auditable: Monte Carlo traces every inference step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4114800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409651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Interpretable: marginal contributions reveal drivers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517136"/>
            <a:ext cx="164592" cy="164592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98848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Bounded: output is always a valid probability in (0,1)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1D6FA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0" y="320040"/>
            <a:ext cx="2240280" cy="5029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425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6F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3425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per-source uncertainty using μ (mean belief) and κ (confidence). Var(p)=μ(1−μ)/(κ+1). Higher κ → tighter, more certain prior.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29400" y="32004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0B7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20040"/>
            <a:ext cx="2240280" cy="50292"/>
          </a:xfrm>
          <a:prstGeom prst="rect">
            <a:avLst/>
          </a:prstGeom>
          <a:solidFill>
            <a:srgbClr val="0B7A82"/>
          </a:solidFill>
          <a:ln w="12700">
            <a:solidFill>
              <a:srgbClr val="0B7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297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7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Noisy-OR Formula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57416" y="77724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P(risk)=1−∏(1−pᵢ). Combines independent sources via the 'at least one fires' logic. Mathematically exact under independence.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4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06240" y="2651760"/>
            <a:ext cx="2240280" cy="50292"/>
          </a:xfrm>
          <a:prstGeom prst="rect">
            <a:avLst/>
          </a:prstGeom>
          <a:solidFill>
            <a:srgbClr val="B84F1E"/>
          </a:solidFill>
          <a:ln w="12700">
            <a:solidFill>
              <a:srgbClr val="B84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425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4F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Marginal Contribution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33425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Δᵢ = overall risk minus risk without source i. Reveals which signal dominates and quantifies each source's unique contribution.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2651760"/>
            <a:ext cx="2240280" cy="2148840"/>
          </a:xfrm>
          <a:prstGeom prst="rect">
            <a:avLst/>
          </a:prstGeom>
          <a:solidFill>
            <a:srgbClr val="1A3554"/>
          </a:solidFill>
          <a:ln w="19050">
            <a:solidFill>
              <a:srgbClr val="B8721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2651760"/>
            <a:ext cx="2240280" cy="50292"/>
          </a:xfrm>
          <a:prstGeom prst="rect">
            <a:avLst/>
          </a:prstGeom>
          <a:solidFill>
            <a:srgbClr val="B87216"/>
          </a:solidFill>
          <a:ln w="12700">
            <a:solidFill>
              <a:srgbClr val="B872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276148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72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Certainty Score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57416" y="3108960"/>
            <a:ext cx="19933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 = 1−(P₉₅−P₅). Measures how tightly the posterior distribution is concentrated. Rises with κ, falls with uncertainty.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solidFill>
            <a:srgbClr val="0E2030"/>
          </a:solidFill>
          <a:ln w="12700">
            <a:solidFill>
              <a:srgbClr val="0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48006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principled, transparent, and updatable framework for risk under uncertainty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99339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Distribution Plots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90779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for distribution shapes, certainty intervals,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B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per-customer source priors, and combined risk posteriors.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E1E30"/>
          </a:solidFill>
          <a:ln w="12700">
            <a:solidFill>
              <a:srgbClr val="0E1E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229600" y="49286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Beta Distribution — Effect of 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curves share the same mean belief μ = 0.40. Only κ differs — controlling how tightly the distribution is concentrated around that belief. This plot directly reinforces slide 5.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60704"/>
            <a:ext cx="69494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Same μ, Different κ — Certainty Comparison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 with identical μ = 0.65 produce dramatically different credible intervals. The 90% CI for the high-κ source is less than a quarter the width of the low-κ source — this is what certainty scoring captures.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Per-Customer Source Priors — Same Transaction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panel shows the Beta distribution for every active source in the scenario transaction. Customer 1's two active sources are tight and high-valued. Customer 2's three active sources span a wider range with more uncertainty.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60704"/>
            <a:ext cx="7863840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 ·  Monte Carlo Combined Risk Posteriors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76656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7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Monte Carlo samples per customer. Each sample draws one pᵢ from every active source's Beta distribution, then applies the Noisy-OR formula. The resulting histogram is the full posterior over combined risk — P5, P50, and P95 are read directly from it.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15568"/>
            <a:ext cx="7863840" cy="36758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92861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  ·  APPENDIX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5CEC5">
                    <a:alpha val="4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2861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NOISY-OR BAYESIAN RISK MODEL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Noisy-OR Bayesian Risk Model</dc:title>
  <dc:subject>PptxGenJS Presentation</dc:subject>
  <dc:creator>Risk Analytics</dc:creator>
  <cp:lastModifiedBy>Risk Analytics</cp:lastModifiedBy>
  <cp:revision>1</cp:revision>
  <dcterms:created xsi:type="dcterms:W3CDTF">2026-02-28T12:10:31Z</dcterms:created>
  <dcterms:modified xsi:type="dcterms:W3CDTF">2026-02-28T12:10:31Z</dcterms:modified>
</cp:coreProperties>
</file>