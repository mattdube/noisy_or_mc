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0"/>
            <a:ext cx="2468880" cy="5143500"/>
          </a:xfrm>
          <a:prstGeom prst="rect">
            <a:avLst/>
          </a:prstGeom>
          <a:solidFill>
            <a:srgbClr val="142D47"/>
          </a:solidFill>
          <a:ln w="12700">
            <a:solidFill>
              <a:srgbClr val="142D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75120" y="0"/>
            <a:ext cx="50292" cy="5143500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086600" y="365760"/>
            <a:ext cx="256032" cy="256032"/>
          </a:xfrm>
          <a:prstGeom prst="ellipse">
            <a:avLst/>
          </a:prstGeom>
          <a:solidFill>
            <a:srgbClr val="1D6FA4">
              <a:alpha val="30000"/>
            </a:srgbClr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0" y="1005840"/>
            <a:ext cx="347472" cy="347472"/>
          </a:xfrm>
          <a:prstGeom prst="ellipse">
            <a:avLst/>
          </a:prstGeom>
          <a:solidFill>
            <a:srgbClr val="1D6FA4">
              <a:alpha val="30000"/>
            </a:srgbClr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23760" y="1828800"/>
            <a:ext cx="164592" cy="164592"/>
          </a:xfrm>
          <a:prstGeom prst="ellipse">
            <a:avLst/>
          </a:prstGeom>
          <a:solidFill>
            <a:srgbClr val="1D6FA4">
              <a:alpha val="30000"/>
            </a:srgbClr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0" y="2560320"/>
            <a:ext cx="274320" cy="274320"/>
          </a:xfrm>
          <a:prstGeom prst="ellipse">
            <a:avLst/>
          </a:prstGeom>
          <a:solidFill>
            <a:srgbClr val="1D6FA4">
              <a:alpha val="30000"/>
            </a:srgbClr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40880" y="3291840"/>
            <a:ext cx="201168" cy="201168"/>
          </a:xfrm>
          <a:prstGeom prst="ellipse">
            <a:avLst/>
          </a:prstGeom>
          <a:solidFill>
            <a:srgbClr val="1D6FA4">
              <a:alpha val="30000"/>
            </a:srgbClr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0" y="4023360"/>
            <a:ext cx="237744" cy="237744"/>
          </a:xfrm>
          <a:prstGeom prst="ellipse">
            <a:avLst/>
          </a:prstGeom>
          <a:solidFill>
            <a:srgbClr val="1D6FA4">
              <a:alpha val="30000"/>
            </a:srgbClr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777240"/>
            <a:ext cx="5852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900" kern="0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NOISY-OR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1170432"/>
            <a:ext cx="5852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Bayesian Risk Model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548640" y="224028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Mathematical &amp; Statistical Framework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8A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Evidence-Based Risk Quantification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035808"/>
            <a:ext cx="5303520" cy="0"/>
          </a:xfrm>
          <a:prstGeom prst="line">
            <a:avLst/>
          </a:prstGeom>
          <a:noFill/>
          <a:ln w="19050">
            <a:solidFill>
              <a:srgbClr val="1D6FA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182112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Topics: </a:t>
            </a:r>
            <a:pPr indent="0" marL="0">
              <a:buNone/>
            </a:pPr>
            <a:r>
              <a:rPr lang="en-US" sz="950" dirty="0">
                <a:solidFill>
                  <a:srgbClr val="8A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Distributions  ·  Noisy-OR Combination  ·  Marginal Contribution  ·  Certainty Scoring  ·  Bayesian Updating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48640" y="47091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slides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Probabilistic Risk Models?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estimates hide the most important information: how confident are we? A probabilistic model makes uncertainty a first-class citizen.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207008"/>
            <a:ext cx="4160520" cy="1664208"/>
          </a:xfrm>
          <a:prstGeom prst="rect">
            <a:avLst/>
          </a:prstGeom>
          <a:solidFill>
            <a:srgbClr val="FFFFFF"/>
          </a:solidFill>
          <a:ln w="9525">
            <a:solidFill>
              <a:srgbClr val="D5CEC5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07008"/>
            <a:ext cx="64008" cy="1664208"/>
          </a:xfrm>
          <a:prstGeom prst="rect">
            <a:avLst/>
          </a:prstGeom>
          <a:solidFill>
            <a:srgbClr val="B84F1E"/>
          </a:solidFill>
          <a:ln w="12700">
            <a:solidFill>
              <a:srgbClr val="B84F1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129844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84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is inherently uncertain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21208" y="1591056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signal is perfectly reliable. A match score, a model output, or an analyst judgment all carry noise. Encoding that noise explicitly leads to better decisions.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1207008"/>
            <a:ext cx="4160520" cy="1664208"/>
          </a:xfrm>
          <a:prstGeom prst="rect">
            <a:avLst/>
          </a:prstGeom>
          <a:solidFill>
            <a:srgbClr val="FFFFFF"/>
          </a:solidFill>
          <a:ln w="9525">
            <a:solidFill>
              <a:srgbClr val="D5CEC5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207008"/>
            <a:ext cx="64008" cy="1664208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18888" y="129844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6F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 comes from many sources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818888" y="1591056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data streams provide independent pathways to a risk outcome. A model that fuses them cleanly is more powerful than any single signal alone.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3063240"/>
            <a:ext cx="4160520" cy="1664208"/>
          </a:xfrm>
          <a:prstGeom prst="rect">
            <a:avLst/>
          </a:prstGeom>
          <a:solidFill>
            <a:srgbClr val="FFFFFF"/>
          </a:solidFill>
          <a:ln w="9525">
            <a:solidFill>
              <a:srgbClr val="D5CEC5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063240"/>
            <a:ext cx="64008" cy="1664208"/>
          </a:xfrm>
          <a:prstGeom prst="rect">
            <a:avLst/>
          </a:prstGeom>
          <a:solidFill>
            <a:srgbClr val="0B7A82"/>
          </a:solidFill>
          <a:ln w="12700">
            <a:solidFill>
              <a:srgbClr val="0B7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" y="31546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7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Beliefs should update fluidly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21208" y="3447288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new evidence arrives — a source fires, an expert revises a score — the combined risk estimate should shift automatically with a clear mathematical audit trail.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63440" y="3063240"/>
            <a:ext cx="4160520" cy="1664208"/>
          </a:xfrm>
          <a:prstGeom prst="rect">
            <a:avLst/>
          </a:prstGeom>
          <a:solidFill>
            <a:srgbClr val="FFFFFF"/>
          </a:solidFill>
          <a:ln w="9525">
            <a:solidFill>
              <a:srgbClr val="D5CEC5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3063240"/>
            <a:ext cx="64008" cy="1664208"/>
          </a:xfrm>
          <a:prstGeom prst="rect">
            <a:avLst/>
          </a:prstGeom>
          <a:solidFill>
            <a:srgbClr val="B87216"/>
          </a:solidFill>
          <a:ln w="12700">
            <a:solidFill>
              <a:srgbClr val="B8721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18888" y="31546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872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Confidence is as important as the estimate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18888" y="3447288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80% risk with 95% certainty is a very different situation from an 80% risk with 40% certainty. Both numbers matter for decision-making.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92861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NOISY-OR BAYESIAN RISK MODEL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8412480" y="49286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with Labeled Risk Categories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768096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current system assigns a hard-coded label (High / Moderate / Low) to each source. The combined risk is simply the worst label present — no math, no certainty, no differentiation.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161288"/>
            <a:ext cx="292608" cy="292608"/>
          </a:xfrm>
          <a:prstGeom prst="ellipse">
            <a:avLst/>
          </a:prstGeom>
          <a:solidFill>
            <a:srgbClr val="B84F1E"/>
          </a:solidFill>
          <a:ln w="12700">
            <a:solidFill>
              <a:srgbClr val="B84F1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612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49808" y="1115568"/>
            <a:ext cx="5193792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5CEC5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49808" y="1115568"/>
            <a:ext cx="54864" cy="749808"/>
          </a:xfrm>
          <a:prstGeom prst="rect">
            <a:avLst/>
          </a:prstGeom>
          <a:solidFill>
            <a:srgbClr val="B84F1E"/>
          </a:solidFill>
          <a:ln w="12700">
            <a:solidFill>
              <a:srgbClr val="B84F1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170432"/>
            <a:ext cx="4919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84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combined score is just the worst label — no aggregation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14400" y="1408176"/>
            <a:ext cx="4919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Source A = High and Source B = Low, the result is High. Source B contributes nothing. Two sources that both say "Moderate" also produce "Moderate" — as if only one source exists. Independent evidence is discarded.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65760" y="2002536"/>
            <a:ext cx="292608" cy="292608"/>
          </a:xfrm>
          <a:prstGeom prst="ellipse">
            <a:avLst/>
          </a:prstGeom>
          <a:solidFill>
            <a:srgbClr val="B84F1E"/>
          </a:solidFill>
          <a:ln w="12700">
            <a:solidFill>
              <a:srgbClr val="B84F1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0025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49808" y="1956816"/>
            <a:ext cx="5193792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5CEC5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49808" y="1956816"/>
            <a:ext cx="54864" cy="749808"/>
          </a:xfrm>
          <a:prstGeom prst="rect">
            <a:avLst/>
          </a:prstGeom>
          <a:solidFill>
            <a:srgbClr val="B84F1E"/>
          </a:solidFill>
          <a:ln w="12700">
            <a:solidFill>
              <a:srgbClr val="B84F1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2011680"/>
            <a:ext cx="4919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84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Identical labels hide completely different sources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14400" y="2249424"/>
            <a:ext cx="4919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A (almost always fires, very reliable) and Source B (rarely fires, analyst guessing) both labelled "High." The system treats them identically. There is no way to know which source to investigate first or trust more.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65760" y="2843784"/>
            <a:ext cx="292608" cy="292608"/>
          </a:xfrm>
          <a:prstGeom prst="ellipse">
            <a:avLst/>
          </a:prstGeom>
          <a:solidFill>
            <a:srgbClr val="B84F1E"/>
          </a:solidFill>
          <a:ln w="12700">
            <a:solidFill>
              <a:srgbClr val="B84F1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8437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49808" y="2798064"/>
            <a:ext cx="5193792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5CEC5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49808" y="2798064"/>
            <a:ext cx="54864" cy="749808"/>
          </a:xfrm>
          <a:prstGeom prst="rect">
            <a:avLst/>
          </a:prstGeom>
          <a:solidFill>
            <a:srgbClr val="B84F1E"/>
          </a:solidFill>
          <a:ln w="12700">
            <a:solidFill>
              <a:srgbClr val="B84F1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2852928"/>
            <a:ext cx="4919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84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certainty — the label carries no confidence information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914400" y="3090672"/>
            <a:ext cx="4919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label of "High" could reflect a strong, data-driven signal or a vague, uncertain hunch. The system provides no way to distinguish them. Two analysts looking at the same source could assign "High" for completely different reasons.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685032"/>
            <a:ext cx="292608" cy="292608"/>
          </a:xfrm>
          <a:prstGeom prst="ellipse">
            <a:avLst/>
          </a:prstGeom>
          <a:solidFill>
            <a:srgbClr val="B84F1E"/>
          </a:solidFill>
          <a:ln w="12700">
            <a:solidFill>
              <a:srgbClr val="B84F1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6850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49808" y="3639312"/>
            <a:ext cx="5193792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5CEC5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49808" y="3639312"/>
            <a:ext cx="54864" cy="749808"/>
          </a:xfrm>
          <a:prstGeom prst="rect">
            <a:avLst/>
          </a:prstGeom>
          <a:solidFill>
            <a:srgbClr val="B84F1E"/>
          </a:solidFill>
          <a:ln w="12700">
            <a:solidFill>
              <a:srgbClr val="B84F1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3694176"/>
            <a:ext cx="4919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84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Adding more sources cannot improve the score — only worsen it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914400" y="3931920"/>
            <a:ext cx="4919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current result is already "High," activating additional sources changes nothing — the result stays "High" regardless. The model cannot capture the intuition that more confirming evidence should increase confidence.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080760" y="1078992"/>
            <a:ext cx="2788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CEC5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9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199632" y="115214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label system works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199632" y="144475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Each source has a fixed label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199632" y="1682496"/>
            <a:ext cx="1188720" cy="329184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36208" y="1682496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A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7424928" y="1682496"/>
            <a:ext cx="1335024" cy="329184"/>
          </a:xfrm>
          <a:prstGeom prst="rect">
            <a:avLst/>
          </a:prstGeom>
          <a:solidFill>
            <a:srgbClr val="FBEEE9"/>
          </a:solidFill>
          <a:ln w="12700">
            <a:solidFill>
              <a:srgbClr val="B84F1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24928" y="1682496"/>
            <a:ext cx="1335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84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199632" y="2084832"/>
            <a:ext cx="1188720" cy="329184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36208" y="2084832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B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7424928" y="2084832"/>
            <a:ext cx="1335024" cy="329184"/>
          </a:xfrm>
          <a:prstGeom prst="rect">
            <a:avLst/>
          </a:prstGeom>
          <a:solidFill>
            <a:srgbClr val="FBEEE9"/>
          </a:solidFill>
          <a:ln w="12700">
            <a:solidFill>
              <a:srgbClr val="B84F1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424928" y="2084832"/>
            <a:ext cx="1335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84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199632" y="2487168"/>
            <a:ext cx="1188720" cy="329184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36208" y="2487168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7424928" y="2487168"/>
            <a:ext cx="1335024" cy="329184"/>
          </a:xfrm>
          <a:prstGeom prst="rect">
            <a:avLst/>
          </a:prstGeom>
          <a:solidFill>
            <a:srgbClr val="FDF3E2"/>
          </a:solidFill>
          <a:ln w="12700">
            <a:solidFill>
              <a:srgbClr val="B8721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24928" y="2487168"/>
            <a:ext cx="1335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872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MODERATE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199632" y="2889504"/>
            <a:ext cx="1188720" cy="329184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36208" y="2889504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7424928" y="2889504"/>
            <a:ext cx="1335024" cy="329184"/>
          </a:xfrm>
          <a:prstGeom prst="rect">
            <a:avLst/>
          </a:prstGeom>
          <a:solidFill>
            <a:srgbClr val="EAF5EC"/>
          </a:solidFill>
          <a:ln w="12700">
            <a:solidFill>
              <a:srgbClr val="2E7A3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424928" y="2889504"/>
            <a:ext cx="1335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199632" y="3346704"/>
            <a:ext cx="2560320" cy="0"/>
          </a:xfrm>
          <a:prstGeom prst="line">
            <a:avLst/>
          </a:prstGeom>
          <a:noFill/>
          <a:ln w="9525">
            <a:solidFill>
              <a:srgbClr val="D5CEC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199632" y="340156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Result = worst label present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6199632" y="3621024"/>
            <a:ext cx="2560320" cy="438912"/>
          </a:xfrm>
          <a:prstGeom prst="rect">
            <a:avLst/>
          </a:prstGeom>
          <a:solidFill>
            <a:srgbClr val="FBEEE9"/>
          </a:solidFill>
          <a:ln w="19050">
            <a:solidFill>
              <a:srgbClr val="B84F1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199632" y="3621024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4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COMBINED RISK = HIGH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199632" y="411480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B, C, D contribute nothing.</a:t>
            </a:r>
            <a:endParaRPr lang="en-US" sz="750" dirty="0"/>
          </a:p>
          <a:p>
            <a:pPr algn="ctr" indent="0" marL="0">
              <a:buNone/>
            </a:pPr>
            <a:r>
              <a:rPr lang="en-US" sz="75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them leaves the same result.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365760" y="4617720"/>
            <a:ext cx="8412480" cy="219456"/>
          </a:xfrm>
          <a:prstGeom prst="rect">
            <a:avLst/>
          </a:prstGeom>
          <a:solidFill>
            <a:srgbClr val="FBEEE9"/>
          </a:solidFill>
          <a:ln w="12700">
            <a:solidFill>
              <a:srgbClr val="B84F1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02920" y="46177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label system is not a risk model — it is a lookup table that ignores independent evidence, certainty, and combination logic.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65760" y="492861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NOISY-OR BAYESIAN RISK MODEL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8412480" y="49286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Noisy-OR Model Fixes Each Failure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76809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structural weakness of label-based systems is directly addressed by the Bayesian Noisy-OR model.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2834640" cy="347472"/>
          </a:xfrm>
          <a:prstGeom prst="rect">
            <a:avLst/>
          </a:prstGeom>
          <a:solidFill>
            <a:srgbClr val="B84F1E"/>
          </a:solidFill>
          <a:ln w="12700">
            <a:solidFill>
              <a:srgbClr val="B84F1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46120" y="1115568"/>
            <a:ext cx="502920" cy="34747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94760" y="1115568"/>
            <a:ext cx="2724912" cy="347472"/>
          </a:xfrm>
          <a:prstGeom prst="rect">
            <a:avLst/>
          </a:prstGeom>
          <a:solidFill>
            <a:srgbClr val="2E7A3D"/>
          </a:solidFill>
          <a:ln w="12700">
            <a:solidFill>
              <a:srgbClr val="2E7A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65392" y="1115568"/>
            <a:ext cx="2029968" cy="347472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11556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Label System Failure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46120" y="111556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858768" y="1115568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Noisy-OR Solution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601968" y="1115568"/>
            <a:ext cx="1956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1536192"/>
            <a:ext cx="2834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572768"/>
            <a:ext cx="267004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= worst label only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B, C, D all ignored. Independent evidence from multiple sources is silently discarded.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246120" y="1536192"/>
            <a:ext cx="502920" cy="749808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46120" y="1536192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3794760" y="1536192"/>
            <a:ext cx="272491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86200" y="1572768"/>
            <a:ext cx="25420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2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source contributes via Noisy-OR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P(risk) = 1−(1−p_A)(1−p_B)(1−p_C)(1−p_D). Each source adds coverage. None are ignored.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629400" y="1572768"/>
            <a:ext cx="1911096" cy="676656"/>
          </a:xfrm>
          <a:prstGeom prst="rect">
            <a:avLst/>
          </a:prstGeom>
          <a:solidFill>
            <a:srgbClr val="EBF4FA"/>
          </a:solidFill>
          <a:ln w="9525">
            <a:solidFill>
              <a:srgbClr val="1D6FA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65976" y="1591056"/>
            <a:ext cx="7498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A=HIGH, B=HIGH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C=MOD, D=LOW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⟹ result: HIGH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(B, C, D ignored)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7424928" y="1591056"/>
            <a:ext cx="2011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7635240" y="1591056"/>
            <a:ext cx="8595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2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p_A=0.75, p_B=0.60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2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p_C=0.45, p_D=0.20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2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⟹ 97.6% combined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2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(all sources count)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365760" y="2340864"/>
            <a:ext cx="2834640" cy="749808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2377440"/>
            <a:ext cx="267004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label, unknowable difference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"High" on a reliable source looks identical to "High" on a vague, uncertain source. No way to tell them apart.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246120" y="2340864"/>
            <a:ext cx="502920" cy="749808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46120" y="2340864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3794760" y="2340864"/>
            <a:ext cx="2724912" cy="749808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86200" y="2377440"/>
            <a:ext cx="25420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2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 separates signal strength from certainty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confident High (κ=80) has Var(p)=0.003. A shaky High (κ=5) has Var(p)=0.047. Both visible, both actionable.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629400" y="2377440"/>
            <a:ext cx="1911096" cy="676656"/>
          </a:xfrm>
          <a:prstGeom prst="rect">
            <a:avLst/>
          </a:prstGeom>
          <a:solidFill>
            <a:srgbClr val="EBF4FA"/>
          </a:solidFill>
          <a:ln w="9525">
            <a:solidFill>
              <a:srgbClr val="1D6FA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65976" y="2395728"/>
            <a:ext cx="7498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A = HIGH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B = HIGH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(indistinguishable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label system)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7424928" y="2395728"/>
            <a:ext cx="2011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7635240" y="2395728"/>
            <a:ext cx="8595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2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μ=0.75, κ=80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2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certainty 93%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2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B: μ=0.75, κ=5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2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certainty 49%</a:t>
            </a:r>
            <a:endParaRPr lang="en-US" sz="650" dirty="0"/>
          </a:p>
        </p:txBody>
      </p:sp>
      <p:sp>
        <p:nvSpPr>
          <p:cNvPr id="34" name="Shape 32"/>
          <p:cNvSpPr/>
          <p:nvPr/>
        </p:nvSpPr>
        <p:spPr>
          <a:xfrm>
            <a:off x="365760" y="3145536"/>
            <a:ext cx="2834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3182112"/>
            <a:ext cx="267004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certainty attached to any label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"High" carries no confidence information. The model gives no signal about whether to act immediately or investigate further.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246120" y="3145536"/>
            <a:ext cx="502920" cy="749808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46120" y="3145536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3794760" y="3145536"/>
            <a:ext cx="272491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886200" y="3182112"/>
            <a:ext cx="25420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2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Certainty = 1 − (P₉₅ − P₅) is always available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credible interval = act. Wide interval = gather more evidence first. Built into every estimate.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629400" y="3182112"/>
            <a:ext cx="1911096" cy="676656"/>
          </a:xfrm>
          <a:prstGeom prst="rect">
            <a:avLst/>
          </a:prstGeom>
          <a:solidFill>
            <a:srgbClr val="EBF4FA"/>
          </a:solidFill>
          <a:ln w="9525">
            <a:solidFill>
              <a:srgbClr val="1D6FA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65976" y="3200400"/>
            <a:ext cx="7498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HIGH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(should we act now?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more data?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to know.)</a:t>
            </a:r>
            <a:endParaRPr lang="en-US" sz="650" dirty="0"/>
          </a:p>
        </p:txBody>
      </p:sp>
      <p:sp>
        <p:nvSpPr>
          <p:cNvPr id="42" name="Text 40"/>
          <p:cNvSpPr/>
          <p:nvPr/>
        </p:nvSpPr>
        <p:spPr>
          <a:xfrm>
            <a:off x="7424928" y="3200400"/>
            <a:ext cx="2011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7635240" y="3200400"/>
            <a:ext cx="8595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2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82%, Cert: 91%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2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act now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2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78%, Cert: 44%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2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investigate first</a:t>
            </a:r>
            <a:endParaRPr lang="en-US" sz="650" dirty="0"/>
          </a:p>
        </p:txBody>
      </p:sp>
      <p:sp>
        <p:nvSpPr>
          <p:cNvPr id="44" name="Shape 42"/>
          <p:cNvSpPr/>
          <p:nvPr/>
        </p:nvSpPr>
        <p:spPr>
          <a:xfrm>
            <a:off x="365760" y="3950208"/>
            <a:ext cx="2834640" cy="749808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3986784"/>
            <a:ext cx="267004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sources cannot help — only hurt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the result is "High," additional sources are irrelevant. Confirming evidence adds nothing to the score.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3246120" y="3950208"/>
            <a:ext cx="502920" cy="749808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46120" y="3950208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3794760" y="3950208"/>
            <a:ext cx="2724912" cy="749808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886200" y="3986784"/>
            <a:ext cx="25420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2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new source narrows uncertainty and raises combined risk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Activating a new source always updates the posterior — even if it confirms what we already know.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6629400" y="3986784"/>
            <a:ext cx="1911096" cy="676656"/>
          </a:xfrm>
          <a:prstGeom prst="rect">
            <a:avLst/>
          </a:prstGeom>
          <a:solidFill>
            <a:srgbClr val="EBF4FA"/>
          </a:solidFill>
          <a:ln w="9525">
            <a:solidFill>
              <a:srgbClr val="1D6FA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665976" y="4005072"/>
            <a:ext cx="7498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A=HIGH → HIGH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+B=HIGH → HIGH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+C=HIGH → HIGH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 change ever)</a:t>
            </a:r>
            <a:endParaRPr lang="en-US" sz="650" dirty="0"/>
          </a:p>
        </p:txBody>
      </p:sp>
      <p:sp>
        <p:nvSpPr>
          <p:cNvPr id="52" name="Text 50"/>
          <p:cNvSpPr/>
          <p:nvPr/>
        </p:nvSpPr>
        <p:spPr>
          <a:xfrm>
            <a:off x="7424928" y="4005072"/>
            <a:ext cx="2011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7635240" y="4005072"/>
            <a:ext cx="8595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2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p=0.75 → 75%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2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+p=0.60 → 90.0%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2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+p=0.45 → 94.5%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2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(each source adds)</a:t>
            </a:r>
            <a:endParaRPr lang="en-US" sz="650" dirty="0"/>
          </a:p>
        </p:txBody>
      </p:sp>
      <p:sp>
        <p:nvSpPr>
          <p:cNvPr id="54" name="Shape 52"/>
          <p:cNvSpPr/>
          <p:nvPr/>
        </p:nvSpPr>
        <p:spPr>
          <a:xfrm>
            <a:off x="365760" y="4791456"/>
            <a:ext cx="8412480" cy="182880"/>
          </a:xfrm>
          <a:prstGeom prst="rect">
            <a:avLst/>
          </a:prstGeom>
          <a:solidFill>
            <a:srgbClr val="EBF4FA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02920" y="479145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Noisy-OR model does not improve on the label system — it replaces a broken foundation with a principled one.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65760" y="492861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NOISY-OR BAYESIAN RISK MODEL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8412480" y="49286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Beta Distribution — Modeling Uncertainty in a Probability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79552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distribution over a probability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384048" cy="384048"/>
          </a:xfrm>
          <a:prstGeom prst="ellipse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70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" y="1152144"/>
            <a:ext cx="34930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risk source has an unknown true probability p of signaling a risk event. Rather than guess a single value, we model the full range of plausible values.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1847088"/>
            <a:ext cx="384048" cy="384048"/>
          </a:xfrm>
          <a:prstGeom prst="ellipse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847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41248" y="1828800"/>
            <a:ext cx="34930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Beta distribution is defined on (0,1) — exactly the right range for a probability. It is parameterized by shape parameters α and β.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2523744"/>
            <a:ext cx="384048" cy="384048"/>
          </a:xfrm>
          <a:prstGeom prst="ellipse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523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41248" y="2505456"/>
            <a:ext cx="34930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 a mean-concentration re-parameterization:  α = μκ  and  β = (1−μ)κ, where μ is our best estimate and κ controls how confident we are.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3200400"/>
            <a:ext cx="384048" cy="384048"/>
          </a:xfrm>
          <a:prstGeom prst="ellipse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200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41248" y="3182112"/>
            <a:ext cx="34930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lets us say: 'I think this source has about 40% risk probability, and I'm moderately confident' — all in two numbers.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63440" y="758952"/>
            <a:ext cx="4114800" cy="4087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CEC5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9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00600" y="8503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κ shapes the distribution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73168" y="1188720"/>
            <a:ext cx="128016" cy="658368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74336" y="118872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6F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κ = 80  (very confident)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974336" y="142646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 = 0.40  →  tight peak near 40%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974336" y="162763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all probability mass concentrated near μ. Analyst is very sure.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73168" y="2194560"/>
            <a:ext cx="128016" cy="658368"/>
          </a:xfrm>
          <a:prstGeom prst="rect">
            <a:avLst/>
          </a:prstGeom>
          <a:solidFill>
            <a:srgbClr val="0B7A82"/>
          </a:solidFill>
          <a:ln w="12700">
            <a:solidFill>
              <a:srgbClr val="0B7A8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74336" y="219456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7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κ = 15  (moderate certainty)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974336" y="243230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 = 0.40  →  spread 20%–65%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974336" y="263347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Reasonable confidence but meaningful spread. Could range widely.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73168" y="3200400"/>
            <a:ext cx="128016" cy="658368"/>
          </a:xfrm>
          <a:prstGeom prst="rect">
            <a:avLst/>
          </a:prstGeom>
          <a:solidFill>
            <a:srgbClr val="B84F1E"/>
          </a:solidFill>
          <a:ln w="12700">
            <a:solidFill>
              <a:srgbClr val="B84F1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74336" y="320040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84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κ = 3   (low certainty)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974336" y="343814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 = 0.40  →  nearly flat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974336" y="363931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information. Distribution is nearly uniform across (0,1).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73168" y="4315968"/>
            <a:ext cx="3858768" cy="384048"/>
          </a:xfrm>
          <a:prstGeom prst="rect">
            <a:avLst/>
          </a:prstGeom>
          <a:solidFill>
            <a:srgbClr val="EBF4FA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28032" y="431596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Var(p) = μ(1 − μ) / (κ + 1)   —   higher κ means lower variance, higher certainty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492861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NOISY-OR BAYESIAN RISK MODEL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8412480" y="49286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Parameterizing Belief: μ (Mean) and κ (Concentration)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416052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D6FA4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777240"/>
            <a:ext cx="4160520" cy="475488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777240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μ  —  The Mean: What We Believe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30352" y="1335024"/>
            <a:ext cx="3858768" cy="3456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 is our best-estimate of the source's risk probability.
</a:t>
            </a:r>
            <a:pPr indent="0" marL="0">
              <a:buNone/>
            </a:pPr>
            <a:r>
              <a:rPr lang="en-US" sz="100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Re-parameterization:
</a:t>
            </a:r>
            <a:pPr indent="0" marL="0">
              <a:buNone/>
            </a:pPr>
            <a:r>
              <a:rPr lang="en-US" sz="100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α = μ × κ
    β = (1 − μ) × κ
</a:t>
            </a:r>
            <a:pPr indent="0" marL="0">
              <a:buNone/>
            </a:pPr>
            <a:r>
              <a:rPr lang="en-US" sz="10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
</a:t>
            </a:r>
            <a:pPr indent="0" marL="0">
              <a:buNone/>
            </a:pPr>
            <a:r>
              <a:rPr lang="en-US" sz="10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μ = 0.40  →  40% signal probability
</a:t>
            </a:r>
            <a:pPr indent="0" marL="0">
              <a:buNone/>
            </a:pPr>
            <a:r>
              <a:rPr lang="en-US" sz="10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μ = 0.70  →  70% signal probability
</a:t>
            </a:r>
            <a:pPr indent="0" marL="0">
              <a:buNone/>
            </a:pPr>
            <a:r>
              <a:rPr lang="en-US" sz="10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Interpretation:
</a:t>
            </a:r>
            <a:pPr indent="0" marL="0">
              <a:buNone/>
            </a:pPr>
            <a:r>
              <a:rPr lang="en-US" sz="10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μ to reflect your prior belief about how often this source signals risk. It is the center of mass of the Beta distribution — the value around which probability concentrates.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17720" y="777240"/>
            <a:ext cx="416052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B7A82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777240"/>
            <a:ext cx="4160520" cy="475488"/>
          </a:xfrm>
          <a:prstGeom prst="rect">
            <a:avLst/>
          </a:prstGeom>
          <a:solidFill>
            <a:srgbClr val="0B7A82"/>
          </a:solidFill>
          <a:ln w="12700">
            <a:solidFill>
              <a:srgbClr val="0B7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777240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κ  —  Concentration: How Sure We Are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736592" y="133502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 = 2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596128" y="1362456"/>
            <a:ext cx="2926080" cy="182880"/>
          </a:xfrm>
          <a:prstGeom prst="rect">
            <a:avLst/>
          </a:prstGeom>
          <a:solidFill>
            <a:srgbClr val="E8F4F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596128" y="1362456"/>
            <a:ext cx="234086" cy="182880"/>
          </a:xfrm>
          <a:prstGeom prst="rect">
            <a:avLst/>
          </a:prstGeom>
          <a:solidFill>
            <a:srgbClr val="0B7A82"/>
          </a:solidFill>
          <a:ln w="12700">
            <a:solidFill>
              <a:srgbClr val="0B7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36592" y="1572768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flat — almost no information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736592" y="182880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 = 10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596128" y="1856232"/>
            <a:ext cx="2926080" cy="182880"/>
          </a:xfrm>
          <a:prstGeom prst="rect">
            <a:avLst/>
          </a:prstGeom>
          <a:solidFill>
            <a:srgbClr val="E8F4F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596128" y="1856232"/>
            <a:ext cx="877824" cy="182880"/>
          </a:xfrm>
          <a:prstGeom prst="rect">
            <a:avLst/>
          </a:prstGeom>
          <a:solidFill>
            <a:srgbClr val="0B7A82"/>
          </a:solidFill>
          <a:ln w="12700">
            <a:solidFill>
              <a:srgbClr val="0B7A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36592" y="2066544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spread — some confidence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736592" y="2322576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 = 30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596128" y="2350008"/>
            <a:ext cx="2926080" cy="182880"/>
          </a:xfrm>
          <a:prstGeom prst="rect">
            <a:avLst/>
          </a:prstGeom>
          <a:solidFill>
            <a:srgbClr val="E8F4F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596128" y="2350008"/>
            <a:ext cx="1755648" cy="182880"/>
          </a:xfrm>
          <a:prstGeom prst="rect">
            <a:avLst/>
          </a:prstGeom>
          <a:solidFill>
            <a:srgbClr val="0B7A82"/>
          </a:solidFill>
          <a:ln w="12700">
            <a:solidFill>
              <a:srgbClr val="0B7A8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36592" y="2560320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Narrowing peak — good confidence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736592" y="281635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 = 80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596128" y="2843784"/>
            <a:ext cx="2926080" cy="182880"/>
          </a:xfrm>
          <a:prstGeom prst="rect">
            <a:avLst/>
          </a:prstGeom>
          <a:solidFill>
            <a:srgbClr val="E8F4F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596128" y="2843784"/>
            <a:ext cx="2487168" cy="182880"/>
          </a:xfrm>
          <a:prstGeom prst="rect">
            <a:avLst/>
          </a:prstGeom>
          <a:solidFill>
            <a:srgbClr val="0B7A82"/>
          </a:solidFill>
          <a:ln w="12700">
            <a:solidFill>
              <a:srgbClr val="0B7A8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36592" y="3054096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 peak — high confidence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736592" y="331012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 = 150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596128" y="3337560"/>
            <a:ext cx="2926080" cy="182880"/>
          </a:xfrm>
          <a:prstGeom prst="rect">
            <a:avLst/>
          </a:prstGeom>
          <a:solidFill>
            <a:srgbClr val="E8F4F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596128" y="3337560"/>
            <a:ext cx="2867558" cy="182880"/>
          </a:xfrm>
          <a:prstGeom prst="rect">
            <a:avLst/>
          </a:prstGeom>
          <a:solidFill>
            <a:srgbClr val="0B7A82"/>
          </a:solidFill>
          <a:ln w="12700">
            <a:solidFill>
              <a:srgbClr val="0B7A8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36592" y="3547872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Near-certain — very tight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736592" y="4041648"/>
            <a:ext cx="3858768" cy="658368"/>
          </a:xfrm>
          <a:prstGeom prst="rect">
            <a:avLst/>
          </a:prstGeom>
          <a:solidFill>
            <a:srgbClr val="EBF4FA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28032" y="4059936"/>
            <a:ext cx="36758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κ → ∞: </a:t>
            </a:r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collapses to a point mass at μ. Perfect certainty.
</a:t>
            </a:r>
            <a:pPr indent="0" marL="0">
              <a:buNone/>
            </a:pPr>
            <a:r>
              <a:rPr lang="en-US" sz="900" b="1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κ → 0: </a:t>
            </a:r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flattens to uniform. No information at all.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492861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NOISY-OR BAYESIAN RISK MODEL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8412480" y="49286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Multiple Independent Sources of Evidence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76809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source represents a distinct, independent signal — a separate reason the risk event could occur.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2011680" cy="2450592"/>
          </a:xfrm>
          <a:prstGeom prst="rect">
            <a:avLst/>
          </a:prstGeom>
          <a:solidFill>
            <a:srgbClr val="FFFFFF"/>
          </a:solidFill>
          <a:ln w="19050">
            <a:solidFill>
              <a:srgbClr val="1D6FA4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15568"/>
            <a:ext cx="2011680" cy="402336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1556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 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" y="1609344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6F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μ = 0.40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5488" y="1920240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6F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κ = 15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5488" y="2331720"/>
            <a:ext cx="17922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signal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certainty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377440" y="2340864"/>
            <a:ext cx="1828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2560320" y="1115568"/>
            <a:ext cx="2011680" cy="2450592"/>
          </a:xfrm>
          <a:prstGeom prst="rect">
            <a:avLst/>
          </a:prstGeom>
          <a:solidFill>
            <a:srgbClr val="FFFFFF"/>
          </a:solidFill>
          <a:ln w="19050">
            <a:solidFill>
              <a:srgbClr val="0B7A82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0" y="1115568"/>
            <a:ext cx="2011680" cy="402336"/>
          </a:xfrm>
          <a:prstGeom prst="rect">
            <a:avLst/>
          </a:prstGeom>
          <a:solidFill>
            <a:srgbClr val="0B7A82"/>
          </a:solidFill>
          <a:ln w="12700">
            <a:solidFill>
              <a:srgbClr val="0B7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51760" y="111556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 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670048" y="1609344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7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μ = 0.60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670048" y="1920240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7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κ = 15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670048" y="2331720"/>
            <a:ext cx="17922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signal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certainty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0" y="2340864"/>
            <a:ext cx="1828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4754880" y="1115568"/>
            <a:ext cx="2011680" cy="2450592"/>
          </a:xfrm>
          <a:prstGeom prst="rect">
            <a:avLst/>
          </a:prstGeom>
          <a:solidFill>
            <a:srgbClr val="FFFFFF"/>
          </a:solidFill>
          <a:ln w="19050">
            <a:solidFill>
              <a:srgbClr val="B84F1E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1115568"/>
            <a:ext cx="2011680" cy="402336"/>
          </a:xfrm>
          <a:prstGeom prst="rect">
            <a:avLst/>
          </a:prstGeom>
          <a:solidFill>
            <a:srgbClr val="B84F1E"/>
          </a:solidFill>
          <a:ln w="12700">
            <a:solidFill>
              <a:srgbClr val="B84F1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111556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 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64608" y="1609344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4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μ = 0.40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864608" y="1920240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4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κ = 80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864608" y="2331720"/>
            <a:ext cx="17922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signal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certainty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766560" y="2340864"/>
            <a:ext cx="1828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6949440" y="1115568"/>
            <a:ext cx="2011680" cy="2450592"/>
          </a:xfrm>
          <a:prstGeom prst="rect">
            <a:avLst/>
          </a:prstGeom>
          <a:solidFill>
            <a:srgbClr val="FFFFFF"/>
          </a:solidFill>
          <a:ln w="19050">
            <a:solidFill>
              <a:srgbClr val="B87216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949440" y="1115568"/>
            <a:ext cx="2011680" cy="402336"/>
          </a:xfrm>
          <a:prstGeom prst="rect">
            <a:avLst/>
          </a:prstGeom>
          <a:solidFill>
            <a:srgbClr val="B87216"/>
          </a:solidFill>
          <a:ln w="12700">
            <a:solidFill>
              <a:srgbClr val="B8721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40880" y="111556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 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059168" y="1609344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72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μ = 0.70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059168" y="1920240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72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κ = 80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059168" y="2331720"/>
            <a:ext cx="17922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signal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certainty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65760" y="3712464"/>
            <a:ext cx="8412480" cy="1024128"/>
          </a:xfrm>
          <a:prstGeom prst="rect">
            <a:avLst/>
          </a:prstGeom>
          <a:solidFill>
            <a:srgbClr val="EBF4FA"/>
          </a:solidFill>
          <a:ln w="19050">
            <a:solidFill>
              <a:srgbClr val="1D6FA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0352" y="378561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Independent sources → each covers a separate portion of the risk space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30352" y="4078224"/>
            <a:ext cx="8229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independence means knowing Source 1 fired tells us nothing about whether Source 2 will fire. This is what makes the Noisy-OR multiplication valid: we can simply multiply the probability that each individual source fails to fire. Without independence, we would need to model correlations — vastly more complex.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92861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NOISY-OR BAYESIAN RISK MODEL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8412480" y="49286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Noisy-OR Combination Formula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14400" y="768096"/>
            <a:ext cx="7315200" cy="1005840"/>
          </a:xfrm>
          <a:prstGeom prst="rect">
            <a:avLst/>
          </a:prstGeom>
          <a:solidFill>
            <a:srgbClr val="EBF4FA"/>
          </a:solidFill>
          <a:ln w="19050">
            <a:solidFill>
              <a:srgbClr val="1D6FA4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51560" y="841248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P(risk) = 1 − ∏ᵢ (1 − pᵢ)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051560" y="1453896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that at least one independent source fires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192024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Step-by-step derivation: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61288" y="2304288"/>
            <a:ext cx="384048" cy="384048"/>
          </a:xfrm>
          <a:prstGeom prst="ellipse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61288" y="2304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27980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6F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each source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377440" y="2496312"/>
            <a:ext cx="1828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ysDash"/>
          </a:ln>
        </p:spPr>
      </p:sp>
      <p:sp>
        <p:nvSpPr>
          <p:cNvPr id="13" name="Text 11"/>
          <p:cNvSpPr/>
          <p:nvPr/>
        </p:nvSpPr>
        <p:spPr>
          <a:xfrm>
            <a:off x="411480" y="3090672"/>
            <a:ext cx="1938528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N samples from Beta(α,β) for each source. Each sample pᵢ is one plausible value of that source's true risk probability.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355848" y="2304288"/>
            <a:ext cx="384048" cy="384048"/>
          </a:xfrm>
          <a:prstGeom prst="ellipse">
            <a:avLst/>
          </a:prstGeom>
          <a:solidFill>
            <a:srgbClr val="0B7A82"/>
          </a:solidFill>
          <a:ln w="12700">
            <a:solidFill>
              <a:srgbClr val="0B7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55848" y="2304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560320" y="27980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7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 non-firing prob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0" y="2496312"/>
            <a:ext cx="1828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ysDash"/>
          </a:ln>
        </p:spPr>
      </p:sp>
      <p:sp>
        <p:nvSpPr>
          <p:cNvPr id="18" name="Text 16"/>
          <p:cNvSpPr/>
          <p:nvPr/>
        </p:nvSpPr>
        <p:spPr>
          <a:xfrm>
            <a:off x="2606040" y="3090672"/>
            <a:ext cx="1938528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sample, compute (1−pᵢ). This is the probability that source i does NOT fire on a single draw.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550408" y="2304288"/>
            <a:ext cx="384048" cy="384048"/>
          </a:xfrm>
          <a:prstGeom prst="ellipse">
            <a:avLst/>
          </a:prstGeom>
          <a:solidFill>
            <a:srgbClr val="B84F1E"/>
          </a:solidFill>
          <a:ln w="12700">
            <a:solidFill>
              <a:srgbClr val="B84F1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50408" y="2304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54880" y="27980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84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Multiply across sources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766560" y="2496312"/>
            <a:ext cx="1828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ysDash"/>
          </a:ln>
        </p:spPr>
      </p:sp>
      <p:sp>
        <p:nvSpPr>
          <p:cNvPr id="23" name="Text 21"/>
          <p:cNvSpPr/>
          <p:nvPr/>
        </p:nvSpPr>
        <p:spPr>
          <a:xfrm>
            <a:off x="4800600" y="3090672"/>
            <a:ext cx="1938528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independence: P(none fire) = ∏ᵢ(1−pᵢ). Multiplying survival probabilities gives the joint silence probability.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744968" y="2304288"/>
            <a:ext cx="384048" cy="384048"/>
          </a:xfrm>
          <a:prstGeom prst="ellipse">
            <a:avLst/>
          </a:prstGeom>
          <a:solidFill>
            <a:srgbClr val="B87216"/>
          </a:solidFill>
          <a:ln w="12700">
            <a:solidFill>
              <a:srgbClr val="B8721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44968" y="2304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949440" y="27980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872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Invert to get risk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995160" y="3090672"/>
            <a:ext cx="1938528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P(at least one fires) = 1 − ∏ᵢ(1−pᵢ). This is the combined risk score — the probability the event occurs via any pathway.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92861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NOISY-OR BAYESIAN RISK MODEL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8412480" y="49286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Noisy-OR?  The Logic of Independent Risk Pathways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768096"/>
            <a:ext cx="41148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CEC5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85953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Numeric intuition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21615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sources: p₁ = 0.70,  p₂ = 0.20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70992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P(none fire) = (1−0.70)(1−0.20)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195681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= 0.30 × 0.80 = 0.24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4505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P(at least one fires)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6974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1 − 0.24 = 0.76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319125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risk (76%) &gt; max source (70%)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36850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extra 6% = Source 2 covering the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of cases Source 1 misses: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39319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0.30 × 0.20 = 0.06  ✓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768096"/>
            <a:ext cx="4114800" cy="4114800"/>
          </a:xfrm>
          <a:prstGeom prst="rect">
            <a:avLst/>
          </a:prstGeom>
          <a:solidFill>
            <a:srgbClr val="EBF4FA"/>
          </a:solidFill>
          <a:ln w="12700">
            <a:solidFill>
              <a:srgbClr val="1D6FA4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9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00600" y="85953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analogy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28032" y="1207008"/>
            <a:ext cx="3822192" cy="354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two independent alarm systems: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A fires with 70% probability when a threat exists.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B fires with 20% probability when a threat exists.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building is safe only if BOTH alarms stay silent: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P(safe) = P(A silent) × P(B silent)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= 0.30 × 0.80 = 0.24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P(at least one alarm fires) = 1 − 0.24 = 76%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Noisy-OR: exactly the right model for combining independent risk signals that each provide a separate detection pathway.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492861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NOISY-OR BAYESIAN RISK MODEL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412480" y="49286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 with Different Individual Certainty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76809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sources can have the same μ but very different κ — and their contribution to model certainty differs dramatically.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3200400" cy="34747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7899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Property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11880" y="1078992"/>
            <a:ext cx="2514600" cy="347472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11880" y="107899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 A  (κ = 5)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72200" y="1078992"/>
            <a:ext cx="2514600" cy="347472"/>
          </a:xfrm>
          <a:prstGeom prst="rect">
            <a:avLst/>
          </a:prstGeom>
          <a:solidFill>
            <a:srgbClr val="0B7A82"/>
          </a:solidFill>
          <a:ln w="12700">
            <a:solidFill>
              <a:srgbClr val="0B7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72200" y="107899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 B  (κ = 80)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1463040"/>
            <a:ext cx="3200400" cy="365760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11880" y="1463040"/>
            <a:ext cx="2514600" cy="365760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72200" y="1463040"/>
            <a:ext cx="2514600" cy="365760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148132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 (mean risk)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639312" y="1481328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199632" y="1481328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1847088"/>
            <a:ext cx="3200400" cy="365760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11880" y="1847088"/>
            <a:ext cx="2514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72200" y="1847088"/>
            <a:ext cx="2514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" y="1865376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 (concentration)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639312" y="1865376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199632" y="1865376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2231136"/>
            <a:ext cx="3200400" cy="365760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11880" y="2231136"/>
            <a:ext cx="2514600" cy="365760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72200" y="2231136"/>
            <a:ext cx="2514600" cy="365760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" y="224942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 parameter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639312" y="2249424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199632" y="2249424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65760" y="2615184"/>
            <a:ext cx="3200400" cy="365760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11880" y="2615184"/>
            <a:ext cx="2514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72200" y="2615184"/>
            <a:ext cx="2514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8912" y="2633472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  parameter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639312" y="2633472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199632" y="2633472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65760" y="2999232"/>
            <a:ext cx="3200400" cy="365760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11880" y="2999232"/>
            <a:ext cx="2514600" cy="365760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72200" y="2999232"/>
            <a:ext cx="2514600" cy="365760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38912" y="301752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 Var(p)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639312" y="3017520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0.042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199632" y="3017520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0.003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65760" y="3383280"/>
            <a:ext cx="3200400" cy="365760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611880" y="3383280"/>
            <a:ext cx="2514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172200" y="3383280"/>
            <a:ext cx="2514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38912" y="340156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credible interval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3639312" y="3401568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~8% – 92%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199632" y="3401568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~44% – 56%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365760" y="3767328"/>
            <a:ext cx="3200400" cy="365760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611880" y="3767328"/>
            <a:ext cx="2514600" cy="365760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172200" y="3767328"/>
            <a:ext cx="2514600" cy="365760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38912" y="3785616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3639312" y="3785616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prior — almost uniform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6199632" y="3785616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 prior — near certainty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365760" y="4151376"/>
            <a:ext cx="3200400" cy="365760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611880" y="4151376"/>
            <a:ext cx="2514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172200" y="4151376"/>
            <a:ext cx="2514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38912" y="416966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on certainty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3639312" y="4169664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Widens P5–P95 band significantly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6199632" y="4169664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P5–P95 band narrow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365760" y="4462272"/>
            <a:ext cx="8412480" cy="365760"/>
          </a:xfrm>
          <a:prstGeom prst="rect">
            <a:avLst/>
          </a:prstGeom>
          <a:solidFill>
            <a:srgbClr val="EBF4FA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02920" y="44622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Both sources have identical mean risk (50%) — but Source B contributes far more to model certainty because it has 16× lower variance.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65760" y="492861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NOISY-OR BAYESIAN RISK MODEL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8412480" y="49286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Marginal Contribution — What Is Actually Driving the Risk?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76809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Marginal contribution answers: how much would overall risk fall if we removed this source from the model?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8412480" cy="694944"/>
          </a:xfrm>
          <a:prstGeom prst="rect">
            <a:avLst/>
          </a:prstGeom>
          <a:solidFill>
            <a:srgbClr val="EBF4FA"/>
          </a:solidFill>
          <a:ln w="19050">
            <a:solidFill>
              <a:srgbClr val="1D6FA4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152144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Δᵢ = P(risk | all sources) − P(risk | all sources except i)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02920" y="145389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marginal reduction in combined risk from removing source i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92024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 — 3 active sources: p₁=0.40, p₂=0.60, p₃=0.70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267712"/>
            <a:ext cx="146304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1B3A5C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267712"/>
            <a:ext cx="1463040" cy="5029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2340864"/>
            <a:ext cx="131673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92.8%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438912" y="2788920"/>
            <a:ext cx="1316736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Risk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920240" y="2267712"/>
            <a:ext cx="146304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B84F1E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920240" y="2267712"/>
            <a:ext cx="1463040" cy="50292"/>
          </a:xfrm>
          <a:prstGeom prst="rect">
            <a:avLst/>
          </a:prstGeom>
          <a:solidFill>
            <a:srgbClr val="B84F1E"/>
          </a:solidFill>
          <a:ln w="12700">
            <a:solidFill>
              <a:srgbClr val="B84F1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93392" y="2340864"/>
            <a:ext cx="131673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B84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+16.8%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1993392" y="2788920"/>
            <a:ext cx="1316736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3 Δ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474720" y="2267712"/>
            <a:ext cx="146304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0B7A82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474720" y="2267712"/>
            <a:ext cx="1463040" cy="50292"/>
          </a:xfrm>
          <a:prstGeom prst="rect">
            <a:avLst/>
          </a:prstGeom>
          <a:solidFill>
            <a:srgbClr val="0B7A82"/>
          </a:solidFill>
          <a:ln w="12700">
            <a:solidFill>
              <a:srgbClr val="0B7A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47872" y="2340864"/>
            <a:ext cx="131673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B7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+10.8%</a:t>
            </a:r>
            <a:endParaRPr lang="en-US" sz="2700" dirty="0"/>
          </a:p>
        </p:txBody>
      </p:sp>
      <p:sp>
        <p:nvSpPr>
          <p:cNvPr id="21" name="Text 19"/>
          <p:cNvSpPr/>
          <p:nvPr/>
        </p:nvSpPr>
        <p:spPr>
          <a:xfrm>
            <a:off x="3547872" y="2788920"/>
            <a:ext cx="1316736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2 Δ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029200" y="2267712"/>
            <a:ext cx="146304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1D6FA4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029200" y="2267712"/>
            <a:ext cx="1463040" cy="50292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02352" y="2340864"/>
            <a:ext cx="131673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D6F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+4.8%</a:t>
            </a:r>
            <a:endParaRPr lang="en-US" sz="2700" dirty="0"/>
          </a:p>
        </p:txBody>
      </p:sp>
      <p:sp>
        <p:nvSpPr>
          <p:cNvPr id="25" name="Text 23"/>
          <p:cNvSpPr/>
          <p:nvPr/>
        </p:nvSpPr>
        <p:spPr>
          <a:xfrm>
            <a:off x="5102352" y="2788920"/>
            <a:ext cx="1316736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1 Δ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583680" y="2267712"/>
            <a:ext cx="146304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7A747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583680" y="2267712"/>
            <a:ext cx="1463040" cy="50292"/>
          </a:xfrm>
          <a:prstGeom prst="rect">
            <a:avLst/>
          </a:prstGeom>
          <a:solidFill>
            <a:srgbClr val="7A7470"/>
          </a:solidFill>
          <a:ln w="12700">
            <a:solidFill>
              <a:srgbClr val="7A747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56832" y="2340864"/>
            <a:ext cx="131673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7A74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32.4%</a:t>
            </a:r>
            <a:endParaRPr lang="en-US" sz="2700" dirty="0"/>
          </a:p>
        </p:txBody>
      </p:sp>
      <p:sp>
        <p:nvSpPr>
          <p:cNvPr id="29" name="Text 27"/>
          <p:cNvSpPr/>
          <p:nvPr/>
        </p:nvSpPr>
        <p:spPr>
          <a:xfrm>
            <a:off x="6656832" y="2788920"/>
            <a:ext cx="1316736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Δs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65760" y="33101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3  (p=0.70)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468880" y="3346704"/>
            <a:ext cx="5029200" cy="182880"/>
          </a:xfrm>
          <a:prstGeom prst="rect">
            <a:avLst/>
          </a:prstGeom>
          <a:solidFill>
            <a:srgbClr val="EDE9E3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468880" y="3346704"/>
            <a:ext cx="5029200" cy="182880"/>
          </a:xfrm>
          <a:prstGeom prst="rect">
            <a:avLst/>
          </a:prstGeom>
          <a:solidFill>
            <a:srgbClr val="B84F1E"/>
          </a:solidFill>
          <a:ln w="12700">
            <a:solidFill>
              <a:srgbClr val="B84F1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89520" y="33101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+16.8%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65760" y="37856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2  (p=0.60)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468880" y="3822192"/>
            <a:ext cx="5029200" cy="182880"/>
          </a:xfrm>
          <a:prstGeom prst="rect">
            <a:avLst/>
          </a:prstGeom>
          <a:solidFill>
            <a:srgbClr val="EDE9E3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468880" y="3822192"/>
            <a:ext cx="3233057" cy="182880"/>
          </a:xfrm>
          <a:prstGeom prst="rect">
            <a:avLst/>
          </a:prstGeom>
          <a:solidFill>
            <a:srgbClr val="0B7A82"/>
          </a:solidFill>
          <a:ln w="12700">
            <a:solidFill>
              <a:srgbClr val="0B7A8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589520" y="378561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+10.8%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65760" y="426110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1  (p=0.40)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468880" y="4297680"/>
            <a:ext cx="5029200" cy="182880"/>
          </a:xfrm>
          <a:prstGeom prst="rect">
            <a:avLst/>
          </a:prstGeom>
          <a:solidFill>
            <a:srgbClr val="EDE9E3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468880" y="4297680"/>
            <a:ext cx="1436914" cy="182880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589520" y="426110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+4.8%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65760" y="4736592"/>
            <a:ext cx="8412480" cy="0"/>
          </a:xfrm>
          <a:prstGeom prst="rect">
            <a:avLst/>
          </a:prstGeom>
          <a:noFill/>
          <a:ln/>
        </p:spPr>
      </p:sp>
      <p:sp>
        <p:nvSpPr>
          <p:cNvPr id="43" name="Shape 41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5760" y="492861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NOISY-OR BAYESIAN RISK MODEL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8412480" y="49286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Certainty — How Confident Are We in the Risk Score?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76809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risk score without a certainty measure is incomplete. Certainty tells us how much to trust the estimate.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8412480" cy="694944"/>
          </a:xfrm>
          <a:prstGeom prst="rect">
            <a:avLst/>
          </a:prstGeom>
          <a:solidFill>
            <a:srgbClr val="EBF4FA"/>
          </a:solidFill>
          <a:ln w="19050">
            <a:solidFill>
              <a:srgbClr val="1D6FA4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152144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Certainty = 1 − ( P₉₅ − P₅ )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02920" y="145389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minus the width of the 90% credible interval of the combined posterior risk distribution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2651760" cy="278892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A3D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920240"/>
            <a:ext cx="2651760" cy="402336"/>
          </a:xfrm>
          <a:prstGeom prst="rect">
            <a:avLst/>
          </a:prstGeom>
          <a:solidFill>
            <a:srgbClr val="2E7A3D"/>
          </a:solidFill>
          <a:ln w="12700">
            <a:solidFill>
              <a:srgbClr val="2E7A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92024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Certainty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395728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E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92%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457200" y="306324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P5: 47%   P95: 55%   (κ=80)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75488" y="3337560"/>
            <a:ext cx="243230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 Beta distributions. P5–P95 span only 8 percentage points. Analyst is very confident in the risk score.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0" y="1920240"/>
            <a:ext cx="2651760" cy="2788920"/>
          </a:xfrm>
          <a:prstGeom prst="rect">
            <a:avLst/>
          </a:prstGeom>
          <a:solidFill>
            <a:srgbClr val="FFFFFF"/>
          </a:solidFill>
          <a:ln w="19050">
            <a:solidFill>
              <a:srgbClr val="B87216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0" y="1920240"/>
            <a:ext cx="2651760" cy="402336"/>
          </a:xfrm>
          <a:prstGeom prst="rect">
            <a:avLst/>
          </a:prstGeom>
          <a:solidFill>
            <a:srgbClr val="B87216"/>
          </a:solidFill>
          <a:ln w="12700">
            <a:solidFill>
              <a:srgbClr val="B872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192024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Moderate Certainty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91840" y="2395728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B872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74%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3291840" y="306324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P5: 38%   P95: 64%   (κ=15)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310128" y="3337560"/>
            <a:ext cx="243230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Broader priors. Meaningful uncertainty — risk could range from 38% to 64%. Score is directionally reliable.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035040" y="1920240"/>
            <a:ext cx="2651760" cy="2788920"/>
          </a:xfrm>
          <a:prstGeom prst="rect">
            <a:avLst/>
          </a:prstGeom>
          <a:solidFill>
            <a:srgbClr val="FFFFFF"/>
          </a:solidFill>
          <a:ln w="19050">
            <a:solidFill>
              <a:srgbClr val="B84F1E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35040" y="1920240"/>
            <a:ext cx="2651760" cy="402336"/>
          </a:xfrm>
          <a:prstGeom prst="rect">
            <a:avLst/>
          </a:prstGeom>
          <a:solidFill>
            <a:srgbClr val="B84F1E"/>
          </a:solidFill>
          <a:ln w="12700">
            <a:solidFill>
              <a:srgbClr val="B84F1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26480" y="192024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 Certainty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126480" y="2395728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B84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40%</a:t>
            </a:r>
            <a:endParaRPr lang="en-US" sz="3800" dirty="0"/>
          </a:p>
        </p:txBody>
      </p:sp>
      <p:sp>
        <p:nvSpPr>
          <p:cNvPr id="25" name="Text 23"/>
          <p:cNvSpPr/>
          <p:nvPr/>
        </p:nvSpPr>
        <p:spPr>
          <a:xfrm>
            <a:off x="6126480" y="306324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P5: 11%   P95: 71%   (κ=3)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144768" y="3337560"/>
            <a:ext cx="243230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flat priors. Risk could be almost anywhere 11%–71%. More high-quality evidence is needed before acting.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92861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NOISY-OR BAYESIAN RISK MODEL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8412480" y="49286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Updating Beliefs — Bayesian Reasoning in Practice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76809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Noisy-OR model is designed to update. Every parameter change has a clear, traceable mathematical effect.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41605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84F1E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15568"/>
            <a:ext cx="4160520" cy="50292"/>
          </a:xfrm>
          <a:prstGeom prst="rect">
            <a:avLst/>
          </a:prstGeom>
          <a:solidFill>
            <a:srgbClr val="B84F1E"/>
          </a:solidFill>
          <a:ln w="12700">
            <a:solidFill>
              <a:srgbClr val="B84F1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0" y="1197864"/>
            <a:ext cx="749808" cy="256032"/>
          </a:xfrm>
          <a:prstGeom prst="rect">
            <a:avLst/>
          </a:prstGeom>
          <a:solidFill>
            <a:srgbClr val="B84F1E"/>
          </a:solidFill>
          <a:ln w="12700">
            <a:solidFill>
              <a:srgbClr val="B84F1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0" y="1197864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SRC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93776" y="120700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4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Activate a new source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3776" y="151790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2 sources active    P(risk) = 52%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93776" y="171907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 3rd source added    P(risk) = 71%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93776" y="1975104"/>
            <a:ext cx="3886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independent detection pathway is confirmed. Combined risk rises because the new source covers cases the others miss.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09160" y="1115568"/>
            <a:ext cx="41605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B7A82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1115568"/>
            <a:ext cx="4160520" cy="50292"/>
          </a:xfrm>
          <a:prstGeom prst="rect">
            <a:avLst/>
          </a:prstGeom>
          <a:solidFill>
            <a:srgbClr val="0B7A82"/>
          </a:solidFill>
          <a:ln w="12700">
            <a:solidFill>
              <a:srgbClr val="0B7A8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01000" y="1197864"/>
            <a:ext cx="749808" cy="256032"/>
          </a:xfrm>
          <a:prstGeom prst="rect">
            <a:avLst/>
          </a:prstGeom>
          <a:solidFill>
            <a:srgbClr val="0B7A82"/>
          </a:solidFill>
          <a:ln w="12700">
            <a:solidFill>
              <a:srgbClr val="0B7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01000" y="1197864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κ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37176" y="120700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7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Raise confidence in a source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37176" y="151790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Source A: κ=8      Certainty: 61%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37176" y="171907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 Source A: κ=60     Certainty: 87%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37176" y="1975104"/>
            <a:ext cx="3886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now believe our μ estimate more strongly. Mean risk barely changes, but the credible interval narrows — certainty jumps.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2898648"/>
            <a:ext cx="41605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D6FA4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2898648"/>
            <a:ext cx="4160520" cy="50292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0" y="2980944"/>
            <a:ext cx="749808" cy="256032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0" y="2980944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μ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93776" y="299008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6F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Revise belief upward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3776" y="330098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Source B: μ=0.30   P(risk) = 44%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93776" y="350215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 Source B: μ=0.55   P(risk) = 66%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93776" y="3758184"/>
            <a:ext cx="3886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intelligence suggests this source fires more often. Mean risk shifts accordingly. The posterior updates immediately.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09160" y="2898648"/>
            <a:ext cx="41605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87216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9160" y="2898648"/>
            <a:ext cx="4160520" cy="50292"/>
          </a:xfrm>
          <a:prstGeom prst="rect">
            <a:avLst/>
          </a:prstGeom>
          <a:solidFill>
            <a:srgbClr val="B87216"/>
          </a:solidFill>
          <a:ln w="12700">
            <a:solidFill>
              <a:srgbClr val="B8721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001000" y="2980944"/>
            <a:ext cx="749808" cy="256032"/>
          </a:xfrm>
          <a:prstGeom prst="rect">
            <a:avLst/>
          </a:prstGeom>
          <a:solidFill>
            <a:srgbClr val="B87216"/>
          </a:solidFill>
          <a:ln w="12700">
            <a:solidFill>
              <a:srgbClr val="B8721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01000" y="2980944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SRC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37176" y="299008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72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Deactivate a ruled-out source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37176" y="330098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3 sources active    P(risk) = 71%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37176" y="350215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7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 Source removed      P(risk) = 52%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837176" y="3758184"/>
            <a:ext cx="3886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 confirms this source is not active. Risk falls back to baseline — the model is fully reversible and consistent.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92861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NOISY-OR BAYESIAN RISK MODEL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8412480" y="49286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Configuring the Model per Agency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768096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underlying sources serve every agency. Only the parameters change — giving each agency a model calibrated to their specific risk thresholds and operating context.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2286000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CEC5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70432"/>
            <a:ext cx="2286000" cy="3657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1704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SOURCES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5488" y="1645920"/>
            <a:ext cx="2066544" cy="402336"/>
          </a:xfrm>
          <a:prstGeom prst="rect">
            <a:avLst/>
          </a:prstGeom>
          <a:solidFill>
            <a:srgbClr val="F0EDE8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2064" y="1719072"/>
            <a:ext cx="256032" cy="256032"/>
          </a:xfrm>
          <a:prstGeom prst="ellipse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064" y="17190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" y="1700784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1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75488" y="2139696"/>
            <a:ext cx="2066544" cy="402336"/>
          </a:xfrm>
          <a:prstGeom prst="rect">
            <a:avLst/>
          </a:prstGeom>
          <a:solidFill>
            <a:srgbClr val="F0EDE8"/>
          </a:solidFill>
          <a:ln w="12700">
            <a:solidFill>
              <a:srgbClr val="0B7A8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2064" y="2212848"/>
            <a:ext cx="256032" cy="256032"/>
          </a:xfrm>
          <a:prstGeom prst="ellipse">
            <a:avLst/>
          </a:prstGeom>
          <a:solidFill>
            <a:srgbClr val="0B7A82"/>
          </a:solidFill>
          <a:ln w="12700">
            <a:solidFill>
              <a:srgbClr val="0B7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" y="22128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" y="2194560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2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75488" y="2633472"/>
            <a:ext cx="2066544" cy="402336"/>
          </a:xfrm>
          <a:prstGeom prst="rect">
            <a:avLst/>
          </a:prstGeom>
          <a:solidFill>
            <a:srgbClr val="F0EDE8"/>
          </a:solidFill>
          <a:ln w="12700">
            <a:solidFill>
              <a:srgbClr val="B84F1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2064" y="2706624"/>
            <a:ext cx="256032" cy="256032"/>
          </a:xfrm>
          <a:prstGeom prst="ellipse">
            <a:avLst/>
          </a:prstGeom>
          <a:solidFill>
            <a:srgbClr val="B84F1E"/>
          </a:solidFill>
          <a:ln w="12700">
            <a:solidFill>
              <a:srgbClr val="B84F1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064" y="27066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22960" y="2688336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3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75488" y="3127248"/>
            <a:ext cx="2066544" cy="402336"/>
          </a:xfrm>
          <a:prstGeom prst="rect">
            <a:avLst/>
          </a:prstGeom>
          <a:solidFill>
            <a:srgbClr val="F0EDE8"/>
          </a:solidFill>
          <a:ln w="12700">
            <a:solidFill>
              <a:srgbClr val="B8721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12064" y="3200400"/>
            <a:ext cx="256032" cy="256032"/>
          </a:xfrm>
          <a:prstGeom prst="ellipse">
            <a:avLst/>
          </a:prstGeom>
          <a:solidFill>
            <a:srgbClr val="B87216"/>
          </a:solidFill>
          <a:ln w="12700">
            <a:solidFill>
              <a:srgbClr val="B8721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2064" y="32004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22960" y="3182112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4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75488" y="3621024"/>
            <a:ext cx="2066544" cy="402336"/>
          </a:xfrm>
          <a:prstGeom prst="rect">
            <a:avLst/>
          </a:prstGeom>
          <a:solidFill>
            <a:srgbClr val="F0EDE8"/>
          </a:solidFill>
          <a:ln w="12700">
            <a:solidFill>
              <a:srgbClr val="2E7A3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12064" y="3694176"/>
            <a:ext cx="256032" cy="256032"/>
          </a:xfrm>
          <a:prstGeom prst="ellipse">
            <a:avLst/>
          </a:prstGeom>
          <a:solidFill>
            <a:srgbClr val="2E7A3D"/>
          </a:solidFill>
          <a:ln w="12700">
            <a:solidFill>
              <a:srgbClr val="2E7A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" y="36941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22960" y="3675888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651760" y="2871216"/>
            <a:ext cx="47548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33472" y="2944368"/>
            <a:ext cx="5303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per-agency</a:t>
            </a:r>
            <a:endParaRPr lang="en-US" sz="650" dirty="0"/>
          </a:p>
          <a:p>
            <a:pPr algn="ctr" indent="0" marL="0">
              <a:buNone/>
            </a:pPr>
            <a:r>
              <a:rPr lang="en-US" sz="65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</a:t>
            </a:r>
            <a:endParaRPr lang="en-US" sz="650" dirty="0"/>
          </a:p>
        </p:txBody>
      </p:sp>
      <p:sp>
        <p:nvSpPr>
          <p:cNvPr id="31" name="Shape 29"/>
          <p:cNvSpPr/>
          <p:nvPr/>
        </p:nvSpPr>
        <p:spPr>
          <a:xfrm>
            <a:off x="3218688" y="1170432"/>
            <a:ext cx="2560320" cy="3401568"/>
          </a:xfrm>
          <a:prstGeom prst="rect">
            <a:avLst/>
          </a:prstGeom>
          <a:solidFill>
            <a:srgbClr val="FFFFFF"/>
          </a:solidFill>
          <a:ln w="19050">
            <a:solidFill>
              <a:srgbClr val="1D6FA4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18688" y="1170432"/>
            <a:ext cx="2560320" cy="365760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18688" y="117043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AGENCY 1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310128" y="1645920"/>
            <a:ext cx="2377440" cy="402336"/>
          </a:xfrm>
          <a:prstGeom prst="rect">
            <a:avLst/>
          </a:prstGeom>
          <a:solidFill>
            <a:srgbClr val="EBF4FA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46704" y="1682496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657600" y="166420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μ=0.70  κ=80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3657600" y="1847088"/>
            <a:ext cx="1956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signal — high μ, very certain (κ=80)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3310128" y="2139696"/>
            <a:ext cx="2377440" cy="402336"/>
          </a:xfrm>
          <a:prstGeom prst="rect">
            <a:avLst/>
          </a:prstGeom>
          <a:solidFill>
            <a:srgbClr val="EBF4FA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46704" y="2176272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657600" y="215798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μ=0.20  κ=10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3657600" y="2340864"/>
            <a:ext cx="1956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Rarely relevant for this agency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3310128" y="2633472"/>
            <a:ext cx="2377440" cy="402336"/>
          </a:xfrm>
          <a:prstGeom prst="rect">
            <a:avLst/>
          </a:prstGeom>
          <a:solidFill>
            <a:srgbClr val="EBF4FA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346704" y="2670048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3657600" y="265176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μ=0.50  κ=50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3657600" y="2834640"/>
            <a:ext cx="1956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secondary signal, confident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3310128" y="3127248"/>
            <a:ext cx="2377440" cy="402336"/>
          </a:xfrm>
          <a:prstGeom prst="rect">
            <a:avLst/>
          </a:prstGeom>
          <a:solidFill>
            <a:srgbClr val="EBF4FA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46704" y="3163824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3657600" y="314553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μ=0.15  κ=8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3657600" y="3328416"/>
            <a:ext cx="1956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Near-irrelevant for this agency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3310128" y="3621024"/>
            <a:ext cx="2377440" cy="402336"/>
          </a:xfrm>
          <a:prstGeom prst="rect">
            <a:avLst/>
          </a:prstGeom>
          <a:solidFill>
            <a:srgbClr val="EBF4FA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346704" y="3657600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3657600" y="363931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μ=0.20  κ=12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3657600" y="3822192"/>
            <a:ext cx="1956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signal, very low weight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6144768" y="1170432"/>
            <a:ext cx="2560320" cy="3401568"/>
          </a:xfrm>
          <a:prstGeom prst="rect">
            <a:avLst/>
          </a:prstGeom>
          <a:solidFill>
            <a:srgbClr val="FFFFFF"/>
          </a:solidFill>
          <a:ln w="19050">
            <a:solidFill>
              <a:srgbClr val="0B7A82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6144768" y="1170432"/>
            <a:ext cx="2560320" cy="365760"/>
          </a:xfrm>
          <a:prstGeom prst="rect">
            <a:avLst/>
          </a:prstGeom>
          <a:solidFill>
            <a:srgbClr val="0B7A82"/>
          </a:solidFill>
          <a:ln w="12700">
            <a:solidFill>
              <a:srgbClr val="0B7A8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144768" y="117043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AGENCY 2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236208" y="1645920"/>
            <a:ext cx="2377440" cy="402336"/>
          </a:xfrm>
          <a:prstGeom prst="rect">
            <a:avLst/>
          </a:prstGeom>
          <a:solidFill>
            <a:srgbClr val="EBF4FA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272784" y="1682496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6583680" y="166420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μ=0.50  κ=12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6583680" y="1847088"/>
            <a:ext cx="1956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signal — lower μ, low certainty (κ=12)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6236208" y="2139696"/>
            <a:ext cx="2377440" cy="402336"/>
          </a:xfrm>
          <a:prstGeom prst="rect">
            <a:avLst/>
          </a:prstGeom>
          <a:solidFill>
            <a:srgbClr val="EBF4FA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272784" y="2176272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6583680" y="215798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μ=0.30  κ=15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6583680" y="2340864"/>
            <a:ext cx="1956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relevance for this agency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6236208" y="2633472"/>
            <a:ext cx="2377440" cy="402336"/>
          </a:xfrm>
          <a:prstGeom prst="rect">
            <a:avLst/>
          </a:prstGeom>
          <a:solidFill>
            <a:srgbClr val="EBF4FA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272784" y="2670048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6583680" y="265176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μ=0.40  κ=8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6583680" y="2834640"/>
            <a:ext cx="1956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signal, low certainty (κ=8)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6236208" y="3127248"/>
            <a:ext cx="2377440" cy="402336"/>
          </a:xfrm>
          <a:prstGeom prst="rect">
            <a:avLst/>
          </a:prstGeom>
          <a:solidFill>
            <a:srgbClr val="EBF4FA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272784" y="3163824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6583680" y="314553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μ=0.25  κ=10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6583680" y="3328416"/>
            <a:ext cx="1956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 signal for this agency</a:t>
            </a:r>
            <a:endParaRPr lang="en-US" sz="700" dirty="0"/>
          </a:p>
        </p:txBody>
      </p:sp>
      <p:sp>
        <p:nvSpPr>
          <p:cNvPr id="73" name="Shape 71"/>
          <p:cNvSpPr/>
          <p:nvPr/>
        </p:nvSpPr>
        <p:spPr>
          <a:xfrm>
            <a:off x="6236208" y="3621024"/>
            <a:ext cx="2377440" cy="402336"/>
          </a:xfrm>
          <a:prstGeom prst="rect">
            <a:avLst/>
          </a:prstGeom>
          <a:solidFill>
            <a:srgbClr val="EBF4FA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272784" y="3657600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6583680" y="363931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μ=0.20  κ=8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6583680" y="3822192"/>
            <a:ext cx="1956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signal, minimal weight</a:t>
            </a:r>
            <a:endParaRPr lang="en-US" sz="700" dirty="0"/>
          </a:p>
        </p:txBody>
      </p:sp>
      <p:sp>
        <p:nvSpPr>
          <p:cNvPr id="77" name="Shape 75"/>
          <p:cNvSpPr/>
          <p:nvPr/>
        </p:nvSpPr>
        <p:spPr>
          <a:xfrm>
            <a:off x="2651760" y="2871216"/>
            <a:ext cx="3493008" cy="0"/>
          </a:xfrm>
          <a:prstGeom prst="line">
            <a:avLst/>
          </a:prstGeom>
          <a:noFill/>
          <a:ln w="6350">
            <a:solidFill>
              <a:srgbClr val="94A3B8"/>
            </a:solidFill>
            <a:prstDash val="dash"/>
          </a:ln>
        </p:spPr>
      </p:sp>
      <p:sp>
        <p:nvSpPr>
          <p:cNvPr id="78" name="Shape 76"/>
          <p:cNvSpPr/>
          <p:nvPr/>
        </p:nvSpPr>
        <p:spPr>
          <a:xfrm>
            <a:off x="365760" y="4626864"/>
            <a:ext cx="8412480" cy="237744"/>
          </a:xfrm>
          <a:prstGeom prst="rect">
            <a:avLst/>
          </a:prstGeom>
          <a:solidFill>
            <a:srgbClr val="EBF4FA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02920" y="462686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5 sources. Same mathematical engine. Different risk thresholds per agency — each calibrated by adjusting μ and κ per source.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65760" y="492861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NOISY-OR BAYESIAN RISK MODEL</a:t>
            </a:r>
            <a:endParaRPr lang="en-US" sz="750" dirty="0"/>
          </a:p>
        </p:txBody>
      </p:sp>
      <p:sp>
        <p:nvSpPr>
          <p:cNvPr id="82" name="Text 80"/>
          <p:cNvSpPr/>
          <p:nvPr/>
        </p:nvSpPr>
        <p:spPr>
          <a:xfrm>
            <a:off x="8412480" y="49286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Transaction, Two Agency Profiles — Very Different Outcomes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76809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potentially improper transaction is evaluated against both agency configurations. Both agencies match S1 and S3 only — but Agency 1 places far greater weight and certainty on those sources, producing a 15-point gap in combined risk.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8412480" cy="34747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155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potentially improper transaction — S1 and S3 match for both agencies. S2, S4, and S5 do not match.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65760" y="1536192"/>
            <a:ext cx="4114800" cy="3273552"/>
          </a:xfrm>
          <a:prstGeom prst="rect">
            <a:avLst/>
          </a:prstGeom>
          <a:solidFill>
            <a:srgbClr val="FFFFFF"/>
          </a:solidFill>
          <a:ln w="19050">
            <a:solidFill>
              <a:srgbClr val="1D6FA4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9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536192"/>
            <a:ext cx="4114800" cy="365760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53619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Agency 1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" y="1975104"/>
            <a:ext cx="3895344" cy="329184"/>
          </a:xfrm>
          <a:prstGeom prst="rect">
            <a:avLst/>
          </a:prstGeom>
          <a:solidFill>
            <a:srgbClr val="EBF4FA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" y="201168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207008" y="20299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1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072384" y="2029968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μ=0.7  κ=80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75488" y="2359152"/>
            <a:ext cx="3895344" cy="329184"/>
          </a:xfrm>
          <a:prstGeom prst="rect">
            <a:avLst/>
          </a:prstGeom>
          <a:solidFill>
            <a:srgbClr val="F5F2EE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064" y="239572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match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207008" y="241401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2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072384" y="2414016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μ=0.2  κ=10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75488" y="2743200"/>
            <a:ext cx="3895344" cy="329184"/>
          </a:xfrm>
          <a:prstGeom prst="rect">
            <a:avLst/>
          </a:prstGeom>
          <a:solidFill>
            <a:srgbClr val="EBF4FA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" y="277977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207008" y="279806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3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072384" y="2798064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μ=0.5  κ=50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75488" y="3127248"/>
            <a:ext cx="3895344" cy="329184"/>
          </a:xfrm>
          <a:prstGeom prst="rect">
            <a:avLst/>
          </a:prstGeom>
          <a:solidFill>
            <a:srgbClr val="F5F2EE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2064" y="3163824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match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207008" y="318211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4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072384" y="3182112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μ=0.15  κ=8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75488" y="3511296"/>
            <a:ext cx="3895344" cy="329184"/>
          </a:xfrm>
          <a:prstGeom prst="rect">
            <a:avLst/>
          </a:prstGeom>
          <a:solidFill>
            <a:srgbClr val="F5F2EE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2064" y="354787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match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207008" y="356616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5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072384" y="3566160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μ=0.2  κ=12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75488" y="3950208"/>
            <a:ext cx="3895344" cy="658368"/>
          </a:xfrm>
          <a:prstGeom prst="rect">
            <a:avLst/>
          </a:prstGeom>
          <a:solidFill>
            <a:srgbClr val="EBF4FA"/>
          </a:solidFill>
          <a:ln w="19050">
            <a:solidFill>
              <a:srgbClr val="1D6FA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0352" y="3968496"/>
            <a:ext cx="1152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D6F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85%</a:t>
            </a:r>
            <a:endParaRPr lang="en-US" sz="3400" dirty="0"/>
          </a:p>
        </p:txBody>
      </p:sp>
      <p:sp>
        <p:nvSpPr>
          <p:cNvPr id="33" name="Text 31"/>
          <p:cNvSpPr/>
          <p:nvPr/>
        </p:nvSpPr>
        <p:spPr>
          <a:xfrm>
            <a:off x="1737360" y="400507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Risk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737360" y="418795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1 − (1−0.70)(1−0.50)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1 − (0.30 × 0.50) = 85.0%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663440" y="1536192"/>
            <a:ext cx="4114800" cy="3273552"/>
          </a:xfrm>
          <a:prstGeom prst="rect">
            <a:avLst/>
          </a:prstGeom>
          <a:solidFill>
            <a:srgbClr val="FFFFFF"/>
          </a:solidFill>
          <a:ln w="19050">
            <a:solidFill>
              <a:srgbClr val="0B7A82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9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63440" y="1536192"/>
            <a:ext cx="4114800" cy="365760"/>
          </a:xfrm>
          <a:prstGeom prst="rect">
            <a:avLst/>
          </a:prstGeom>
          <a:solidFill>
            <a:srgbClr val="0B7A82"/>
          </a:solidFill>
          <a:ln w="12700">
            <a:solidFill>
              <a:srgbClr val="0B7A8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00600" y="153619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Agency 2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773168" y="1975104"/>
            <a:ext cx="3895344" cy="329184"/>
          </a:xfrm>
          <a:prstGeom prst="rect">
            <a:avLst/>
          </a:prstGeom>
          <a:solidFill>
            <a:srgbClr val="EBF4FA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09744" y="201168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5504688" y="20299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1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370064" y="2029968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μ=0.5  κ=12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773168" y="2359152"/>
            <a:ext cx="3895344" cy="329184"/>
          </a:xfrm>
          <a:prstGeom prst="rect">
            <a:avLst/>
          </a:prstGeom>
          <a:solidFill>
            <a:srgbClr val="F5F2EE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09744" y="239572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match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5504688" y="241401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2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7370064" y="2414016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μ=0.3  κ=15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773168" y="2743200"/>
            <a:ext cx="3895344" cy="329184"/>
          </a:xfrm>
          <a:prstGeom prst="rect">
            <a:avLst/>
          </a:prstGeom>
          <a:solidFill>
            <a:srgbClr val="EBF4FA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09744" y="277977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5504688" y="279806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3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7370064" y="2798064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μ=0.4  κ=8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4773168" y="3127248"/>
            <a:ext cx="3895344" cy="329184"/>
          </a:xfrm>
          <a:prstGeom prst="rect">
            <a:avLst/>
          </a:prstGeom>
          <a:solidFill>
            <a:srgbClr val="F5F2EE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09744" y="3163824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match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5504688" y="318211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4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7370064" y="3182112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μ=0.25  κ=10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773168" y="3511296"/>
            <a:ext cx="3895344" cy="329184"/>
          </a:xfrm>
          <a:prstGeom prst="rect">
            <a:avLst/>
          </a:prstGeom>
          <a:solidFill>
            <a:srgbClr val="F5F2EE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809744" y="354787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match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5504688" y="356616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5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7370064" y="3566160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μ=0.2  κ=8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4773168" y="3950208"/>
            <a:ext cx="3895344" cy="658368"/>
          </a:xfrm>
          <a:prstGeom prst="rect">
            <a:avLst/>
          </a:prstGeom>
          <a:solidFill>
            <a:srgbClr val="E8F7F7"/>
          </a:solidFill>
          <a:ln w="19050">
            <a:solidFill>
              <a:srgbClr val="0B7A8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828032" y="3968496"/>
            <a:ext cx="1152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B7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70%</a:t>
            </a:r>
            <a:endParaRPr lang="en-US" sz="3400" dirty="0"/>
          </a:p>
        </p:txBody>
      </p:sp>
      <p:sp>
        <p:nvSpPr>
          <p:cNvPr id="60" name="Text 58"/>
          <p:cNvSpPr/>
          <p:nvPr/>
        </p:nvSpPr>
        <p:spPr>
          <a:xfrm>
            <a:off x="6035040" y="400507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Risk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6035040" y="418795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1 − (1−0.50)(1−0.40)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1 − (0.50 × 0.60) = 70.0%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365760" y="4626864"/>
            <a:ext cx="4114800" cy="310896"/>
          </a:xfrm>
          <a:prstGeom prst="rect">
            <a:avLst/>
          </a:prstGeom>
          <a:solidFill>
            <a:srgbClr val="EBF4FA"/>
          </a:solidFill>
          <a:ln w="9525">
            <a:solidFill>
              <a:srgbClr val="1D6FA4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75488" y="4626864"/>
            <a:ext cx="3913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 1: S1 carries high weight (μ=0.70) and high certainty (κ=80) → same two matches score 85%.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4663440" y="4626864"/>
            <a:ext cx="4114800" cy="310896"/>
          </a:xfrm>
          <a:prstGeom prst="rect">
            <a:avLst/>
          </a:prstGeom>
          <a:solidFill>
            <a:srgbClr val="E8F7F7"/>
          </a:solidFill>
          <a:ln w="9525">
            <a:solidFill>
              <a:srgbClr val="0B7A8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73168" y="4626864"/>
            <a:ext cx="3913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 2: S1 carries lower weight (μ=0.50) and lower certainty (κ=12) → same two matches score only 70%. 15-point gap from calibration alone.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65760" y="492861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NOISY-OR BAYESIAN RISK MODEL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8412480" y="49286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514350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23360" y="0"/>
            <a:ext cx="50292" cy="5143500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0292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WORKS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572768"/>
            <a:ext cx="3108960" cy="0"/>
          </a:xfrm>
          <a:prstGeom prst="line">
            <a:avLst/>
          </a:prstGeom>
          <a:noFill/>
          <a:ln w="19050">
            <a:solidFill>
              <a:srgbClr val="1D6FA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700784"/>
            <a:ext cx="164592" cy="164592"/>
          </a:xfrm>
          <a:prstGeom prst="ellipse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682496"/>
            <a:ext cx="3182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5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probability theory — not heuristics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65760" y="2103120"/>
            <a:ext cx="164592" cy="164592"/>
          </a:xfrm>
          <a:prstGeom prst="ellipse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2084832"/>
            <a:ext cx="3182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5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Transparent: every parameter has a clear meaning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2505456"/>
            <a:ext cx="164592" cy="164592"/>
          </a:xfrm>
          <a:prstGeom prst="ellipse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2487168"/>
            <a:ext cx="3182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5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any number of independent sources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2907792"/>
            <a:ext cx="164592" cy="164592"/>
          </a:xfrm>
          <a:prstGeom prst="ellipse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2889504"/>
            <a:ext cx="3182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5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Uncertainty-aware: certainty is built into the output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3310128"/>
            <a:ext cx="164592" cy="164592"/>
          </a:xfrm>
          <a:prstGeom prst="ellipse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3291840"/>
            <a:ext cx="3182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5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Bayesian: beliefs update cleanly with new evidence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3712464"/>
            <a:ext cx="164592" cy="164592"/>
          </a:xfrm>
          <a:prstGeom prst="ellipse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3694176"/>
            <a:ext cx="3182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5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Auditable: Monte Carlo traces every inference step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4114800"/>
            <a:ext cx="164592" cy="164592"/>
          </a:xfrm>
          <a:prstGeom prst="ellipse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" y="4096512"/>
            <a:ext cx="3182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5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Interpretable: marginal contributions reveal drivers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4517136"/>
            <a:ext cx="164592" cy="164592"/>
          </a:xfrm>
          <a:prstGeom prst="ellipse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" y="4498848"/>
            <a:ext cx="3182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5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Bounded: output is always a valid probability in (0,1)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206240" y="320040"/>
            <a:ext cx="2240280" cy="2148840"/>
          </a:xfrm>
          <a:prstGeom prst="rect">
            <a:avLst/>
          </a:prstGeom>
          <a:solidFill>
            <a:srgbClr val="1A3554"/>
          </a:solidFill>
          <a:ln w="19050">
            <a:solidFill>
              <a:srgbClr val="1D6FA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06240" y="320040"/>
            <a:ext cx="2240280" cy="50292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34256" y="429768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6F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Beta Distribution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334256" y="777240"/>
            <a:ext cx="199339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5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per-source uncertainty using μ (mean belief) and κ (confidence). Var(p)=μ(1−μ)/(κ+1). Higher κ → tighter, more certain prior.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629400" y="320040"/>
            <a:ext cx="2240280" cy="2148840"/>
          </a:xfrm>
          <a:prstGeom prst="rect">
            <a:avLst/>
          </a:prstGeom>
          <a:solidFill>
            <a:srgbClr val="1A3554"/>
          </a:solidFill>
          <a:ln w="19050">
            <a:solidFill>
              <a:srgbClr val="0B7A8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629400" y="320040"/>
            <a:ext cx="2240280" cy="50292"/>
          </a:xfrm>
          <a:prstGeom prst="rect">
            <a:avLst/>
          </a:prstGeom>
          <a:solidFill>
            <a:srgbClr val="0B7A82"/>
          </a:solidFill>
          <a:ln w="12700">
            <a:solidFill>
              <a:srgbClr val="0B7A8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57416" y="429768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7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Noisy-OR Formula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757416" y="777240"/>
            <a:ext cx="199339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5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P(risk)=1−∏(1−pᵢ). Combines independent sources via the 'at least one fires' logic. Mathematically exact under independence.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206240" y="2651760"/>
            <a:ext cx="2240280" cy="2148840"/>
          </a:xfrm>
          <a:prstGeom prst="rect">
            <a:avLst/>
          </a:prstGeom>
          <a:solidFill>
            <a:srgbClr val="1A3554"/>
          </a:solidFill>
          <a:ln w="19050">
            <a:solidFill>
              <a:srgbClr val="B84F1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206240" y="2651760"/>
            <a:ext cx="2240280" cy="50292"/>
          </a:xfrm>
          <a:prstGeom prst="rect">
            <a:avLst/>
          </a:prstGeom>
          <a:solidFill>
            <a:srgbClr val="B84F1E"/>
          </a:solidFill>
          <a:ln w="12700">
            <a:solidFill>
              <a:srgbClr val="B84F1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34256" y="2761488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84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Marginal Contribution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334256" y="3108960"/>
            <a:ext cx="199339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5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Δᵢ = overall risk minus risk without source i. Reveals which signal dominates and quantifies each source's unique contribution.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629400" y="2651760"/>
            <a:ext cx="2240280" cy="2148840"/>
          </a:xfrm>
          <a:prstGeom prst="rect">
            <a:avLst/>
          </a:prstGeom>
          <a:solidFill>
            <a:srgbClr val="1A3554"/>
          </a:solidFill>
          <a:ln w="19050">
            <a:solidFill>
              <a:srgbClr val="B8721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629400" y="2651760"/>
            <a:ext cx="2240280" cy="50292"/>
          </a:xfrm>
          <a:prstGeom prst="rect">
            <a:avLst/>
          </a:prstGeom>
          <a:solidFill>
            <a:srgbClr val="B87216"/>
          </a:solidFill>
          <a:ln w="12700">
            <a:solidFill>
              <a:srgbClr val="B8721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57416" y="2761488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872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Certainty Score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6757416" y="3108960"/>
            <a:ext cx="199339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5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Certainty = 1−(P₉₅−P₅). Measures how tightly the posterior distribution is concentrated. Rises with κ, falls with uncertainty.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206240" y="4800600"/>
            <a:ext cx="4846320" cy="256032"/>
          </a:xfrm>
          <a:prstGeom prst="rect">
            <a:avLst/>
          </a:prstGeom>
          <a:solidFill>
            <a:srgbClr val="0E2030"/>
          </a:solidFill>
          <a:ln w="12700">
            <a:solidFill>
              <a:srgbClr val="0E203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206240" y="480060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principled, transparent, and updatable framework for risk under uncertainty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463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993392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Beta Distribution Plots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2907792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B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reference for distribution shapes, certainty intervals,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AB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per-agency source priors, and combined risk posteriors.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E1E30"/>
          </a:solidFill>
          <a:ln w="12700">
            <a:solidFill>
              <a:srgbClr val="0E1E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92861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NOISY-OR BAYESIAN RISK MODEL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229600" y="492861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APPENDIX  ·  Beta Distribution — Effect of κ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676656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curves share the same mean belief μ = 0.40. Only κ differs — controlling how tightly the distribution is concentrated around that belief. This plot directly reinforces slide 5.</a:t>
            </a:r>
            <a:endParaRPr lang="en-US" sz="10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060704"/>
            <a:ext cx="6949440" cy="373075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4928616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NOISY-OR BAYESIAN RISK MODEL  ·  APPENDIX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APPENDIX  ·  Same μ, Different κ — Certainty Comparison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676656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sources with identical μ = 0.65 produce dramatically different credible intervals. The 90% CI for the high-κ source is less than a quarter the width of the low-κ source — this is what certainty scoring captures.</a:t>
            </a:r>
            <a:endParaRPr lang="en-US" sz="10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60704"/>
            <a:ext cx="7863840" cy="373075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4928616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NOISY-OR BAYESIAN RISK MODEL  ·  APPENDIX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APPENDIX  ·  Per-Agency Source Priors — Same Transaction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676656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agencies match the same two sources (S1 and S3) — but their μ and κ parameters differ dramatically. Agency 1 treats S1 as a strong, certain signal (μ=0.70, κ=80) and S3 as a solid secondary (μ=0.50, κ=50). Agency 2 has lower priors on both (S1: μ=0.50, κ=12; S3: μ=0.40, κ=8). Agency 2's wide, flat curves reflect genuine uncertainty — same evidence, very different confidence.</a:t>
            </a:r>
            <a:endParaRPr lang="en-US" sz="10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60704"/>
            <a:ext cx="7863840" cy="373075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4928616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NOISY-OR BAYESIAN RISK MODEL  ·  APPENDIX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APPENDIX  ·  Monte Carlo Combined Risk Posteriors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676656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 Monte Carlo samples per agency. Both agencies match exactly two sources (S1 and S3) — the only difference is μ and κ per source. The posteriors sit ~15 percentage points apart, showing how calibration alone drives materially different risk conclusions from identical evidence.</a:t>
            </a:r>
            <a:endParaRPr lang="en-US" sz="10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15568"/>
            <a:ext cx="7863840" cy="367588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4928616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NOISY-OR BAYESIAN RISK MODEL  ·  APPENDIX</a:t>
            </a:r>
            <a:endParaRPr lang="en-US" sz="7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D5CEC5">
                    <a:alpha val="4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NOTES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92861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NOISY-OR BAYESIAN RISK MODEL</a:t>
            </a:r>
            <a:endParaRPr lang="en-US" sz="7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D5CEC5">
                    <a:alpha val="4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NOTES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92861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NOISY-OR BAYESIAN RISK MODEL</a:t>
            </a:r>
            <a:endParaRPr lang="en-US" sz="7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D5CEC5">
                    <a:alpha val="4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NOTES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92861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NOISY-OR BAYESIAN RISK MODEL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Noisy-OR Bayesian Risk Model</dc:title>
  <dc:subject>PptxGenJS Presentation</dc:subject>
  <dc:creator>Risk Analytics</dc:creator>
  <cp:lastModifiedBy>Risk Analytics</cp:lastModifiedBy>
  <cp:revision>1</cp:revision>
  <dcterms:created xsi:type="dcterms:W3CDTF">2026-03-01T03:31:49Z</dcterms:created>
  <dcterms:modified xsi:type="dcterms:W3CDTF">2026-03-01T03:31:49Z</dcterms:modified>
</cp:coreProperties>
</file>